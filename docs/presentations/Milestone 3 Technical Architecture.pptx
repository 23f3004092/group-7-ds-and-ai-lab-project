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10287000" cy="18288000"/>
  <p:embeddedFontLst>
    <p:embeddedFont>
      <p:font typeface="Archiv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chivo-regular.fntdata"/><Relationship Id="rId14" Type="http://schemas.openxmlformats.org/officeDocument/2006/relationships/slide" Target="slides/slide10.xml"/><Relationship Id="rId17" Type="http://schemas.openxmlformats.org/officeDocument/2006/relationships/font" Target="fonts/Archivo-italic.fntdata"/><Relationship Id="rId16" Type="http://schemas.openxmlformats.org/officeDocument/2006/relationships/font" Target="fonts/Archiv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Archiv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Milestone 3 covers model selection and the full pipeline design. M1 and M2 context assumed: three farmer needs — disease diagnosis, scheme lookup, yield and profitability guidance — over text, photo, and voice, Hindi-first.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Design-phase document: latency figures and hyperparameters are grounded in published benchmarks and standard practice, not measured on this system. Appendix G maps every assumption to a validation method in Milestone 4.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orchestration layer, one ML mesh. The backend fans out in parallel and never blocks on the async row — Kafka, the data lake, and retraining are fully decoupled from serving.</a:t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Vision and intent extraction run in parallel and build the fast-path cache key. A hit returns a curated template in about 35 to 50 ms. On a miss, all tools fire in one parallel batch before the LLM runs — the LLM only turns validated facts into language.</a:t>
            </a:r>
            <a:endParaRPr/>
          </a:p>
        </p:txBody>
      </p:sp>
      <p:sp>
        <p:nvSpPr>
          <p:cNvPr id="43" name="Google Shape;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 learned models. Not in the table: rule-based profitability and guardrails components, a 350–500M speculative draft model sharing the synthesis tokenizer, and IndicTrans2 for dialect normalization.</a:t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decision was made against a concrete alternative. The first three rate high confidence — decode-time arithmetic and established tabular-ML results. Guardrail recall vs an LLM-based check still needs empirical comparison.</a:t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separate Qdrant collections in different embedding spaces. Re-ranking is conditional — only when the top-1 score is low, adding 10 to 20 ms on ambiguous queries. Yield-cache hits are labeled approximate and expire on a seasonal TTL.</a:t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LLM only references values present in the supplied context; the post-check flags any number that does not trace back to a source. Both stages are rules and small classifiers — no second generation pass. Guardrail outage fails closed.</a:t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architectural estimates from published throughput figures for comparable model sizes — Milestone 4 benchmarks them on real hardware under concurrent load. Voice output streams alongside generation, so it does not stack onto the total.</a:t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 G is the bridge to Milestone 4: every design assumption is a falsifiable claim with a named test. The activities on the right produce a measured result for each row, not just a working system.</a:t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FARMERVISION · MILESTONE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74539" y="2971800"/>
            <a:ext cx="16552575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910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9300"/>
              <a:buFont typeface="Archivo"/>
              <a:buNone/>
            </a:pPr>
            <a:r>
              <a:rPr b="1" i="0" lang="en-US" sz="93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Model architecture and pipeline design</a:t>
            </a:r>
            <a:endParaRPr b="0" i="0" sz="9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5715000"/>
            <a:ext cx="9893937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091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3000"/>
              <a:buFont typeface="Archivo"/>
              <a:buNone/>
            </a:pPr>
            <a:r>
              <a:rPr b="0" i="0" lang="en-US" sz="3000" u="none" cap="none" strike="noStrike">
                <a:solidFill>
                  <a:srgbClr val="211D1D"/>
                </a:solidFill>
                <a:latin typeface="Archivo"/>
                <a:ea typeface="Archivo"/>
                <a:cs typeface="Archivo"/>
                <a:sym typeface="Archivo"/>
              </a:rPr>
              <a:t>From raw farmer input — text, photo, or voice — to delivered advice, inside a 200–300 ms budget on the core reasoning path.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8987135"/>
            <a:ext cx="2001639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211D1D"/>
                </a:solidFill>
                <a:latin typeface="Archivo"/>
                <a:ea typeface="Archivo"/>
                <a:cs typeface="Archivo"/>
                <a:sym typeface="Archivo"/>
              </a:rPr>
              <a:t>Milestone 3 report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134122" y="8987135"/>
            <a:ext cx="1524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211D1D"/>
                </a:solidFill>
                <a:latin typeface="Archivo"/>
                <a:ea typeface="Archivo"/>
                <a:cs typeface="Archivo"/>
                <a:sym typeface="Archivo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381772" y="8987135"/>
            <a:ext cx="1068189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211D1D"/>
                </a:solidFill>
                <a:latin typeface="Archivo"/>
                <a:ea typeface="Archivo"/>
                <a:cs typeface="Archivo"/>
                <a:sym typeface="Archivo"/>
              </a:rPr>
              <a:t>July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FARMERVISION · MILESTONE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7678" y="1867892"/>
            <a:ext cx="17641054" cy="4563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Scope of this milestone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916305" y="3206849"/>
            <a:ext cx="12494895" cy="32317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Selects and justifies the model behind each module — vision, retrieval, yield, synthesis, voice.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Decide the overall architecture of the project.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Justification of the architecture, tools and models used.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Design-phase status: latency figures and hyperparameters are estimates until Milestone 4 measures them.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987135"/>
            <a:ext cx="3001566" cy="15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FARMERVISION · MILESTONE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7678" y="1867892"/>
            <a:ext cx="17641054" cy="4563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System architecture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743299"/>
            <a:ext cx="16002000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987135"/>
            <a:ext cx="3001566" cy="15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FARMERVISION · MILESTONE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1107678" y="1867892"/>
            <a:ext cx="17641054" cy="4563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Request flow, input to answer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743299"/>
            <a:ext cx="16002000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987135"/>
            <a:ext cx="3001566" cy="15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FARMERVISION · MILESTONE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1107678" y="1867892"/>
            <a:ext cx="17641054" cy="4563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Model selection by module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1143000" y="3867150"/>
            <a:ext cx="2532559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1143000" y="3464990"/>
            <a:ext cx="2380159" cy="18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Archivo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Archivo"/>
                <a:ea typeface="Archivo"/>
                <a:cs typeface="Archivo"/>
                <a:sym typeface="Archivo"/>
              </a:rPr>
              <a:t>MODULE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3675559" y="3867150"/>
            <a:ext cx="6002834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3904159" y="3464990"/>
            <a:ext cx="5725719" cy="18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Archivo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Archivo"/>
                <a:ea typeface="Archivo"/>
                <a:cs typeface="Archivo"/>
                <a:sym typeface="Archivo"/>
              </a:rPr>
              <a:t>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9678392" y="3867150"/>
            <a:ext cx="532517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9906992" y="3464990"/>
            <a:ext cx="5027725" cy="18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Archivo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Archivo"/>
                <a:ea typeface="Archivo"/>
                <a:cs typeface="Archivo"/>
                <a:sym typeface="Archivo"/>
              </a:rPr>
              <a:t>ORIGIN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15003562" y="3867150"/>
            <a:ext cx="2141438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15232162" y="3464990"/>
            <a:ext cx="1989038" cy="18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Archivo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Archivo"/>
                <a:ea typeface="Archivo"/>
                <a:cs typeface="Archivo"/>
                <a:sym typeface="Archivo"/>
              </a:rPr>
              <a:t>SIZE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1143000" y="4568627"/>
            <a:ext cx="253255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1143000" y="4139394"/>
            <a:ext cx="2380159" cy="214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Vision — disease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3675559" y="4568627"/>
            <a:ext cx="60028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3904159" y="4139394"/>
            <a:ext cx="5725719" cy="214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ViT-Small (edge fallback: MobileViT-XXS)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9678392" y="4568627"/>
            <a:ext cx="532517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9906992" y="4139394"/>
            <a:ext cx="5027725" cy="214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ImageNet-pretrained → fine-tuned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5003562" y="4568627"/>
            <a:ext cx="214143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15232162" y="4139394"/>
            <a:ext cx="1989038" cy="214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22–86M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143000" y="5251053"/>
            <a:ext cx="253255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1143000" y="4828170"/>
            <a:ext cx="238015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Text embedding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3675559" y="5251053"/>
            <a:ext cx="60028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3904159" y="4828170"/>
            <a:ext cx="572571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MuRIL-base — code-mix aware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9678392" y="5251053"/>
            <a:ext cx="532517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9906992" y="4828170"/>
            <a:ext cx="502772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pretrained · optional contrastive tune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15003562" y="5251053"/>
            <a:ext cx="214143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15232162" y="4828170"/>
            <a:ext cx="1989038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236M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143000" y="5933480"/>
            <a:ext cx="253255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1143000" y="5510597"/>
            <a:ext cx="238015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Intent + entities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3675559" y="5933480"/>
            <a:ext cx="60028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3904159" y="5510597"/>
            <a:ext cx="572571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DistilBERT-class, joint head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9678392" y="5933480"/>
            <a:ext cx="532517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9906992" y="5510597"/>
            <a:ext cx="502772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pretrained → fine-tuned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5003562" y="5933480"/>
            <a:ext cx="214143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15232162" y="5510597"/>
            <a:ext cx="1989038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66M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143000" y="6615906"/>
            <a:ext cx="253255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1143000" y="6193023"/>
            <a:ext cx="238015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Yield prediction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675559" y="6615906"/>
            <a:ext cx="60028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3904159" y="6193023"/>
            <a:ext cx="572571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XGBoost / LightGBM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9678392" y="6615906"/>
            <a:ext cx="532517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9906992" y="6193023"/>
            <a:ext cx="502772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trained from scratch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5003562" y="6615906"/>
            <a:ext cx="214143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15232162" y="6193023"/>
            <a:ext cx="1989038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tree ensemble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143000" y="7298333"/>
            <a:ext cx="253255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1143000" y="6875450"/>
            <a:ext cx="238015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Synthesis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675559" y="7298333"/>
            <a:ext cx="60028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3904159" y="6875450"/>
            <a:ext cx="572571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Gemma — 12B teacher, distilled student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9678392" y="7298333"/>
            <a:ext cx="532517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9906992" y="6875450"/>
            <a:ext cx="502772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distilled in Milestone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5003562" y="7298333"/>
            <a:ext cx="214143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15232162" y="6875450"/>
            <a:ext cx="1989038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2–4B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143000" y="7980760"/>
            <a:ext cx="253255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143000" y="7557877"/>
            <a:ext cx="238015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ASR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675559" y="7980760"/>
            <a:ext cx="60028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3904159" y="7557877"/>
            <a:ext cx="572571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IndicWhisper / Bhashini-class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9678392" y="7980760"/>
            <a:ext cx="532517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9906992" y="7557877"/>
            <a:ext cx="502772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pretrained → dialect fine-tune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5003562" y="7980760"/>
            <a:ext cx="214143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15232162" y="7557877"/>
            <a:ext cx="1989038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0.25–1.5B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143000" y="8663186"/>
            <a:ext cx="253255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143000" y="8240303"/>
            <a:ext cx="238015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675559" y="8663186"/>
            <a:ext cx="60028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3904159" y="8240303"/>
            <a:ext cx="5725719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VITS / FastSpeech2-class, Indic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9678392" y="8663186"/>
            <a:ext cx="532517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9906992" y="8240303"/>
            <a:ext cx="502772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pretrained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5003562" y="8663186"/>
            <a:ext cx="214143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5232162" y="8240303"/>
            <a:ext cx="1989038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30–90M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987135"/>
            <a:ext cx="3001566" cy="15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FARMERVISION · MILESTONE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107678" y="1867892"/>
            <a:ext cx="17641054" cy="4563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Design decisions and alternatives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143000" y="3435449"/>
            <a:ext cx="829818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Distill 12B → 2–4B for synthesis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143000" y="3931841"/>
            <a:ext cx="7770114" cy="11354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A 12B decoder cannot generate inside the 150–180 ms slice. The student keeps the teacher’s domain behavior at a servable size.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601200" y="3435449"/>
            <a:ext cx="829818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GBT for yield; vectors only as cache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9601200" y="3931841"/>
            <a:ext cx="7770114" cy="11354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k-NN averaging underperforms boosted trees on tabular regression — the cache sits in front of the model, never in place of it.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143000" y="6178650"/>
            <a:ext cx="829818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Tool selection before generation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143000" y="6675041"/>
            <a:ext cx="7770114" cy="678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The extractor picks tools upfront; all fire in one parallel batch. A turn-by-turn agent loop survives only as the slow-path fallback.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9601200" y="6178650"/>
            <a:ext cx="829818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Rule-based guardrails, two stages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601200" y="6675041"/>
            <a:ext cx="7770114" cy="678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Pre-filter on retrieved data, post-check on generated text — no second generation pass, and every rule stays auditable.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987135"/>
            <a:ext cx="3001566" cy="15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FARMERVISION · MILESTONE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107678" y="1867892"/>
            <a:ext cx="17641054" cy="4563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Retrieval and yield caching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743299"/>
            <a:ext cx="160020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/>
          <p:nvPr/>
        </p:nvSpPr>
        <p:spPr>
          <a:xfrm>
            <a:off x="1143000" y="7971036"/>
            <a:ext cx="12367370" cy="6586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10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211D1D"/>
                </a:solidFill>
                <a:latin typeface="Archivo"/>
                <a:ea typeface="Archivo"/>
                <a:cs typeface="Archivo"/>
                <a:sym typeface="Archivo"/>
              </a:rPr>
              <a:t>Two separate embedding spaces — the semantic policy index never shares a collection with the structured yield cache.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987135"/>
            <a:ext cx="3001566" cy="15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FARMERVISION · MILESTONE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1107678" y="1867892"/>
            <a:ext cx="17641054" cy="4563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Synthesis and guardrails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1143000" y="3200499"/>
            <a:ext cx="829818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Prompt assembly — fixed order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143000" y="3651250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1143000" y="4426545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1143000" y="3886200"/>
            <a:ext cx="335955" cy="39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631355" y="3841750"/>
            <a:ext cx="2724150" cy="4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System rules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336455" y="3886200"/>
            <a:ext cx="281484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201F1D"/>
                </a:solidFill>
                <a:latin typeface="Archivo"/>
                <a:ea typeface="Archivo"/>
                <a:cs typeface="Archivo"/>
                <a:sym typeface="Archivo"/>
              </a:rPr>
              <a:t>role, safety limits, format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1143000" y="5201841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1143000" y="4661495"/>
            <a:ext cx="335955" cy="39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631355" y="4617046"/>
            <a:ext cx="2724150" cy="4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Retrieved chunks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4336455" y="4661495"/>
            <a:ext cx="34350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201F1D"/>
                </a:solidFill>
                <a:latin typeface="Archivo"/>
                <a:ea typeface="Archivo"/>
                <a:cs typeface="Archivo"/>
                <a:sym typeface="Archivo"/>
              </a:rPr>
              <a:t>policy passages + citation IDs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143000" y="5977136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1143000" y="5436791"/>
            <a:ext cx="335955" cy="39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631355" y="5392341"/>
            <a:ext cx="2724150" cy="4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Tool data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336455" y="5436791"/>
            <a:ext cx="35309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201F1D"/>
                </a:solidFill>
                <a:latin typeface="Archivo"/>
                <a:ea typeface="Archivo"/>
                <a:cs typeface="Archivo"/>
                <a:sym typeface="Archivo"/>
              </a:rPr>
              <a:t>yield · price · profitability · flags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143000" y="6752432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1143000" y="6212086"/>
            <a:ext cx="335955" cy="39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631355" y="6167636"/>
            <a:ext cx="2724150" cy="4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Farmer query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4336455" y="6212086"/>
            <a:ext cx="369593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201F1D"/>
                </a:solidFill>
                <a:latin typeface="Archivo"/>
                <a:ea typeface="Archivo"/>
                <a:cs typeface="Archivo"/>
                <a:sym typeface="Archivo"/>
              </a:rPr>
              <a:t>original text, post-ASR if spoken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1143000" y="7527727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1143000" y="6987382"/>
            <a:ext cx="335955" cy="392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631355" y="6942931"/>
            <a:ext cx="2724150" cy="4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Output format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336455" y="6987382"/>
            <a:ext cx="377364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201F1D"/>
                </a:solidFill>
                <a:latin typeface="Archivo"/>
                <a:ea typeface="Archivo"/>
                <a:cs typeface="Archivo"/>
                <a:sym typeface="Archivo"/>
              </a:rPr>
              <a:t>guided decoding, 60–100 tokens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9601200" y="3200499"/>
            <a:ext cx="829818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Two-stage guardrails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9601200" y="3651250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9601200" y="4743450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9601200" y="3841750"/>
            <a:ext cx="2724150" cy="4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Pre-filter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2306300" y="3886200"/>
            <a:ext cx="498386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201F1D"/>
                </a:solidFill>
                <a:latin typeface="Archivo"/>
                <a:ea typeface="Archivo"/>
                <a:cs typeface="Archivo"/>
                <a:sym typeface="Archivo"/>
              </a:rPr>
              <a:t>validates retrieved data before synthesis — dosage bounds, staleness flags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9601200" y="5835650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9601200" y="4933950"/>
            <a:ext cx="2724150" cy="4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Post-check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2306300" y="4978400"/>
            <a:ext cx="498386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201F1D"/>
                </a:solidFill>
                <a:latin typeface="Archivo"/>
                <a:ea typeface="Archivo"/>
                <a:cs typeface="Archivo"/>
                <a:sym typeface="Archivo"/>
              </a:rPr>
              <a:t>scans generated text — untraced numbers, banned terms,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9601200" y="6927850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9601200" y="6026150"/>
            <a:ext cx="2724150" cy="4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Fail-closed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2306300" y="6070600"/>
            <a:ext cx="498386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201F1D"/>
                </a:solidFill>
                <a:latin typeface="Archivo"/>
                <a:ea typeface="Archivo"/>
                <a:cs typeface="Archivo"/>
                <a:sym typeface="Archivo"/>
              </a:rPr>
              <a:t>a guardrail outage never returns unvalidated advice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9601200" y="8020050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9601200" y="7118350"/>
            <a:ext cx="2724150" cy="451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No agent loop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2306300" y="7162800"/>
            <a:ext cx="498386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201F1D"/>
                </a:solidFill>
                <a:latin typeface="Archivo"/>
                <a:ea typeface="Archivo"/>
                <a:cs typeface="Archivo"/>
                <a:sym typeface="Archivo"/>
              </a:rPr>
              <a:t>tools fire upfront in parallel; a dynamic loop only as slow-path fallback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987135"/>
            <a:ext cx="3001566" cy="15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FARMERVISION · MILESTONE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107678" y="1867892"/>
            <a:ext cx="8966775" cy="4563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Latency budget and serving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12268399" y="2129234"/>
            <a:ext cx="5364262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211D1D"/>
                </a:solidFill>
                <a:latin typeface="Archivo"/>
                <a:ea typeface="Archivo"/>
                <a:cs typeface="Archivo"/>
                <a:sym typeface="Archivo"/>
              </a:rPr>
              <a:t>design estimates — benchmarked in Milestone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143000" y="3867150"/>
            <a:ext cx="299849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1143000" y="3464990"/>
            <a:ext cx="2859845" cy="18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Archivo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Archivo"/>
                <a:ea typeface="Archivo"/>
                <a:cs typeface="Archivo"/>
                <a:sym typeface="Archivo"/>
              </a:rPr>
              <a:t>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4141490" y="3867150"/>
            <a:ext cx="3698577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4370090" y="3464990"/>
            <a:ext cx="3352335" cy="18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Archivo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Archivo"/>
                <a:ea typeface="Archivo"/>
                <a:cs typeface="Archivo"/>
                <a:sym typeface="Archivo"/>
              </a:rPr>
              <a:t>ESTIMATE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840067" y="3867150"/>
            <a:ext cx="9304933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8068667" y="3464990"/>
            <a:ext cx="9355481" cy="185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Archivo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Archivo"/>
                <a:ea typeface="Archivo"/>
                <a:cs typeface="Archivo"/>
                <a:sym typeface="Archivo"/>
              </a:rPr>
              <a:t>WHAT IT COVERS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143000" y="4568627"/>
            <a:ext cx="299849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1143000" y="4139394"/>
            <a:ext cx="2859845" cy="214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Fast path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141490" y="4568627"/>
            <a:ext cx="369857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4370090" y="4139394"/>
            <a:ext cx="3352335" cy="214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~35–50 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7840067" y="4568627"/>
            <a:ext cx="930493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8068667" y="4139394"/>
            <a:ext cx="9355481" cy="214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template served on a cache hit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1143000" y="5251053"/>
            <a:ext cx="299849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1143000" y="4828170"/>
            <a:ext cx="285984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Slow path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141490" y="5251053"/>
            <a:ext cx="369857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4370090" y="4828170"/>
            <a:ext cx="335233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~210–290 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7840067" y="5251053"/>
            <a:ext cx="930493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8068667" y="4828170"/>
            <a:ext cx="9355481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full fan-out, synthesis, both guardrail stages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143000" y="5933480"/>
            <a:ext cx="299849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1143000" y="5510597"/>
            <a:ext cx="285984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Voice input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141490" y="5933480"/>
            <a:ext cx="369857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4370090" y="5510597"/>
            <a:ext cx="335233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+150–400 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7840067" y="5933480"/>
            <a:ext cx="930493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8068667" y="5510597"/>
            <a:ext cx="9355481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ASR finalization before the pipeline starts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143000" y="6615906"/>
            <a:ext cx="299849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1143000" y="6193023"/>
            <a:ext cx="285984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Voice output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141490" y="6615906"/>
            <a:ext cx="369857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4370090" y="6193023"/>
            <a:ext cx="3352335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streamed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7840067" y="6615906"/>
            <a:ext cx="930493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8068667" y="6193023"/>
            <a:ext cx="9355481" cy="207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92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TTS begins on the first completed sentence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1143000" y="7073107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143000" y="7317581"/>
            <a:ext cx="553212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Synthesis LLM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143000" y="7813973"/>
            <a:ext cx="5180076" cy="678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A100/H100-class, FP8 on vLLM — batched, with speculative decoding.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629400" y="7073107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6629400" y="7317581"/>
            <a:ext cx="553212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Small models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629400" y="7813973"/>
            <a:ext cx="5180076" cy="678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T4/L4-class or CPU — TensorRT / ONNX for vision, intent, embedders.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2115800" y="7073107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12115800" y="7317581"/>
            <a:ext cx="553212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Yield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2115800" y="7813973"/>
            <a:ext cx="5180076" cy="678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652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CPU only — the boosted-tree ensemble needs no GPU anywhere in its path.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987135"/>
            <a:ext cx="3001566" cy="15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Clr>
                <a:srgbClr val="EC3013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EC3013"/>
                </a:solidFill>
                <a:latin typeface="Archivo"/>
                <a:ea typeface="Archivo"/>
                <a:cs typeface="Archivo"/>
                <a:sym typeface="Archivo"/>
              </a:rPr>
              <a:t>FARMERVISION · MILESTONE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1107678" y="1867892"/>
            <a:ext cx="17641054" cy="4563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Validation plan for Milestone 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1143000" y="3200499"/>
            <a:ext cx="829818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Assumptions to validate — Appendix 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1299210" y="3651250"/>
            <a:ext cx="746379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150–180 ms generation slice — throughput benchmark on the distilled checkpoint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Student accuracy vs the 12B teacher — held-out agri-QA set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GBT vs k-NN and neural baselines — cross-validated on real yield data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Guardrail recall — adversarial red-team queries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MuRIL vs multilingual-e5 — recall@k on code-mixed queries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9601200" y="3200499"/>
            <a:ext cx="8298180" cy="26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Milestone 4 activities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9757410" y="3651250"/>
            <a:ext cx="746379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Assemble and clean the training datasets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Fine-tune the vision classifier; per-class F1 baseline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Build the distillation pipeline — teacher output → student fine-tune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Curate the initial fast-path template set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chivo"/>
                <a:ea typeface="Archivo"/>
                <a:cs typeface="Archivo"/>
                <a:sym typeface="Archivo"/>
              </a:rPr>
              <a:t>Integrate and load-test against the latency targets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987135"/>
            <a:ext cx="3131443" cy="15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