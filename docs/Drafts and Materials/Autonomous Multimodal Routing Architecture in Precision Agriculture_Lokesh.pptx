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oboto Mono Medium"/>
      <p:regular r:id="rId18"/>
      <p:bold r:id="rId19"/>
      <p:italic r:id="rId20"/>
      <p:boldItalic r:id="rId21"/>
    </p:embeddedFont>
    <p:embeddedFont>
      <p:font typeface="Inter SemiBold"/>
      <p:regular r:id="rId22"/>
      <p:bold r:id="rId23"/>
      <p:italic r:id="rId24"/>
      <p:boldItalic r:id="rId25"/>
    </p:embeddedFont>
    <p:embeddedFont>
      <p:font typeface="Inter"/>
      <p:regular r:id="rId26"/>
      <p:bold r:id="rId27"/>
      <p:italic r:id="rId28"/>
      <p:boldItalic r:id="rId29"/>
    </p:embeddedFont>
    <p:embeddedFont>
      <p:font typeface="Space Grotesk Medium"/>
      <p:regular r:id="rId30"/>
      <p:bold r:id="rId31"/>
    </p:embeddedFont>
    <p:embeddedFont>
      <p:font typeface="Space Grotesk SemiBold"/>
      <p:regular r:id="rId32"/>
      <p:bold r:id="rId33"/>
    </p:embeddedFont>
    <p:embeddedFont>
      <p:font typeface="Roboto Mono"/>
      <p:regular r:id="rId34"/>
      <p:bold r:id="rId35"/>
      <p:italic r:id="rId36"/>
      <p:boldItalic r:id="rId37"/>
    </p:embeddedFont>
    <p:embeddedFont>
      <p:font typeface="Inter Medium"/>
      <p:regular r:id="rId38"/>
      <p:bold r:id="rId39"/>
      <p:italic r:id="rId40"/>
      <p:boldItalic r:id="rId41"/>
    </p:embeddedFont>
    <p:embeddedFont>
      <p:font typeface="Space Grotesk"/>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Medium-italic.fntdata"/><Relationship Id="rId20" Type="http://schemas.openxmlformats.org/officeDocument/2006/relationships/font" Target="fonts/RobotoMonoMedium-italic.fntdata"/><Relationship Id="rId42" Type="http://schemas.openxmlformats.org/officeDocument/2006/relationships/font" Target="fonts/SpaceGrotesk-bold.fntdata"/><Relationship Id="rId41" Type="http://schemas.openxmlformats.org/officeDocument/2006/relationships/font" Target="fonts/InterMedium-boldItalic.fntdata"/><Relationship Id="rId22" Type="http://schemas.openxmlformats.org/officeDocument/2006/relationships/font" Target="fonts/InterSemiBold-regular.fntdata"/><Relationship Id="rId21" Type="http://schemas.openxmlformats.org/officeDocument/2006/relationships/font" Target="fonts/RobotoMonoMedium-boldItalic.fntdata"/><Relationship Id="rId24" Type="http://schemas.openxmlformats.org/officeDocument/2006/relationships/font" Target="fonts/InterSemiBold-italic.fntdata"/><Relationship Id="rId23" Type="http://schemas.openxmlformats.org/officeDocument/2006/relationships/font" Target="fonts/Inter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regular.fntdata"/><Relationship Id="rId25" Type="http://schemas.openxmlformats.org/officeDocument/2006/relationships/font" Target="fonts/InterSemiBold-boldItalic.fntdata"/><Relationship Id="rId28" Type="http://schemas.openxmlformats.org/officeDocument/2006/relationships/font" Target="fonts/Inter-italic.fntdata"/><Relationship Id="rId27" Type="http://schemas.openxmlformats.org/officeDocument/2006/relationships/font" Target="fonts/Inter-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paceGroteskMedium-bold.fntdata"/><Relationship Id="rId30" Type="http://schemas.openxmlformats.org/officeDocument/2006/relationships/font" Target="fonts/SpaceGroteskMedium-regular.fntdata"/><Relationship Id="rId11" Type="http://schemas.openxmlformats.org/officeDocument/2006/relationships/slide" Target="slides/slide6.xml"/><Relationship Id="rId33" Type="http://schemas.openxmlformats.org/officeDocument/2006/relationships/font" Target="fonts/SpaceGroteskSemiBold-bold.fntdata"/><Relationship Id="rId10" Type="http://schemas.openxmlformats.org/officeDocument/2006/relationships/slide" Target="slides/slide5.xml"/><Relationship Id="rId32" Type="http://schemas.openxmlformats.org/officeDocument/2006/relationships/font" Target="fonts/SpaceGroteskSemiBold-regular.fntdata"/><Relationship Id="rId13" Type="http://schemas.openxmlformats.org/officeDocument/2006/relationships/slide" Target="slides/slide8.xml"/><Relationship Id="rId35" Type="http://schemas.openxmlformats.org/officeDocument/2006/relationships/font" Target="fonts/RobotoMono-bold.fntdata"/><Relationship Id="rId12" Type="http://schemas.openxmlformats.org/officeDocument/2006/relationships/slide" Target="slides/slide7.xml"/><Relationship Id="rId34" Type="http://schemas.openxmlformats.org/officeDocument/2006/relationships/font" Target="fonts/RobotoMono-regular.fntdata"/><Relationship Id="rId15" Type="http://schemas.openxmlformats.org/officeDocument/2006/relationships/slide" Target="slides/slide10.xml"/><Relationship Id="rId37" Type="http://schemas.openxmlformats.org/officeDocument/2006/relationships/font" Target="fonts/RobotoMono-boldItalic.fntdata"/><Relationship Id="rId14" Type="http://schemas.openxmlformats.org/officeDocument/2006/relationships/slide" Target="slides/slide9.xml"/><Relationship Id="rId36" Type="http://schemas.openxmlformats.org/officeDocument/2006/relationships/font" Target="fonts/RobotoMono-italic.fntdata"/><Relationship Id="rId17" Type="http://schemas.openxmlformats.org/officeDocument/2006/relationships/slide" Target="slides/slide12.xml"/><Relationship Id="rId39" Type="http://schemas.openxmlformats.org/officeDocument/2006/relationships/font" Target="fonts/InterMedium-bold.fntdata"/><Relationship Id="rId16" Type="http://schemas.openxmlformats.org/officeDocument/2006/relationships/slide" Target="slides/slide11.xml"/><Relationship Id="rId38" Type="http://schemas.openxmlformats.org/officeDocument/2006/relationships/font" Target="fonts/InterMedium-regular.fntdata"/><Relationship Id="rId19" Type="http://schemas.openxmlformats.org/officeDocument/2006/relationships/font" Target="fonts/RobotoMonoMedium-bold.fntdata"/><Relationship Id="rId18" Type="http://schemas.openxmlformats.org/officeDocument/2006/relationships/font" Target="fonts/RobotoMonoMedium-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2e61373a6_2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2e61373a6_2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f2e61373a6_2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f2e61373a6_2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2e61373a6_2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2e61373a6_2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2e61373a6_2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f2e61373a6_2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f2e61373a6_2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f2e61373a6_2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f2e61373a6_2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f2e61373a6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f2e61373a6_2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f2e61373a6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f2e61373a6_1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f2e61373a6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f2e61373a6_1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f2e61373a6_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f2e61373a6_1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f2e61373a6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f2e61373a6_1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f2e61373a6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f2e61373a6_1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f2e61373a6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2e61373a6_14_0)">
  <p:cSld name="Generated (g3f2e61373a6_14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image" Target="../media/image9.png"/><Relationship Id="rId5"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4.png"/><Relationship Id="rId5" Type="http://schemas.openxmlformats.org/officeDocument/2006/relationships/image" Target="../media/image18.png"/><Relationship Id="rId6" Type="http://schemas.openxmlformats.org/officeDocument/2006/relationships/image" Target="../media/image8.png"/><Relationship Id="rId7" Type="http://schemas.openxmlformats.org/officeDocument/2006/relationships/image" Target="../media/image25.png"/><Relationship Id="rId8"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4"/>
          <p:cNvSpPr/>
          <p:nvPr/>
        </p:nvSpPr>
        <p:spPr>
          <a:xfrm>
            <a:off x="0" y="0"/>
            <a:ext cx="9144000" cy="5143500"/>
          </a:xfrm>
          <a:prstGeom prst="rect">
            <a:avLst/>
          </a:prstGeom>
          <a:solidFill>
            <a:srgbClr val="0B11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6" name="Google Shape;56;p14"/>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57" name="Google Shape;57;p14"/>
          <p:cNvPicPr preferRelativeResize="0"/>
          <p:nvPr/>
        </p:nvPicPr>
        <p:blipFill rotWithShape="1">
          <a:blip r:embed="rId4">
            <a:alphaModFix/>
          </a:blip>
          <a:srcRect b="0" l="0" r="0" t="0"/>
          <a:stretch/>
        </p:blipFill>
        <p:spPr>
          <a:xfrm>
            <a:off x="4852988" y="1333500"/>
            <a:ext cx="9600" cy="2857500"/>
          </a:xfrm>
          <a:prstGeom prst="rect">
            <a:avLst/>
          </a:prstGeom>
          <a:noFill/>
          <a:ln>
            <a:noFill/>
          </a:ln>
        </p:spPr>
      </p:pic>
      <p:grpSp>
        <p:nvGrpSpPr>
          <p:cNvPr id="58" name="Google Shape;58;p14"/>
          <p:cNvGrpSpPr/>
          <p:nvPr/>
        </p:nvGrpSpPr>
        <p:grpSpPr>
          <a:xfrm>
            <a:off x="381000" y="1333500"/>
            <a:ext cx="4524375" cy="1571775"/>
            <a:chOff x="0" y="0"/>
            <a:chExt cx="4524375" cy="1571775"/>
          </a:xfrm>
        </p:grpSpPr>
        <p:sp>
          <p:nvSpPr>
            <p:cNvPr id="59" name="Google Shape;59;p14"/>
            <p:cNvSpPr/>
            <p:nvPr/>
          </p:nvSpPr>
          <p:spPr>
            <a:xfrm>
              <a:off x="0" y="0"/>
              <a:ext cx="142800" cy="142800"/>
            </a:xfrm>
            <a:custGeom>
              <a:rect b="b" l="l" r="r" t="t"/>
              <a:pathLst>
                <a:path extrusionOk="0" h="120000" w="120000">
                  <a:moveTo>
                    <a:pt x="0" y="120000"/>
                  </a:moveTo>
                  <a:lnTo>
                    <a:pt x="0" y="0"/>
                  </a:lnTo>
                  <a:lnTo>
                    <a:pt x="120000" y="0"/>
                  </a:lnTo>
                </a:path>
              </a:pathLst>
            </a:custGeom>
            <a:solidFill>
              <a:srgbClr val="000000">
                <a:alpha val="0"/>
              </a:srgbClr>
            </a:solidFill>
            <a:ln cap="flat" cmpd="sng" w="19050">
              <a:solidFill>
                <a:srgbClr val="00E67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 name="Google Shape;60;p14"/>
            <p:cNvSpPr txBox="1"/>
            <p:nvPr/>
          </p:nvSpPr>
          <p:spPr>
            <a:xfrm>
              <a:off x="142875" y="142875"/>
              <a:ext cx="43815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300">
                  <a:solidFill>
                    <a:srgbClr val="FFFFFF"/>
                  </a:solidFill>
                  <a:latin typeface="Space Grotesk"/>
                  <a:ea typeface="Space Grotesk"/>
                  <a:cs typeface="Space Grotesk"/>
                  <a:sym typeface="Space Grotesk"/>
                </a:rPr>
                <a:t>AUTONOMOUS MULTIMODAL</a:t>
              </a:r>
              <a:endParaRPr b="1" sz="2300">
                <a:solidFill>
                  <a:srgbClr val="FFFFFF"/>
                </a:solidFill>
                <a:latin typeface="Space Grotesk"/>
                <a:ea typeface="Space Grotesk"/>
                <a:cs typeface="Space Grotesk"/>
                <a:sym typeface="Space Grotesk"/>
              </a:endParaRPr>
            </a:p>
            <a:p>
              <a:pPr indent="0" lvl="0" marL="0" rtl="0" algn="l">
                <a:spcBef>
                  <a:spcPts val="450"/>
                </a:spcBef>
                <a:spcAft>
                  <a:spcPts val="0"/>
                </a:spcAft>
                <a:buNone/>
              </a:pPr>
              <a:r>
                <a:rPr b="1" lang="en" sz="2300">
                  <a:solidFill>
                    <a:srgbClr val="FFFFFF"/>
                  </a:solidFill>
                  <a:latin typeface="Space Grotesk"/>
                  <a:ea typeface="Space Grotesk"/>
                  <a:cs typeface="Space Grotesk"/>
                  <a:sym typeface="Space Grotesk"/>
                </a:rPr>
                <a:t>ROUTING ARCHITECTURE</a:t>
              </a:r>
              <a:endParaRPr b="1" sz="2300">
                <a:solidFill>
                  <a:srgbClr val="FFFFFF"/>
                </a:solidFill>
                <a:latin typeface="Space Grotesk"/>
                <a:ea typeface="Space Grotesk"/>
                <a:cs typeface="Space Grotesk"/>
                <a:sym typeface="Space Grotesk"/>
              </a:endParaRPr>
            </a:p>
            <a:p>
              <a:pPr indent="0" lvl="0" marL="0" rtl="0" algn="l">
                <a:spcBef>
                  <a:spcPts val="750"/>
                </a:spcBef>
                <a:spcAft>
                  <a:spcPts val="0"/>
                </a:spcAft>
                <a:buNone/>
              </a:pPr>
              <a:r>
                <a:rPr b="0" lang="en" sz="1500">
                  <a:solidFill>
                    <a:srgbClr val="00E676"/>
                  </a:solidFill>
                  <a:latin typeface="Space Grotesk Medium"/>
                  <a:ea typeface="Space Grotesk Medium"/>
                  <a:cs typeface="Space Grotesk Medium"/>
                  <a:sym typeface="Space Grotesk Medium"/>
                </a:rPr>
                <a:t>IN PRECISION AGRICULTURE</a:t>
              </a:r>
              <a:endParaRPr b="0" sz="1500">
                <a:solidFill>
                  <a:srgbClr val="00E676"/>
                </a:solidFill>
                <a:latin typeface="Space Grotesk Medium"/>
                <a:ea typeface="Space Grotesk Medium"/>
                <a:cs typeface="Space Grotesk Medium"/>
                <a:sym typeface="Space Grotesk Medium"/>
              </a:endParaRPr>
            </a:p>
          </p:txBody>
        </p:sp>
      </p:grpSp>
      <p:sp>
        <p:nvSpPr>
          <p:cNvPr id="61" name="Google Shape;61;p14"/>
          <p:cNvSpPr txBox="1"/>
          <p:nvPr/>
        </p:nvSpPr>
        <p:spPr>
          <a:xfrm>
            <a:off x="381000" y="3095625"/>
            <a:ext cx="43815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FFFFFF"/>
                </a:solidFill>
                <a:latin typeface="Space Grotesk Medium"/>
                <a:ea typeface="Space Grotesk Medium"/>
                <a:cs typeface="Space Grotesk Medium"/>
                <a:sym typeface="Space Grotesk Medium"/>
              </a:rPr>
              <a:t>A Comprehensive Evaluation of Agentic Systems</a:t>
            </a:r>
            <a:endParaRPr b="0" sz="1300">
              <a:solidFill>
                <a:srgbClr val="FFFFFF"/>
              </a:solidFill>
              <a:latin typeface="Space Grotesk Medium"/>
              <a:ea typeface="Space Grotesk Medium"/>
              <a:cs typeface="Space Grotesk Medium"/>
              <a:sym typeface="Space Grotesk Medium"/>
            </a:endParaRPr>
          </a:p>
          <a:p>
            <a:pPr indent="0" lvl="0" marL="0" rtl="0" algn="l">
              <a:spcBef>
                <a:spcPts val="300"/>
              </a:spcBef>
              <a:spcAft>
                <a:spcPts val="0"/>
              </a:spcAft>
              <a:buNone/>
            </a:pPr>
            <a:r>
              <a:rPr b="0" lang="en" sz="1300">
                <a:solidFill>
                  <a:srgbClr val="00E676"/>
                </a:solidFill>
                <a:latin typeface="Space Grotesk Medium"/>
                <a:ea typeface="Space Grotesk Medium"/>
                <a:cs typeface="Space Grotesk Medium"/>
                <a:sym typeface="Space Grotesk Medium"/>
              </a:rPr>
              <a:t>for the Global South</a:t>
            </a:r>
            <a:endParaRPr b="0" sz="1300">
              <a:solidFill>
                <a:srgbClr val="00E676"/>
              </a:solidFill>
              <a:latin typeface="Space Grotesk Medium"/>
              <a:ea typeface="Space Grotesk Medium"/>
              <a:cs typeface="Space Grotesk Medium"/>
              <a:sym typeface="Space Grotesk Medium"/>
            </a:endParaRPr>
          </a:p>
        </p:txBody>
      </p:sp>
      <p:sp>
        <p:nvSpPr>
          <p:cNvPr id="62" name="Google Shape;62;p14"/>
          <p:cNvSpPr txBox="1"/>
          <p:nvPr/>
        </p:nvSpPr>
        <p:spPr>
          <a:xfrm>
            <a:off x="381000" y="3857625"/>
            <a:ext cx="42864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B0BEC5"/>
                </a:solidFill>
                <a:latin typeface="Inter"/>
                <a:ea typeface="Inter"/>
                <a:cs typeface="Inter"/>
                <a:sym typeface="Inter"/>
              </a:rPr>
              <a:t>This presentation focuses on delivering precision agronomic intelligence to secure global food systems.</a:t>
            </a:r>
            <a:endParaRPr b="0" sz="1100">
              <a:solidFill>
                <a:srgbClr val="B0BEC5"/>
              </a:solidFill>
              <a:latin typeface="Inter"/>
              <a:ea typeface="Inter"/>
              <a:cs typeface="Inter"/>
              <a:sym typeface="Inter"/>
            </a:endParaRPr>
          </a:p>
        </p:txBody>
      </p:sp>
      <p:grpSp>
        <p:nvGrpSpPr>
          <p:cNvPr id="63" name="Google Shape;63;p14"/>
          <p:cNvGrpSpPr/>
          <p:nvPr/>
        </p:nvGrpSpPr>
        <p:grpSpPr>
          <a:xfrm>
            <a:off x="5143500" y="1333500"/>
            <a:ext cx="3619500" cy="2036100"/>
            <a:chOff x="0" y="0"/>
            <a:chExt cx="3619500" cy="2036100"/>
          </a:xfrm>
        </p:grpSpPr>
        <p:sp>
          <p:nvSpPr>
            <p:cNvPr id="64" name="Google Shape;64;p14"/>
            <p:cNvSpPr/>
            <p:nvPr/>
          </p:nvSpPr>
          <p:spPr>
            <a:xfrm>
              <a:off x="0" y="0"/>
              <a:ext cx="3619500" cy="2036100"/>
            </a:xfrm>
            <a:prstGeom prst="rect">
              <a:avLst/>
            </a:prstGeom>
            <a:solidFill>
              <a:srgbClr val="151E23"/>
            </a:solidFill>
            <a:ln cap="flat" cmpd="sng" w="9525">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5" name="Google Shape;65;p14"/>
            <p:cNvPicPr preferRelativeResize="0"/>
            <p:nvPr/>
          </p:nvPicPr>
          <p:blipFill rotWithShape="1">
            <a:blip r:embed="rId5">
              <a:alphaModFix/>
            </a:blip>
            <a:srcRect b="199" l="0" r="0" t="209"/>
            <a:stretch/>
          </p:blipFill>
          <p:spPr>
            <a:xfrm>
              <a:off x="9525" y="9525"/>
              <a:ext cx="3600600" cy="2016900"/>
            </a:xfrm>
            <a:prstGeom prst="rect">
              <a:avLst/>
            </a:prstGeom>
            <a:noFill/>
            <a:ln>
              <a:noFill/>
            </a:ln>
          </p:spPr>
        </p:pic>
        <p:sp>
          <p:nvSpPr>
            <p:cNvPr id="66" name="Google Shape;66;p14"/>
            <p:cNvSpPr/>
            <p:nvPr/>
          </p:nvSpPr>
          <p:spPr>
            <a:xfrm>
              <a:off x="0" y="0"/>
              <a:ext cx="142800" cy="142800"/>
            </a:xfrm>
            <a:custGeom>
              <a:rect b="b" l="l" r="r" t="t"/>
              <a:pathLst>
                <a:path extrusionOk="0" h="120000" w="120000">
                  <a:moveTo>
                    <a:pt x="0" y="120000"/>
                  </a:moveTo>
                  <a:lnTo>
                    <a:pt x="0" y="0"/>
                  </a:lnTo>
                  <a:lnTo>
                    <a:pt x="120000" y="0"/>
                  </a:lnTo>
                </a:path>
              </a:pathLst>
            </a:custGeom>
            <a:solidFill>
              <a:srgbClr val="000000">
                <a:alpha val="0"/>
              </a:srgbClr>
            </a:solidFill>
            <a:ln cap="flat" cmpd="sng" w="19050">
              <a:solidFill>
                <a:srgbClr val="00E67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 name="Google Shape;67;p14"/>
            <p:cNvSpPr/>
            <p:nvPr/>
          </p:nvSpPr>
          <p:spPr>
            <a:xfrm>
              <a:off x="3476625" y="1893094"/>
              <a:ext cx="142800" cy="142800"/>
            </a:xfrm>
            <a:custGeom>
              <a:rect b="b" l="l" r="r" t="t"/>
              <a:pathLst>
                <a:path extrusionOk="0" h="120000" w="120000">
                  <a:moveTo>
                    <a:pt x="120000" y="0"/>
                  </a:moveTo>
                  <a:lnTo>
                    <a:pt x="120000" y="120000"/>
                  </a:lnTo>
                  <a:lnTo>
                    <a:pt x="0" y="120000"/>
                  </a:lnTo>
                </a:path>
              </a:pathLst>
            </a:custGeom>
            <a:solidFill>
              <a:srgbClr val="000000">
                <a:alpha val="0"/>
              </a:srgbClr>
            </a:solidFill>
            <a:ln cap="flat" cmpd="sng" w="19050">
              <a:solidFill>
                <a:srgbClr val="00E67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68" name="Google Shape;68;p14"/>
          <p:cNvGrpSpPr/>
          <p:nvPr/>
        </p:nvGrpSpPr>
        <p:grpSpPr>
          <a:xfrm>
            <a:off x="5143500" y="3667125"/>
            <a:ext cx="3619500" cy="304800"/>
            <a:chOff x="0" y="0"/>
            <a:chExt cx="3619500" cy="304800"/>
          </a:xfrm>
        </p:grpSpPr>
        <p:grpSp>
          <p:nvGrpSpPr>
            <p:cNvPr id="69" name="Google Shape;69;p14"/>
            <p:cNvGrpSpPr/>
            <p:nvPr/>
          </p:nvGrpSpPr>
          <p:grpSpPr>
            <a:xfrm>
              <a:off x="0" y="0"/>
              <a:ext cx="1714500" cy="304800"/>
              <a:chOff x="0" y="0"/>
              <a:chExt cx="1714500" cy="304800"/>
            </a:xfrm>
          </p:grpSpPr>
          <p:sp>
            <p:nvSpPr>
              <p:cNvPr id="70" name="Google Shape;70;p14"/>
              <p:cNvSpPr/>
              <p:nvPr/>
            </p:nvSpPr>
            <p:spPr>
              <a:xfrm>
                <a:off x="0" y="0"/>
                <a:ext cx="1714500" cy="304800"/>
              </a:xfrm>
              <a:prstGeom prst="roundRect">
                <a:avLst>
                  <a:gd fmla="val 50000" name="adj"/>
                </a:avLst>
              </a:prstGeom>
              <a:solidFill>
                <a:srgbClr val="151E23"/>
              </a:solidFill>
              <a:ln cap="flat" cmpd="sng" w="9525">
                <a:solidFill>
                  <a:srgbClr val="29B6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 name="Google Shape;71;p14"/>
              <p:cNvSpPr txBox="1"/>
              <p:nvPr/>
            </p:nvSpPr>
            <p:spPr>
              <a:xfrm>
                <a:off x="95250" y="57150"/>
                <a:ext cx="1524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00">
                    <a:solidFill>
                      <a:srgbClr val="29B6F6"/>
                    </a:solidFill>
                    <a:latin typeface="Roboto Mono Medium"/>
                    <a:ea typeface="Roboto Mono Medium"/>
                    <a:cs typeface="Roboto Mono Medium"/>
                    <a:sym typeface="Roboto Mono Medium"/>
                  </a:rPr>
                  <a:t>MULTIMODAL AI</a:t>
                </a:r>
                <a:endParaRPr/>
              </a:p>
            </p:txBody>
          </p:sp>
        </p:grpSp>
        <p:grpSp>
          <p:nvGrpSpPr>
            <p:cNvPr id="72" name="Google Shape;72;p14"/>
            <p:cNvGrpSpPr/>
            <p:nvPr/>
          </p:nvGrpSpPr>
          <p:grpSpPr>
            <a:xfrm>
              <a:off x="1905000" y="0"/>
              <a:ext cx="1714500" cy="304800"/>
              <a:chOff x="0" y="0"/>
              <a:chExt cx="1714500" cy="304800"/>
            </a:xfrm>
          </p:grpSpPr>
          <p:sp>
            <p:nvSpPr>
              <p:cNvPr id="73" name="Google Shape;73;p14"/>
              <p:cNvSpPr/>
              <p:nvPr/>
            </p:nvSpPr>
            <p:spPr>
              <a:xfrm>
                <a:off x="0" y="0"/>
                <a:ext cx="1714500" cy="304800"/>
              </a:xfrm>
              <a:prstGeom prst="roundRect">
                <a:avLst>
                  <a:gd fmla="val 50000" name="adj"/>
                </a:avLst>
              </a:prstGeom>
              <a:solidFill>
                <a:srgbClr val="151E23"/>
              </a:solidFill>
              <a:ln cap="flat" cmpd="sng" w="9525">
                <a:solidFill>
                  <a:srgbClr val="00E67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 name="Google Shape;74;p14"/>
              <p:cNvSpPr txBox="1"/>
              <p:nvPr/>
            </p:nvSpPr>
            <p:spPr>
              <a:xfrm>
                <a:off x="95250" y="57150"/>
                <a:ext cx="1524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00">
                    <a:solidFill>
                      <a:srgbClr val="00E676"/>
                    </a:solidFill>
                    <a:latin typeface="Roboto Mono Medium"/>
                    <a:ea typeface="Roboto Mono Medium"/>
                    <a:cs typeface="Roboto Mono Medium"/>
                    <a:sym typeface="Roboto Mono Medium"/>
                  </a:rPr>
                  <a:t>PRECISION AGRI</a:t>
                </a:r>
                <a:endParaRPr/>
              </a:p>
            </p:txBody>
          </p:sp>
        </p:grpSp>
      </p:grpSp>
      <p:grpSp>
        <p:nvGrpSpPr>
          <p:cNvPr id="75" name="Google Shape;75;p14"/>
          <p:cNvGrpSpPr/>
          <p:nvPr/>
        </p:nvGrpSpPr>
        <p:grpSpPr>
          <a:xfrm>
            <a:off x="381000" y="4857750"/>
            <a:ext cx="8382000" cy="238125"/>
            <a:chOff x="381000" y="4857750"/>
            <a:chExt cx="8382000" cy="238125"/>
          </a:xfrm>
        </p:grpSpPr>
        <p:cxnSp>
          <p:nvCxnSpPr>
            <p:cNvPr id="76" name="Google Shape;76;p14"/>
            <p:cNvCxnSpPr/>
            <p:nvPr/>
          </p:nvCxnSpPr>
          <p:spPr>
            <a:xfrm>
              <a:off x="381000" y="48577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sp>
          <p:nvSpPr>
            <p:cNvPr id="77" name="Google Shape;77;p14"/>
            <p:cNvSpPr txBox="1"/>
            <p:nvPr/>
          </p:nvSpPr>
          <p:spPr>
            <a:xfrm>
              <a:off x="381000" y="4905375"/>
              <a:ext cx="47625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800">
                  <a:solidFill>
                    <a:srgbClr val="2A3B47"/>
                  </a:solidFill>
                  <a:latin typeface="Roboto Mono Medium"/>
                  <a:ea typeface="Roboto Mono Medium"/>
                  <a:cs typeface="Roboto Mono Medium"/>
                  <a:sym typeface="Roboto Mono Medium"/>
                </a:rPr>
                <a:t>AUTONOMOUS MULTIMODAL ROUTING ARCHITECTURE</a:t>
              </a:r>
              <a:endParaRPr/>
            </a:p>
          </p:txBody>
        </p:sp>
        <p:sp>
          <p:nvSpPr>
            <p:cNvPr id="78" name="Google Shape;78;p14"/>
            <p:cNvSpPr txBox="1"/>
            <p:nvPr/>
          </p:nvSpPr>
          <p:spPr>
            <a:xfrm>
              <a:off x="7810500" y="4905375"/>
              <a:ext cx="952500" cy="1905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b="0" lang="en" sz="800">
                  <a:solidFill>
                    <a:srgbClr val="2A3B47"/>
                  </a:solidFill>
                  <a:latin typeface="Roboto Mono Medium"/>
                  <a:ea typeface="Roboto Mono Medium"/>
                  <a:cs typeface="Roboto Mono Medium"/>
                  <a:sym typeface="Roboto Mono Medium"/>
                </a:rPr>
                <a:t>JULY 2026</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5"/>
          <p:cNvSpPr/>
          <p:nvPr/>
        </p:nvSpPr>
        <p:spPr>
          <a:xfrm>
            <a:off x="0" y="0"/>
            <a:ext cx="9144000" cy="5143500"/>
          </a:xfrm>
          <a:prstGeom prst="rect">
            <a:avLst/>
          </a:prstGeom>
          <a:solidFill>
            <a:srgbClr val="0B11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84" name="Google Shape;84;p1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85" name="Google Shape;85;p15"/>
          <p:cNvSpPr txBox="1"/>
          <p:nvPr/>
        </p:nvSpPr>
        <p:spPr>
          <a:xfrm>
            <a:off x="381000" y="381000"/>
            <a:ext cx="83820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2400">
                <a:solidFill>
                  <a:srgbClr val="FFFFFF"/>
                </a:solidFill>
                <a:latin typeface="Space Grotesk"/>
                <a:ea typeface="Space Grotesk"/>
                <a:cs typeface="Space Grotesk"/>
                <a:sym typeface="Space Grotesk"/>
              </a:rPr>
              <a:t>AGRICULTURAL INFORMATION ASYMMETRY</a:t>
            </a:r>
            <a:endParaRPr b="1" i="0" sz="2400">
              <a:solidFill>
                <a:srgbClr val="FFFFFF"/>
              </a:solidFill>
              <a:latin typeface="Space Grotesk"/>
              <a:ea typeface="Space Grotesk"/>
              <a:cs typeface="Space Grotesk"/>
              <a:sym typeface="Space Grotesk"/>
            </a:endParaRPr>
          </a:p>
        </p:txBody>
      </p:sp>
      <p:cxnSp>
        <p:nvCxnSpPr>
          <p:cNvPr id="86" name="Google Shape;86;p15"/>
          <p:cNvCxnSpPr/>
          <p:nvPr/>
        </p:nvCxnSpPr>
        <p:spPr>
          <a:xfrm>
            <a:off x="381000" y="8572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sp>
        <p:nvSpPr>
          <p:cNvPr id="87" name="Google Shape;87;p15"/>
          <p:cNvSpPr txBox="1"/>
          <p:nvPr/>
        </p:nvSpPr>
        <p:spPr>
          <a:xfrm>
            <a:off x="381000" y="1143000"/>
            <a:ext cx="8382000" cy="2000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400">
                <a:solidFill>
                  <a:srgbClr val="B0BEC5"/>
                </a:solidFill>
                <a:latin typeface="Inter"/>
                <a:ea typeface="Inter"/>
                <a:cs typeface="Inter"/>
                <a:sym typeface="Inter"/>
              </a:rPr>
              <a:t>Smallholder farmers across the global south, particularly in northern India, are constantly navigating severe information asymmetries. They must make critical decisions amidst volatile weather patterns, sudden pest outbreaks, and rapidly fluctuating market prices. Historically, these farmers have relied on traditional, human-staffed Kisan Call Centres (KCC) for agronomic guidance.</a:t>
            </a:r>
            <a:endParaRPr b="0" i="0" sz="1400">
              <a:solidFill>
                <a:srgbClr val="B0BEC5"/>
              </a:solidFill>
              <a:latin typeface="Inter"/>
              <a:ea typeface="Inter"/>
              <a:cs typeface="Inter"/>
              <a:sym typeface="Inter"/>
            </a:endParaRPr>
          </a:p>
          <a:p>
            <a:pPr indent="0" lvl="0" marL="0" rtl="0" algn="l">
              <a:spcBef>
                <a:spcPts val="1125"/>
              </a:spcBef>
              <a:spcAft>
                <a:spcPts val="1125"/>
              </a:spcAft>
              <a:buNone/>
            </a:pPr>
            <a:r>
              <a:rPr b="0" i="0" lang="en" sz="1400">
                <a:solidFill>
                  <a:srgbClr val="B0BEC5"/>
                </a:solidFill>
                <a:latin typeface="Inter"/>
                <a:ea typeface="Inter"/>
                <a:cs typeface="Inter"/>
                <a:sym typeface="Inter"/>
              </a:rPr>
              <a:t>To secure global food systems and empower smallholder farmers, there is an urgent need for a scalable, automated alternative that can bypass these human bottlenecks and deliver instant, localized, and highly accurate agronomic intelligence directly to the field.</a:t>
            </a:r>
            <a:endParaRPr b="0" i="0" sz="1400">
              <a:solidFill>
                <a:srgbClr val="B0BEC5"/>
              </a:solidFill>
              <a:latin typeface="Inter"/>
              <a:ea typeface="Inter"/>
              <a:cs typeface="Inter"/>
              <a:sym typeface="Inter"/>
            </a:endParaRPr>
          </a:p>
        </p:txBody>
      </p:sp>
      <p:grpSp>
        <p:nvGrpSpPr>
          <p:cNvPr id="88" name="Google Shape;88;p15"/>
          <p:cNvGrpSpPr/>
          <p:nvPr/>
        </p:nvGrpSpPr>
        <p:grpSpPr>
          <a:xfrm>
            <a:off x="381000" y="3429000"/>
            <a:ext cx="8382000" cy="1047900"/>
            <a:chOff x="0" y="0"/>
            <a:chExt cx="8382000" cy="1047900"/>
          </a:xfrm>
        </p:grpSpPr>
        <p:sp>
          <p:nvSpPr>
            <p:cNvPr id="89" name="Google Shape;89;p15"/>
            <p:cNvSpPr/>
            <p:nvPr/>
          </p:nvSpPr>
          <p:spPr>
            <a:xfrm>
              <a:off x="0" y="0"/>
              <a:ext cx="8382000" cy="1047900"/>
            </a:xfrm>
            <a:prstGeom prst="rect">
              <a:avLst/>
            </a:prstGeom>
            <a:solidFill>
              <a:srgbClr val="1A0D10"/>
            </a:solidFill>
            <a:ln cap="flat" cmpd="sng" w="19050">
              <a:solidFill>
                <a:srgbClr val="FF52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 name="Google Shape;90;p15"/>
            <p:cNvSpPr/>
            <p:nvPr/>
          </p:nvSpPr>
          <p:spPr>
            <a:xfrm>
              <a:off x="0" y="0"/>
              <a:ext cx="76200" cy="1047900"/>
            </a:xfrm>
            <a:prstGeom prst="rect">
              <a:avLst/>
            </a:prstGeom>
            <a:solidFill>
              <a:srgbClr val="FF525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 name="Google Shape;91;p15"/>
            <p:cNvSpPr txBox="1"/>
            <p:nvPr/>
          </p:nvSpPr>
          <p:spPr>
            <a:xfrm>
              <a:off x="285750" y="142875"/>
              <a:ext cx="78105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1400">
                  <a:solidFill>
                    <a:srgbClr val="FF5252"/>
                  </a:solidFill>
                  <a:latin typeface="Arial"/>
                  <a:ea typeface="Arial"/>
                  <a:cs typeface="Arial"/>
                  <a:sym typeface="Arial"/>
                </a:rPr>
                <a:t>BOTTLENECK WARNING:</a:t>
              </a:r>
              <a:r>
                <a:rPr b="0" i="0" lang="en" sz="1400">
                  <a:solidFill>
                    <a:srgbClr val="B0BEC5"/>
                  </a:solidFill>
                  <a:latin typeface="Arial"/>
                  <a:ea typeface="Arial"/>
                  <a:cs typeface="Arial"/>
                  <a:sym typeface="Arial"/>
                </a:rPr>
                <a:t> Legacy human-staffed systems suffer from extreme latency, immense call volume, and vernacular disconnects.</a:t>
              </a:r>
              <a:endParaRPr b="1" i="0" sz="1400">
                <a:solidFill>
                  <a:srgbClr val="FF5252"/>
                </a:solidFill>
                <a:latin typeface="Arial"/>
                <a:ea typeface="Arial"/>
                <a:cs typeface="Arial"/>
                <a:sym typeface="Arial"/>
              </a:endParaRPr>
            </a:p>
          </p:txBody>
        </p:sp>
      </p:grpSp>
      <p:grpSp>
        <p:nvGrpSpPr>
          <p:cNvPr id="92" name="Google Shape;92;p15"/>
          <p:cNvGrpSpPr/>
          <p:nvPr/>
        </p:nvGrpSpPr>
        <p:grpSpPr>
          <a:xfrm>
            <a:off x="381000" y="4857750"/>
            <a:ext cx="8382000" cy="209550"/>
            <a:chOff x="381000" y="4857750"/>
            <a:chExt cx="8382000" cy="209550"/>
          </a:xfrm>
        </p:grpSpPr>
        <p:cxnSp>
          <p:nvCxnSpPr>
            <p:cNvPr id="93" name="Google Shape;93;p15"/>
            <p:cNvCxnSpPr/>
            <p:nvPr/>
          </p:nvCxnSpPr>
          <p:spPr>
            <a:xfrm>
              <a:off x="381000" y="48577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sp>
          <p:nvSpPr>
            <p:cNvPr id="94" name="Google Shape;94;p15"/>
            <p:cNvSpPr txBox="1"/>
            <p:nvPr/>
          </p:nvSpPr>
          <p:spPr>
            <a:xfrm>
              <a:off x="381000" y="4876800"/>
              <a:ext cx="3810000" cy="190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i="0" lang="en" sz="800">
                  <a:solidFill>
                    <a:srgbClr val="2A3B47"/>
                  </a:solidFill>
                  <a:latin typeface="Roboto Mono"/>
                  <a:ea typeface="Roboto Mono"/>
                  <a:cs typeface="Roboto Mono"/>
                  <a:sym typeface="Roboto Mono"/>
                </a:rPr>
                <a:t>AUTONOMOUS MULTIMODAL ROUTING ARCHITECTURE</a:t>
              </a:r>
              <a:endParaRPr b="0" i="0" sz="800">
                <a:solidFill>
                  <a:srgbClr val="2A3B47"/>
                </a:solidFill>
                <a:latin typeface="Roboto Mono"/>
                <a:ea typeface="Roboto Mono"/>
                <a:cs typeface="Roboto Mono"/>
                <a:sym typeface="Roboto Mono"/>
              </a:endParaRPr>
            </a:p>
          </p:txBody>
        </p:sp>
        <p:sp>
          <p:nvSpPr>
            <p:cNvPr id="95" name="Google Shape;95;p15"/>
            <p:cNvSpPr txBox="1"/>
            <p:nvPr/>
          </p:nvSpPr>
          <p:spPr>
            <a:xfrm>
              <a:off x="7810500" y="4876800"/>
              <a:ext cx="952500" cy="1905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ctr">
                <a:spcBef>
                  <a:spcPts val="0"/>
                </a:spcBef>
                <a:spcAft>
                  <a:spcPts val="0"/>
                </a:spcAft>
                <a:buNone/>
              </a:pPr>
              <a:r>
                <a:rPr b="0" i="0" lang="en" sz="800">
                  <a:solidFill>
                    <a:srgbClr val="2A3B47"/>
                  </a:solidFill>
                  <a:latin typeface="Roboto Mono"/>
                  <a:ea typeface="Roboto Mono"/>
                  <a:cs typeface="Roboto Mono"/>
                  <a:sym typeface="Roboto Mono"/>
                </a:rPr>
                <a:t>01-JUL-2026</a:t>
              </a:r>
              <a:endParaRPr b="0" i="0" sz="800">
                <a:solidFill>
                  <a:srgbClr val="2A3B47"/>
                </a:solidFill>
                <a:latin typeface="Roboto Mono"/>
                <a:ea typeface="Roboto Mono"/>
                <a:cs typeface="Roboto Mono"/>
                <a:sym typeface="Roboto Mon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14"/>
        </a:solidFill>
      </p:bgPr>
    </p:bg>
    <p:spTree>
      <p:nvGrpSpPr>
        <p:cNvPr id="99" name="Shape 99"/>
        <p:cNvGrpSpPr/>
        <p:nvPr/>
      </p:nvGrpSpPr>
      <p:grpSpPr>
        <a:xfrm>
          <a:off x="0" y="0"/>
          <a:ext cx="0" cy="0"/>
          <a:chOff x="0" y="0"/>
          <a:chExt cx="0" cy="0"/>
        </a:xfrm>
      </p:grpSpPr>
      <p:pic>
        <p:nvPicPr>
          <p:cNvPr id="100" name="Google Shape;100;p1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01" name="Google Shape;101;p16"/>
          <p:cNvSpPr txBox="1"/>
          <p:nvPr/>
        </p:nvSpPr>
        <p:spPr>
          <a:xfrm>
            <a:off x="381000" y="19050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00E676"/>
                </a:solidFill>
                <a:latin typeface="Roboto Mono Medium"/>
                <a:ea typeface="Roboto Mono Medium"/>
                <a:cs typeface="Roboto Mono Medium"/>
                <a:sym typeface="Roboto Mono Medium"/>
              </a:rPr>
              <a:t>SYSTEM ARCHITECTURE</a:t>
            </a:r>
            <a:endParaRPr/>
          </a:p>
        </p:txBody>
      </p:sp>
      <p:sp>
        <p:nvSpPr>
          <p:cNvPr id="102" name="Google Shape;102;p16"/>
          <p:cNvSpPr txBox="1"/>
          <p:nvPr/>
        </p:nvSpPr>
        <p:spPr>
          <a:xfrm>
            <a:off x="381000" y="381000"/>
            <a:ext cx="8382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FFFFFF"/>
                </a:solidFill>
                <a:latin typeface="Space Grotesk"/>
                <a:ea typeface="Space Grotesk"/>
                <a:cs typeface="Space Grotesk"/>
                <a:sym typeface="Space Grotesk"/>
              </a:rPr>
              <a:t>MULTI-SOURCE AGENTIC RAG</a:t>
            </a:r>
            <a:endParaRPr/>
          </a:p>
        </p:txBody>
      </p:sp>
      <p:cxnSp>
        <p:nvCxnSpPr>
          <p:cNvPr id="103" name="Google Shape;103;p16"/>
          <p:cNvCxnSpPr/>
          <p:nvPr/>
        </p:nvCxnSpPr>
        <p:spPr>
          <a:xfrm>
            <a:off x="381000" y="8572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cxnSp>
        <p:nvCxnSpPr>
          <p:cNvPr id="104" name="Google Shape;104;p16"/>
          <p:cNvCxnSpPr/>
          <p:nvPr/>
        </p:nvCxnSpPr>
        <p:spPr>
          <a:xfrm>
            <a:off x="4572000" y="1143000"/>
            <a:ext cx="0" cy="3429000"/>
          </a:xfrm>
          <a:prstGeom prst="straightConnector1">
            <a:avLst/>
          </a:prstGeom>
          <a:solidFill>
            <a:srgbClr val="FFFFFF"/>
          </a:solidFill>
          <a:ln cap="flat" cmpd="sng" w="9525">
            <a:solidFill>
              <a:srgbClr val="151E23"/>
            </a:solidFill>
            <a:prstDash val="solid"/>
            <a:round/>
            <a:headEnd len="sm" w="sm" type="none"/>
            <a:tailEnd len="sm" w="sm" type="none"/>
          </a:ln>
        </p:spPr>
      </p:cxnSp>
      <p:sp>
        <p:nvSpPr>
          <p:cNvPr id="105" name="Google Shape;105;p16"/>
          <p:cNvSpPr txBox="1"/>
          <p:nvPr/>
        </p:nvSpPr>
        <p:spPr>
          <a:xfrm>
            <a:off x="381000" y="1143000"/>
            <a:ext cx="4000500" cy="3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00E676"/>
                </a:solidFill>
                <a:latin typeface="Space Grotesk Medium"/>
                <a:ea typeface="Space Grotesk Medium"/>
                <a:cs typeface="Space Grotesk Medium"/>
                <a:sym typeface="Space Grotesk Medium"/>
              </a:rPr>
              <a:t>Autonomous "Traffic Cop" RAG</a:t>
            </a:r>
            <a:endParaRPr b="0" sz="1200">
              <a:solidFill>
                <a:srgbClr val="00E676"/>
              </a:solidFill>
              <a:latin typeface="Space Grotesk Medium"/>
              <a:ea typeface="Space Grotesk Medium"/>
              <a:cs typeface="Space Grotesk Medium"/>
              <a:sym typeface="Space Grotesk Medium"/>
            </a:endParaRPr>
          </a:p>
          <a:p>
            <a:pPr indent="0" lvl="0" marL="0" rtl="0" algn="l">
              <a:spcBef>
                <a:spcPts val="750"/>
              </a:spcBef>
              <a:spcAft>
                <a:spcPts val="0"/>
              </a:spcAft>
              <a:buNone/>
            </a:pPr>
            <a:r>
              <a:rPr b="0" lang="en" sz="1150">
                <a:solidFill>
                  <a:srgbClr val="B0BEC5"/>
                </a:solidFill>
                <a:latin typeface="Inter"/>
                <a:ea typeface="Inter"/>
                <a:cs typeface="Inter"/>
                <a:sym typeface="Inter"/>
              </a:rPr>
              <a:t>The proposed solution is a highly advanced </a:t>
            </a:r>
            <a:r>
              <a:rPr b="1" lang="en" sz="1150">
                <a:solidFill>
                  <a:srgbClr val="B0BEC5"/>
                </a:solidFill>
                <a:latin typeface="Inter"/>
                <a:ea typeface="Inter"/>
                <a:cs typeface="Inter"/>
                <a:sym typeface="Inter"/>
              </a:rPr>
              <a:t>Multi-Source Agentic Retrieval-Augmented Generation (RAG)</a:t>
            </a:r>
            <a:r>
              <a:rPr b="0" lang="en" sz="1150">
                <a:solidFill>
                  <a:srgbClr val="B0BEC5"/>
                </a:solidFill>
                <a:latin typeface="Inter"/>
                <a:ea typeface="Inter"/>
                <a:cs typeface="Inter"/>
                <a:sym typeface="Inter"/>
              </a:rPr>
              <a:t> framework. Operating as an autonomous multimodal routing architecture, it acts as an intelligent "Traffic Cop" designed to seamlessly digest and process highly unstructured, heterogeneous inputs directly from the field.</a:t>
            </a:r>
            <a:endParaRPr b="0" sz="1150">
              <a:solidFill>
                <a:srgbClr val="B0BEC5"/>
              </a:solidFill>
              <a:latin typeface="Inter"/>
              <a:ea typeface="Inter"/>
              <a:cs typeface="Inter"/>
              <a:sym typeface="Inter"/>
            </a:endParaRPr>
          </a:p>
          <a:p>
            <a:pPr indent="0" lvl="0" marL="0" rtl="0" algn="l">
              <a:spcBef>
                <a:spcPts val="900"/>
              </a:spcBef>
              <a:spcAft>
                <a:spcPts val="0"/>
              </a:spcAft>
              <a:buNone/>
            </a:pPr>
            <a:r>
              <a:rPr b="0" lang="en" sz="1150">
                <a:solidFill>
                  <a:srgbClr val="B0BEC5"/>
                </a:solidFill>
                <a:latin typeface="Inter"/>
                <a:ea typeface="Inter"/>
                <a:cs typeface="Inter"/>
                <a:sym typeface="Inter"/>
              </a:rPr>
              <a:t>It handles complex vernacular voice queries, transliterated/code-mixed text (Hinglish), and in-the-wild, low-resolution crop imagery. Once ingested, the architecture instantly classifies user intent and routes the query.</a:t>
            </a:r>
            <a:endParaRPr b="0" sz="1150">
              <a:solidFill>
                <a:srgbClr val="B0BEC5"/>
              </a:solidFill>
              <a:latin typeface="Inter"/>
              <a:ea typeface="Inter"/>
              <a:cs typeface="Inter"/>
              <a:sym typeface="Inter"/>
            </a:endParaRPr>
          </a:p>
          <a:p>
            <a:pPr indent="0" lvl="0" marL="0" rtl="0" algn="l">
              <a:spcBef>
                <a:spcPts val="900"/>
              </a:spcBef>
              <a:spcAft>
                <a:spcPts val="0"/>
              </a:spcAft>
              <a:buNone/>
            </a:pPr>
            <a:r>
              <a:rPr b="0" lang="en" sz="1150">
                <a:solidFill>
                  <a:srgbClr val="B0BEC5"/>
                </a:solidFill>
                <a:latin typeface="Inter"/>
                <a:ea typeface="Inter"/>
                <a:cs typeface="Inter"/>
                <a:sym typeface="Inter"/>
              </a:rPr>
              <a:t>Complex agronomic queries route to specialized vector databases like </a:t>
            </a:r>
            <a:r>
              <a:rPr b="1" lang="en" sz="1150">
                <a:solidFill>
                  <a:srgbClr val="B0BEC5"/>
                </a:solidFill>
                <a:latin typeface="Inter"/>
                <a:ea typeface="Inter"/>
                <a:cs typeface="Inter"/>
                <a:sym typeface="Inter"/>
              </a:rPr>
              <a:t>ChromaDB</a:t>
            </a:r>
            <a:r>
              <a:rPr b="0" lang="en" sz="1150">
                <a:solidFill>
                  <a:srgbClr val="B0BEC5"/>
                </a:solidFill>
                <a:latin typeface="Inter"/>
                <a:ea typeface="Inter"/>
                <a:cs typeface="Inter"/>
                <a:sym typeface="Inter"/>
              </a:rPr>
              <a:t> for agricultural guidelines, while pricing queries hit real-time live </a:t>
            </a:r>
            <a:r>
              <a:rPr b="1" lang="en" sz="1150">
                <a:solidFill>
                  <a:srgbClr val="B0BEC5"/>
                </a:solidFill>
                <a:latin typeface="Inter"/>
                <a:ea typeface="Inter"/>
                <a:cs typeface="Inter"/>
                <a:sym typeface="Inter"/>
              </a:rPr>
              <a:t>Agmarknet APIs</a:t>
            </a:r>
            <a:r>
              <a:rPr b="0" lang="en" sz="1150">
                <a:solidFill>
                  <a:srgbClr val="B0BEC5"/>
                </a:solidFill>
                <a:latin typeface="Inter"/>
                <a:ea typeface="Inter"/>
                <a:cs typeface="Inter"/>
                <a:sym typeface="Inter"/>
              </a:rPr>
              <a:t> for market data, or escalate to human experts as needed.</a:t>
            </a:r>
            <a:endParaRPr b="0" sz="1150">
              <a:solidFill>
                <a:srgbClr val="B0BEC5"/>
              </a:solidFill>
              <a:latin typeface="Inter"/>
              <a:ea typeface="Inter"/>
              <a:cs typeface="Inter"/>
              <a:sym typeface="Inter"/>
            </a:endParaRPr>
          </a:p>
        </p:txBody>
      </p:sp>
      <p:grpSp>
        <p:nvGrpSpPr>
          <p:cNvPr id="106" name="Google Shape;106;p16"/>
          <p:cNvGrpSpPr/>
          <p:nvPr/>
        </p:nvGrpSpPr>
        <p:grpSpPr>
          <a:xfrm>
            <a:off x="4762500" y="1143000"/>
            <a:ext cx="4152900" cy="3095700"/>
            <a:chOff x="4762500" y="1143000"/>
            <a:chExt cx="4152900" cy="3095700"/>
          </a:xfrm>
        </p:grpSpPr>
        <p:pic>
          <p:nvPicPr>
            <p:cNvPr id="107" name="Google Shape;107;p16"/>
            <p:cNvPicPr preferRelativeResize="0"/>
            <p:nvPr/>
          </p:nvPicPr>
          <p:blipFill rotWithShape="1">
            <a:blip r:embed="rId4">
              <a:alphaModFix/>
            </a:blip>
            <a:srcRect b="0" l="0" r="0" t="0"/>
            <a:stretch/>
          </p:blipFill>
          <p:spPr>
            <a:xfrm>
              <a:off x="6477000" y="1490663"/>
              <a:ext cx="533400" cy="66600"/>
            </a:xfrm>
            <a:prstGeom prst="rect">
              <a:avLst/>
            </a:prstGeom>
            <a:noFill/>
            <a:ln>
              <a:noFill/>
            </a:ln>
          </p:spPr>
        </p:pic>
        <p:pic>
          <p:nvPicPr>
            <p:cNvPr id="108" name="Google Shape;108;p16"/>
            <p:cNvPicPr preferRelativeResize="0"/>
            <p:nvPr/>
          </p:nvPicPr>
          <p:blipFill rotWithShape="1">
            <a:blip r:embed="rId5">
              <a:alphaModFix/>
            </a:blip>
            <a:srcRect b="0" l="0" r="0" t="0"/>
            <a:stretch/>
          </p:blipFill>
          <p:spPr>
            <a:xfrm>
              <a:off x="7872413" y="1905000"/>
              <a:ext cx="66600" cy="723900"/>
            </a:xfrm>
            <a:prstGeom prst="rect">
              <a:avLst/>
            </a:prstGeom>
            <a:noFill/>
            <a:ln>
              <a:noFill/>
            </a:ln>
          </p:spPr>
        </p:pic>
        <p:pic>
          <p:nvPicPr>
            <p:cNvPr id="109" name="Google Shape;109;p16"/>
            <p:cNvPicPr preferRelativeResize="0"/>
            <p:nvPr/>
          </p:nvPicPr>
          <p:blipFill rotWithShape="1">
            <a:blip r:embed="rId6">
              <a:alphaModFix/>
            </a:blip>
            <a:srcRect b="0" l="0" r="0" t="0"/>
            <a:stretch/>
          </p:blipFill>
          <p:spPr>
            <a:xfrm>
              <a:off x="5586413" y="2228850"/>
              <a:ext cx="2319300" cy="400200"/>
            </a:xfrm>
            <a:prstGeom prst="rect">
              <a:avLst/>
            </a:prstGeom>
            <a:noFill/>
            <a:ln>
              <a:noFill/>
            </a:ln>
          </p:spPr>
        </p:pic>
        <p:sp>
          <p:nvSpPr>
            <p:cNvPr id="110" name="Google Shape;110;p16"/>
            <p:cNvSpPr/>
            <p:nvPr/>
          </p:nvSpPr>
          <p:spPr>
            <a:xfrm>
              <a:off x="7877175" y="2209800"/>
              <a:ext cx="57300" cy="57300"/>
            </a:xfrm>
            <a:prstGeom prst="ellipse">
              <a:avLst/>
            </a:prstGeom>
            <a:solidFill>
              <a:srgbClr val="29B6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11" name="Google Shape;111;p16"/>
            <p:cNvPicPr preferRelativeResize="0"/>
            <p:nvPr/>
          </p:nvPicPr>
          <p:blipFill rotWithShape="1">
            <a:blip r:embed="rId7">
              <a:alphaModFix/>
            </a:blip>
            <a:srcRect b="0" l="0" r="0" t="0"/>
            <a:stretch/>
          </p:blipFill>
          <p:spPr>
            <a:xfrm>
              <a:off x="8763000" y="1514475"/>
              <a:ext cx="152400" cy="2538300"/>
            </a:xfrm>
            <a:prstGeom prst="rect">
              <a:avLst/>
            </a:prstGeom>
            <a:noFill/>
            <a:ln>
              <a:noFill/>
            </a:ln>
          </p:spPr>
        </p:pic>
        <p:grpSp>
          <p:nvGrpSpPr>
            <p:cNvPr id="112" name="Google Shape;112;p16"/>
            <p:cNvGrpSpPr/>
            <p:nvPr/>
          </p:nvGrpSpPr>
          <p:grpSpPr>
            <a:xfrm>
              <a:off x="4762500" y="1143000"/>
              <a:ext cx="1714500" cy="762000"/>
              <a:chOff x="0" y="0"/>
              <a:chExt cx="1714500" cy="762000"/>
            </a:xfrm>
          </p:grpSpPr>
          <p:sp>
            <p:nvSpPr>
              <p:cNvPr id="113" name="Google Shape;113;p16"/>
              <p:cNvSpPr/>
              <p:nvPr/>
            </p:nvSpPr>
            <p:spPr>
              <a:xfrm>
                <a:off x="0" y="0"/>
                <a:ext cx="1714500" cy="762000"/>
              </a:xfrm>
              <a:prstGeom prst="rect">
                <a:avLst/>
              </a:prstGeom>
              <a:solidFill>
                <a:srgbClr val="151E23"/>
              </a:solidFill>
              <a:ln cap="flat" cmpd="sng" w="9525">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4" name="Google Shape;114;p16"/>
              <p:cNvGrpSpPr/>
              <p:nvPr/>
            </p:nvGrpSpPr>
            <p:grpSpPr>
              <a:xfrm>
                <a:off x="104775" y="314325"/>
                <a:ext cx="181050" cy="133500"/>
                <a:chOff x="28575" y="28575"/>
                <a:chExt cx="181050" cy="133500"/>
              </a:xfrm>
            </p:grpSpPr>
            <p:sp>
              <p:nvSpPr>
                <p:cNvPr id="115" name="Google Shape;115;p16"/>
                <p:cNvSpPr/>
                <p:nvPr/>
              </p:nvSpPr>
              <p:spPr>
                <a:xfrm>
                  <a:off x="28575" y="28575"/>
                  <a:ext cx="133500" cy="133500"/>
                </a:xfrm>
                <a:prstGeom prst="ellipse">
                  <a:avLst/>
                </a:prstGeom>
                <a:solidFill>
                  <a:srgbClr val="000000">
                    <a:alpha val="0"/>
                  </a:srgbClr>
                </a:solidFill>
                <a:ln cap="flat" cmpd="sng" w="14300">
                  <a:solidFill>
                    <a:srgbClr val="29B6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6"/>
                <p:cNvSpPr/>
                <p:nvPr/>
              </p:nvSpPr>
              <p:spPr>
                <a:xfrm>
                  <a:off x="71438" y="71438"/>
                  <a:ext cx="47700" cy="47700"/>
                </a:xfrm>
                <a:prstGeom prst="ellipse">
                  <a:avLst/>
                </a:prstGeom>
                <a:solidFill>
                  <a:srgbClr val="29B6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16"/>
                <p:cNvSpPr/>
                <p:nvPr/>
              </p:nvSpPr>
              <p:spPr>
                <a:xfrm>
                  <a:off x="161925" y="95250"/>
                  <a:ext cx="47700" cy="0"/>
                </a:xfrm>
                <a:custGeom>
                  <a:rect b="b" l="l" r="r" t="t"/>
                  <a:pathLst>
                    <a:path extrusionOk="0" h="120000" w="120000">
                      <a:moveTo>
                        <a:pt x="0" y="0"/>
                      </a:moveTo>
                      <a:lnTo>
                        <a:pt x="120000" y="0"/>
                      </a:lnTo>
                    </a:path>
                  </a:pathLst>
                </a:custGeom>
                <a:solidFill>
                  <a:srgbClr val="000000">
                    <a:alpha val="0"/>
                  </a:srgbClr>
                </a:solidFill>
                <a:ln cap="flat" cmpd="sng" w="14300">
                  <a:solidFill>
                    <a:srgbClr val="29B6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sp>
          <p:nvSpPr>
            <p:cNvPr id="118" name="Google Shape;118;p16"/>
            <p:cNvSpPr/>
            <p:nvPr/>
          </p:nvSpPr>
          <p:spPr>
            <a:xfrm>
              <a:off x="4762500" y="1143000"/>
              <a:ext cx="38100" cy="762000"/>
            </a:xfrm>
            <a:prstGeom prst="rect">
              <a:avLst/>
            </a:prstGeom>
            <a:solidFill>
              <a:srgbClr val="29B6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6"/>
            <p:cNvSpPr txBox="1"/>
            <p:nvPr/>
          </p:nvSpPr>
          <p:spPr>
            <a:xfrm>
              <a:off x="5067300" y="1285875"/>
              <a:ext cx="13146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50">
                  <a:solidFill>
                    <a:srgbClr val="FFFFFF"/>
                  </a:solidFill>
                  <a:latin typeface="Roboto Mono"/>
                  <a:ea typeface="Roboto Mono"/>
                  <a:cs typeface="Roboto Mono"/>
                  <a:sym typeface="Roboto Mono"/>
                </a:rPr>
                <a:t>INGESTION ENGINE</a:t>
              </a:r>
              <a:endParaRPr b="1" sz="850">
                <a:solidFill>
                  <a:srgbClr val="FFFFFF"/>
                </a:solidFill>
                <a:latin typeface="Roboto Mono"/>
                <a:ea typeface="Roboto Mono"/>
                <a:cs typeface="Roboto Mono"/>
                <a:sym typeface="Roboto Mono"/>
              </a:endParaRPr>
            </a:p>
            <a:p>
              <a:pPr indent="0" lvl="0" marL="0" rtl="0" algn="l">
                <a:spcBef>
                  <a:spcPts val="150"/>
                </a:spcBef>
                <a:spcAft>
                  <a:spcPts val="0"/>
                </a:spcAft>
                <a:buNone/>
              </a:pPr>
              <a:r>
                <a:rPr b="0" lang="en" sz="750">
                  <a:solidFill>
                    <a:srgbClr val="94A3B8"/>
                  </a:solidFill>
                  <a:latin typeface="Roboto Mono Medium"/>
                  <a:ea typeface="Roboto Mono Medium"/>
                  <a:cs typeface="Roboto Mono Medium"/>
                  <a:sym typeface="Roboto Mono Medium"/>
                </a:rPr>
                <a:t>Voice, Hinglish, Crops</a:t>
              </a:r>
              <a:endParaRPr b="0" sz="750">
                <a:solidFill>
                  <a:srgbClr val="94A3B8"/>
                </a:solidFill>
                <a:latin typeface="Roboto Mono Medium"/>
                <a:ea typeface="Roboto Mono Medium"/>
                <a:cs typeface="Roboto Mono Medium"/>
                <a:sym typeface="Roboto Mono Medium"/>
              </a:endParaRPr>
            </a:p>
          </p:txBody>
        </p:sp>
        <p:grpSp>
          <p:nvGrpSpPr>
            <p:cNvPr id="120" name="Google Shape;120;p16"/>
            <p:cNvGrpSpPr/>
            <p:nvPr/>
          </p:nvGrpSpPr>
          <p:grpSpPr>
            <a:xfrm>
              <a:off x="7048500" y="1143000"/>
              <a:ext cx="1714500" cy="762000"/>
              <a:chOff x="0" y="0"/>
              <a:chExt cx="1714500" cy="762000"/>
            </a:xfrm>
          </p:grpSpPr>
          <p:sp>
            <p:nvSpPr>
              <p:cNvPr id="121" name="Google Shape;121;p16"/>
              <p:cNvSpPr/>
              <p:nvPr/>
            </p:nvSpPr>
            <p:spPr>
              <a:xfrm>
                <a:off x="0" y="0"/>
                <a:ext cx="1714500" cy="762000"/>
              </a:xfrm>
              <a:prstGeom prst="rect">
                <a:avLst/>
              </a:prstGeom>
              <a:solidFill>
                <a:srgbClr val="151E23"/>
              </a:solidFill>
              <a:ln cap="flat" cmpd="sng" w="9525">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2" name="Google Shape;122;p16"/>
              <p:cNvGrpSpPr/>
              <p:nvPr/>
            </p:nvGrpSpPr>
            <p:grpSpPr>
              <a:xfrm>
                <a:off x="104775" y="314325"/>
                <a:ext cx="181050" cy="133500"/>
                <a:chOff x="28575" y="28575"/>
                <a:chExt cx="181050" cy="133500"/>
              </a:xfrm>
            </p:grpSpPr>
            <p:sp>
              <p:nvSpPr>
                <p:cNvPr id="123" name="Google Shape;123;p16"/>
                <p:cNvSpPr/>
                <p:nvPr/>
              </p:nvSpPr>
              <p:spPr>
                <a:xfrm>
                  <a:off x="28575" y="28575"/>
                  <a:ext cx="133500" cy="133500"/>
                </a:xfrm>
                <a:prstGeom prst="ellipse">
                  <a:avLst/>
                </a:prstGeom>
                <a:solidFill>
                  <a:srgbClr val="000000">
                    <a:alpha val="0"/>
                  </a:srgbClr>
                </a:solidFill>
                <a:ln cap="flat" cmpd="sng" w="14300">
                  <a:solidFill>
                    <a:srgbClr val="29B6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6"/>
                <p:cNvSpPr/>
                <p:nvPr/>
              </p:nvSpPr>
              <p:spPr>
                <a:xfrm>
                  <a:off x="71438" y="71438"/>
                  <a:ext cx="47700" cy="47700"/>
                </a:xfrm>
                <a:prstGeom prst="ellipse">
                  <a:avLst/>
                </a:prstGeom>
                <a:solidFill>
                  <a:srgbClr val="29B6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 name="Google Shape;125;p16"/>
                <p:cNvSpPr/>
                <p:nvPr/>
              </p:nvSpPr>
              <p:spPr>
                <a:xfrm>
                  <a:off x="161925" y="95250"/>
                  <a:ext cx="47700" cy="0"/>
                </a:xfrm>
                <a:custGeom>
                  <a:rect b="b" l="l" r="r" t="t"/>
                  <a:pathLst>
                    <a:path extrusionOk="0" h="120000" w="120000">
                      <a:moveTo>
                        <a:pt x="0" y="0"/>
                      </a:moveTo>
                      <a:lnTo>
                        <a:pt x="120000" y="0"/>
                      </a:lnTo>
                    </a:path>
                  </a:pathLst>
                </a:custGeom>
                <a:solidFill>
                  <a:srgbClr val="000000">
                    <a:alpha val="0"/>
                  </a:srgbClr>
                </a:solidFill>
                <a:ln cap="flat" cmpd="sng" w="14300">
                  <a:solidFill>
                    <a:srgbClr val="29B6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sp>
          <p:nvSpPr>
            <p:cNvPr id="126" name="Google Shape;126;p16"/>
            <p:cNvSpPr/>
            <p:nvPr/>
          </p:nvSpPr>
          <p:spPr>
            <a:xfrm>
              <a:off x="7048500" y="1143000"/>
              <a:ext cx="38100" cy="762000"/>
            </a:xfrm>
            <a:prstGeom prst="rect">
              <a:avLst/>
            </a:prstGeom>
            <a:solidFill>
              <a:srgbClr val="00E6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6"/>
            <p:cNvSpPr txBox="1"/>
            <p:nvPr/>
          </p:nvSpPr>
          <p:spPr>
            <a:xfrm>
              <a:off x="7353300" y="1285875"/>
              <a:ext cx="13146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50">
                  <a:solidFill>
                    <a:srgbClr val="FFFFFF"/>
                  </a:solidFill>
                  <a:latin typeface="Roboto Mono"/>
                  <a:ea typeface="Roboto Mono"/>
                  <a:cs typeface="Roboto Mono"/>
                  <a:sym typeface="Roboto Mono"/>
                </a:rPr>
                <a:t>INTENT ROUTER</a:t>
              </a:r>
              <a:endParaRPr b="1" sz="850">
                <a:solidFill>
                  <a:srgbClr val="FFFFFF"/>
                </a:solidFill>
                <a:latin typeface="Roboto Mono"/>
                <a:ea typeface="Roboto Mono"/>
                <a:cs typeface="Roboto Mono"/>
                <a:sym typeface="Roboto Mono"/>
              </a:endParaRPr>
            </a:p>
            <a:p>
              <a:pPr indent="0" lvl="0" marL="0" rtl="0" algn="l">
                <a:spcBef>
                  <a:spcPts val="150"/>
                </a:spcBef>
                <a:spcAft>
                  <a:spcPts val="0"/>
                </a:spcAft>
                <a:buNone/>
              </a:pPr>
              <a:r>
                <a:rPr b="0" lang="en" sz="750">
                  <a:solidFill>
                    <a:srgbClr val="94A3B8"/>
                  </a:solidFill>
                  <a:latin typeface="Roboto Mono Medium"/>
                  <a:ea typeface="Roboto Mono Medium"/>
                  <a:cs typeface="Roboto Mono Medium"/>
                  <a:sym typeface="Roboto Mono Medium"/>
                </a:rPr>
                <a:t>Autonomous Traffic Cop</a:t>
              </a:r>
              <a:endParaRPr b="0" sz="750">
                <a:solidFill>
                  <a:srgbClr val="94A3B8"/>
                </a:solidFill>
                <a:latin typeface="Roboto Mono Medium"/>
                <a:ea typeface="Roboto Mono Medium"/>
                <a:cs typeface="Roboto Mono Medium"/>
                <a:sym typeface="Roboto Mono Medium"/>
              </a:endParaRPr>
            </a:p>
          </p:txBody>
        </p:sp>
        <p:grpSp>
          <p:nvGrpSpPr>
            <p:cNvPr id="128" name="Google Shape;128;p16"/>
            <p:cNvGrpSpPr/>
            <p:nvPr/>
          </p:nvGrpSpPr>
          <p:grpSpPr>
            <a:xfrm>
              <a:off x="4762500" y="2667000"/>
              <a:ext cx="1714500" cy="762000"/>
              <a:chOff x="0" y="0"/>
              <a:chExt cx="1714500" cy="762000"/>
            </a:xfrm>
          </p:grpSpPr>
          <p:sp>
            <p:nvSpPr>
              <p:cNvPr id="129" name="Google Shape;129;p16"/>
              <p:cNvSpPr/>
              <p:nvPr/>
            </p:nvSpPr>
            <p:spPr>
              <a:xfrm>
                <a:off x="0" y="0"/>
                <a:ext cx="1714500" cy="762000"/>
              </a:xfrm>
              <a:prstGeom prst="rect">
                <a:avLst/>
              </a:prstGeom>
              <a:solidFill>
                <a:srgbClr val="151E23"/>
              </a:solidFill>
              <a:ln cap="flat" cmpd="sng" w="9525">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30" name="Google Shape;130;p16"/>
              <p:cNvGrpSpPr/>
              <p:nvPr/>
            </p:nvGrpSpPr>
            <p:grpSpPr>
              <a:xfrm>
                <a:off x="104775" y="314325"/>
                <a:ext cx="181050" cy="133500"/>
                <a:chOff x="28575" y="28575"/>
                <a:chExt cx="181050" cy="133500"/>
              </a:xfrm>
            </p:grpSpPr>
            <p:sp>
              <p:nvSpPr>
                <p:cNvPr id="131" name="Google Shape;131;p16"/>
                <p:cNvSpPr/>
                <p:nvPr/>
              </p:nvSpPr>
              <p:spPr>
                <a:xfrm>
                  <a:off x="28575" y="28575"/>
                  <a:ext cx="133500" cy="133500"/>
                </a:xfrm>
                <a:prstGeom prst="ellipse">
                  <a:avLst/>
                </a:prstGeom>
                <a:solidFill>
                  <a:srgbClr val="000000">
                    <a:alpha val="0"/>
                  </a:srgbClr>
                </a:solidFill>
                <a:ln cap="flat" cmpd="sng" w="14300">
                  <a:solidFill>
                    <a:srgbClr val="29B6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6"/>
                <p:cNvSpPr/>
                <p:nvPr/>
              </p:nvSpPr>
              <p:spPr>
                <a:xfrm>
                  <a:off x="71438" y="71438"/>
                  <a:ext cx="47700" cy="47700"/>
                </a:xfrm>
                <a:prstGeom prst="ellipse">
                  <a:avLst/>
                </a:prstGeom>
                <a:solidFill>
                  <a:srgbClr val="29B6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6"/>
                <p:cNvSpPr/>
                <p:nvPr/>
              </p:nvSpPr>
              <p:spPr>
                <a:xfrm>
                  <a:off x="161925" y="95250"/>
                  <a:ext cx="47700" cy="0"/>
                </a:xfrm>
                <a:custGeom>
                  <a:rect b="b" l="l" r="r" t="t"/>
                  <a:pathLst>
                    <a:path extrusionOk="0" h="120000" w="120000">
                      <a:moveTo>
                        <a:pt x="0" y="0"/>
                      </a:moveTo>
                      <a:lnTo>
                        <a:pt x="120000" y="0"/>
                      </a:lnTo>
                    </a:path>
                  </a:pathLst>
                </a:custGeom>
                <a:solidFill>
                  <a:srgbClr val="000000">
                    <a:alpha val="0"/>
                  </a:srgbClr>
                </a:solidFill>
                <a:ln cap="flat" cmpd="sng" w="14300">
                  <a:solidFill>
                    <a:srgbClr val="29B6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sp>
          <p:nvSpPr>
            <p:cNvPr id="134" name="Google Shape;134;p16"/>
            <p:cNvSpPr/>
            <p:nvPr/>
          </p:nvSpPr>
          <p:spPr>
            <a:xfrm>
              <a:off x="4762500" y="2667000"/>
              <a:ext cx="38100" cy="762000"/>
            </a:xfrm>
            <a:prstGeom prst="rect">
              <a:avLst/>
            </a:prstGeom>
            <a:solidFill>
              <a:srgbClr val="29B6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6"/>
            <p:cNvSpPr txBox="1"/>
            <p:nvPr/>
          </p:nvSpPr>
          <p:spPr>
            <a:xfrm>
              <a:off x="5067300" y="2809875"/>
              <a:ext cx="13146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50">
                  <a:solidFill>
                    <a:srgbClr val="FFFFFF"/>
                  </a:solidFill>
                  <a:latin typeface="Roboto Mono"/>
                  <a:ea typeface="Roboto Mono"/>
                  <a:cs typeface="Roboto Mono"/>
                  <a:sym typeface="Roboto Mono"/>
                </a:rPr>
                <a:t>CHROMADB VECTOR</a:t>
              </a:r>
              <a:endParaRPr b="1" sz="850">
                <a:solidFill>
                  <a:srgbClr val="FFFFFF"/>
                </a:solidFill>
                <a:latin typeface="Roboto Mono"/>
                <a:ea typeface="Roboto Mono"/>
                <a:cs typeface="Roboto Mono"/>
                <a:sym typeface="Roboto Mono"/>
              </a:endParaRPr>
            </a:p>
            <a:p>
              <a:pPr indent="0" lvl="0" marL="0" rtl="0" algn="l">
                <a:spcBef>
                  <a:spcPts val="150"/>
                </a:spcBef>
                <a:spcAft>
                  <a:spcPts val="0"/>
                </a:spcAft>
                <a:buNone/>
              </a:pPr>
              <a:r>
                <a:rPr b="0" lang="en" sz="750">
                  <a:solidFill>
                    <a:srgbClr val="94A3B8"/>
                  </a:solidFill>
                  <a:latin typeface="Roboto Mono Medium"/>
                  <a:ea typeface="Roboto Mono Medium"/>
                  <a:cs typeface="Roboto Mono Medium"/>
                  <a:sym typeface="Roboto Mono Medium"/>
                </a:rPr>
                <a:t>Agronomic Guidelines</a:t>
              </a:r>
              <a:endParaRPr b="0" sz="750">
                <a:solidFill>
                  <a:srgbClr val="94A3B8"/>
                </a:solidFill>
                <a:latin typeface="Roboto Mono Medium"/>
                <a:ea typeface="Roboto Mono Medium"/>
                <a:cs typeface="Roboto Mono Medium"/>
                <a:sym typeface="Roboto Mono Medium"/>
              </a:endParaRPr>
            </a:p>
          </p:txBody>
        </p:sp>
        <p:grpSp>
          <p:nvGrpSpPr>
            <p:cNvPr id="136" name="Google Shape;136;p16"/>
            <p:cNvGrpSpPr/>
            <p:nvPr/>
          </p:nvGrpSpPr>
          <p:grpSpPr>
            <a:xfrm>
              <a:off x="7048500" y="2667000"/>
              <a:ext cx="1714500" cy="762000"/>
              <a:chOff x="0" y="0"/>
              <a:chExt cx="1714500" cy="762000"/>
            </a:xfrm>
          </p:grpSpPr>
          <p:sp>
            <p:nvSpPr>
              <p:cNvPr id="137" name="Google Shape;137;p16"/>
              <p:cNvSpPr/>
              <p:nvPr/>
            </p:nvSpPr>
            <p:spPr>
              <a:xfrm>
                <a:off x="0" y="0"/>
                <a:ext cx="1714500" cy="762000"/>
              </a:xfrm>
              <a:prstGeom prst="rect">
                <a:avLst/>
              </a:prstGeom>
              <a:solidFill>
                <a:srgbClr val="151E23"/>
              </a:solidFill>
              <a:ln cap="flat" cmpd="sng" w="9525">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38" name="Google Shape;138;p16"/>
              <p:cNvGrpSpPr/>
              <p:nvPr/>
            </p:nvGrpSpPr>
            <p:grpSpPr>
              <a:xfrm>
                <a:off x="104775" y="314325"/>
                <a:ext cx="181050" cy="133500"/>
                <a:chOff x="28575" y="28575"/>
                <a:chExt cx="181050" cy="133500"/>
              </a:xfrm>
            </p:grpSpPr>
            <p:sp>
              <p:nvSpPr>
                <p:cNvPr id="139" name="Google Shape;139;p16"/>
                <p:cNvSpPr/>
                <p:nvPr/>
              </p:nvSpPr>
              <p:spPr>
                <a:xfrm>
                  <a:off x="28575" y="28575"/>
                  <a:ext cx="133500" cy="133500"/>
                </a:xfrm>
                <a:prstGeom prst="ellipse">
                  <a:avLst/>
                </a:prstGeom>
                <a:solidFill>
                  <a:srgbClr val="000000">
                    <a:alpha val="0"/>
                  </a:srgbClr>
                </a:solidFill>
                <a:ln cap="flat" cmpd="sng" w="14300">
                  <a:solidFill>
                    <a:srgbClr val="29B6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 name="Google Shape;140;p16"/>
                <p:cNvSpPr/>
                <p:nvPr/>
              </p:nvSpPr>
              <p:spPr>
                <a:xfrm>
                  <a:off x="71438" y="71438"/>
                  <a:ext cx="47700" cy="47700"/>
                </a:xfrm>
                <a:prstGeom prst="ellipse">
                  <a:avLst/>
                </a:prstGeom>
                <a:solidFill>
                  <a:srgbClr val="29B6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6"/>
                <p:cNvSpPr/>
                <p:nvPr/>
              </p:nvSpPr>
              <p:spPr>
                <a:xfrm>
                  <a:off x="161925" y="95250"/>
                  <a:ext cx="47700" cy="0"/>
                </a:xfrm>
                <a:custGeom>
                  <a:rect b="b" l="l" r="r" t="t"/>
                  <a:pathLst>
                    <a:path extrusionOk="0" h="120000" w="120000">
                      <a:moveTo>
                        <a:pt x="0" y="0"/>
                      </a:moveTo>
                      <a:lnTo>
                        <a:pt x="120000" y="0"/>
                      </a:lnTo>
                    </a:path>
                  </a:pathLst>
                </a:custGeom>
                <a:solidFill>
                  <a:srgbClr val="000000">
                    <a:alpha val="0"/>
                  </a:srgbClr>
                </a:solidFill>
                <a:ln cap="flat" cmpd="sng" w="14300">
                  <a:solidFill>
                    <a:srgbClr val="29B6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sp>
          <p:nvSpPr>
            <p:cNvPr id="142" name="Google Shape;142;p16"/>
            <p:cNvSpPr/>
            <p:nvPr/>
          </p:nvSpPr>
          <p:spPr>
            <a:xfrm>
              <a:off x="7048500" y="2667000"/>
              <a:ext cx="38100" cy="762000"/>
            </a:xfrm>
            <a:prstGeom prst="rect">
              <a:avLst/>
            </a:prstGeom>
            <a:solidFill>
              <a:srgbClr val="00E6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6"/>
            <p:cNvSpPr txBox="1"/>
            <p:nvPr/>
          </p:nvSpPr>
          <p:spPr>
            <a:xfrm>
              <a:off x="7353300" y="2809875"/>
              <a:ext cx="13146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50">
                  <a:solidFill>
                    <a:srgbClr val="FFFFFF"/>
                  </a:solidFill>
                  <a:latin typeface="Roboto Mono"/>
                  <a:ea typeface="Roboto Mono"/>
                  <a:cs typeface="Roboto Mono"/>
                  <a:sym typeface="Roboto Mono"/>
                </a:rPr>
                <a:t>AGMARKNET API</a:t>
              </a:r>
              <a:endParaRPr b="1" sz="850">
                <a:solidFill>
                  <a:srgbClr val="FFFFFF"/>
                </a:solidFill>
                <a:latin typeface="Roboto Mono"/>
                <a:ea typeface="Roboto Mono"/>
                <a:cs typeface="Roboto Mono"/>
                <a:sym typeface="Roboto Mono"/>
              </a:endParaRPr>
            </a:p>
            <a:p>
              <a:pPr indent="0" lvl="0" marL="0" rtl="0" algn="l">
                <a:spcBef>
                  <a:spcPts val="150"/>
                </a:spcBef>
                <a:spcAft>
                  <a:spcPts val="0"/>
                </a:spcAft>
                <a:buNone/>
              </a:pPr>
              <a:r>
                <a:rPr b="0" lang="en" sz="750">
                  <a:solidFill>
                    <a:srgbClr val="94A3B8"/>
                  </a:solidFill>
                  <a:latin typeface="Roboto Mono Medium"/>
                  <a:ea typeface="Roboto Mono Medium"/>
                  <a:cs typeface="Roboto Mono Medium"/>
                  <a:sym typeface="Roboto Mono Medium"/>
                </a:rPr>
                <a:t>Real-Time Price Data</a:t>
              </a:r>
              <a:endParaRPr b="0" sz="750">
                <a:solidFill>
                  <a:srgbClr val="94A3B8"/>
                </a:solidFill>
                <a:latin typeface="Roboto Mono Medium"/>
                <a:ea typeface="Roboto Mono Medium"/>
                <a:cs typeface="Roboto Mono Medium"/>
                <a:sym typeface="Roboto Mono Medium"/>
              </a:endParaRPr>
            </a:p>
          </p:txBody>
        </p:sp>
        <p:sp>
          <p:nvSpPr>
            <p:cNvPr id="144" name="Google Shape;144;p16"/>
            <p:cNvSpPr/>
            <p:nvPr/>
          </p:nvSpPr>
          <p:spPr>
            <a:xfrm>
              <a:off x="4762500" y="3810000"/>
              <a:ext cx="4000500" cy="428700"/>
            </a:xfrm>
            <a:prstGeom prst="rect">
              <a:avLst/>
            </a:prstGeom>
            <a:solidFill>
              <a:srgbClr val="1A0D10"/>
            </a:solidFill>
            <a:ln cap="flat" cmpd="sng" w="9525">
              <a:solidFill>
                <a:srgbClr val="FF52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6"/>
            <p:cNvSpPr/>
            <p:nvPr/>
          </p:nvSpPr>
          <p:spPr>
            <a:xfrm>
              <a:off x="4762500" y="3810000"/>
              <a:ext cx="38100" cy="428700"/>
            </a:xfrm>
            <a:prstGeom prst="rect">
              <a:avLst/>
            </a:prstGeom>
            <a:solidFill>
              <a:srgbClr val="FF525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16"/>
            <p:cNvSpPr txBox="1"/>
            <p:nvPr/>
          </p:nvSpPr>
          <p:spPr>
            <a:xfrm>
              <a:off x="4905375" y="3857625"/>
              <a:ext cx="3714900" cy="333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850">
                  <a:solidFill>
                    <a:srgbClr val="FF5252"/>
                  </a:solidFill>
                  <a:latin typeface="Roboto Mono"/>
                  <a:ea typeface="Roboto Mono"/>
                  <a:cs typeface="Roboto Mono"/>
                  <a:sym typeface="Roboto Mono"/>
                </a:rPr>
                <a:t>FALLBACK: ESCALATION TO HUMAN EXPERTS</a:t>
              </a:r>
              <a:endParaRPr/>
            </a:p>
          </p:txBody>
        </p:sp>
      </p:grpSp>
      <p:grpSp>
        <p:nvGrpSpPr>
          <p:cNvPr id="147" name="Google Shape;147;p16"/>
          <p:cNvGrpSpPr/>
          <p:nvPr/>
        </p:nvGrpSpPr>
        <p:grpSpPr>
          <a:xfrm>
            <a:off x="381000" y="4857750"/>
            <a:ext cx="8382000" cy="238125"/>
            <a:chOff x="381000" y="4857750"/>
            <a:chExt cx="8382000" cy="238125"/>
          </a:xfrm>
        </p:grpSpPr>
        <p:cxnSp>
          <p:nvCxnSpPr>
            <p:cNvPr id="148" name="Google Shape;148;p16"/>
            <p:cNvCxnSpPr/>
            <p:nvPr/>
          </p:nvCxnSpPr>
          <p:spPr>
            <a:xfrm>
              <a:off x="381000" y="48577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sp>
          <p:nvSpPr>
            <p:cNvPr id="149" name="Google Shape;149;p16"/>
            <p:cNvSpPr txBox="1"/>
            <p:nvPr/>
          </p:nvSpPr>
          <p:spPr>
            <a:xfrm>
              <a:off x="381000" y="4905375"/>
              <a:ext cx="42864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800">
                  <a:solidFill>
                    <a:srgbClr val="2A3B47"/>
                  </a:solidFill>
                  <a:latin typeface="Roboto Mono Medium"/>
                  <a:ea typeface="Roboto Mono Medium"/>
                  <a:cs typeface="Roboto Mono Medium"/>
                  <a:sym typeface="Roboto Mono Medium"/>
                </a:rPr>
                <a:t>AUTONOMOUS MULTIMODAL ROUTING ARCHITECTURE</a:t>
              </a:r>
              <a:endParaRPr/>
            </a:p>
          </p:txBody>
        </p:sp>
        <p:sp>
          <p:nvSpPr>
            <p:cNvPr id="150" name="Google Shape;150;p16"/>
            <p:cNvSpPr txBox="1"/>
            <p:nvPr/>
          </p:nvSpPr>
          <p:spPr>
            <a:xfrm>
              <a:off x="7810500" y="4905375"/>
              <a:ext cx="952500" cy="1905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b="0" lang="en" sz="800">
                  <a:solidFill>
                    <a:srgbClr val="2A3B47"/>
                  </a:solidFill>
                  <a:latin typeface="Roboto Mono Medium"/>
                  <a:ea typeface="Roboto Mono Medium"/>
                  <a:cs typeface="Roboto Mono Medium"/>
                  <a:sym typeface="Roboto Mono Medium"/>
                </a:rPr>
                <a:t>07/2026</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7"/>
          <p:cNvSpPr/>
          <p:nvPr/>
        </p:nvSpPr>
        <p:spPr>
          <a:xfrm>
            <a:off x="0" y="0"/>
            <a:ext cx="9144000" cy="5143500"/>
          </a:xfrm>
          <a:prstGeom prst="rect">
            <a:avLst/>
          </a:prstGeom>
          <a:solidFill>
            <a:srgbClr val="0B11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56" name="Google Shape;156;p1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57" name="Google Shape;157;p17"/>
          <p:cNvSpPr/>
          <p:nvPr/>
        </p:nvSpPr>
        <p:spPr>
          <a:xfrm>
            <a:off x="333375" y="333375"/>
            <a:ext cx="142800" cy="142800"/>
          </a:xfrm>
          <a:custGeom>
            <a:rect b="b" l="l" r="r" t="t"/>
            <a:pathLst>
              <a:path extrusionOk="0" h="120000" w="120000">
                <a:moveTo>
                  <a:pt x="0" y="120000"/>
                </a:moveTo>
                <a:lnTo>
                  <a:pt x="0" y="0"/>
                </a:lnTo>
                <a:lnTo>
                  <a:pt x="120000" y="0"/>
                </a:lnTo>
              </a:path>
            </a:pathLst>
          </a:custGeom>
          <a:solidFill>
            <a:srgbClr val="000000">
              <a:alpha val="0"/>
            </a:srgbClr>
          </a:solidFill>
          <a:ln cap="flat" cmpd="sng" w="19050">
            <a:solidFill>
              <a:srgbClr val="00E67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17"/>
          <p:cNvSpPr txBox="1"/>
          <p:nvPr/>
        </p:nvSpPr>
        <p:spPr>
          <a:xfrm>
            <a:off x="381000" y="381000"/>
            <a:ext cx="8382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FFFFFF"/>
                </a:solidFill>
                <a:latin typeface="Space Grotesk"/>
                <a:ea typeface="Space Grotesk"/>
                <a:cs typeface="Space Grotesk"/>
                <a:sym typeface="Space Grotesk"/>
              </a:rPr>
              <a:t>LOCALIZED VERNACULAR INGESTION</a:t>
            </a:r>
            <a:endParaRPr/>
          </a:p>
        </p:txBody>
      </p:sp>
      <p:cxnSp>
        <p:nvCxnSpPr>
          <p:cNvPr id="159" name="Google Shape;159;p17"/>
          <p:cNvCxnSpPr/>
          <p:nvPr/>
        </p:nvCxnSpPr>
        <p:spPr>
          <a:xfrm>
            <a:off x="381000" y="8572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grpSp>
        <p:nvGrpSpPr>
          <p:cNvPr id="160" name="Google Shape;160;p17"/>
          <p:cNvGrpSpPr/>
          <p:nvPr/>
        </p:nvGrpSpPr>
        <p:grpSpPr>
          <a:xfrm>
            <a:off x="381000" y="1143000"/>
            <a:ext cx="8334525" cy="400200"/>
            <a:chOff x="0" y="0"/>
            <a:chExt cx="8334525" cy="400200"/>
          </a:xfrm>
        </p:grpSpPr>
        <p:sp>
          <p:nvSpPr>
            <p:cNvPr id="161" name="Google Shape;161;p17"/>
            <p:cNvSpPr/>
            <p:nvPr/>
          </p:nvSpPr>
          <p:spPr>
            <a:xfrm>
              <a:off x="0" y="76200"/>
              <a:ext cx="76200" cy="76200"/>
            </a:xfrm>
            <a:prstGeom prst="rect">
              <a:avLst/>
            </a:prstGeom>
            <a:solidFill>
              <a:srgbClr val="00E6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17"/>
            <p:cNvSpPr txBox="1"/>
            <p:nvPr/>
          </p:nvSpPr>
          <p:spPr>
            <a:xfrm>
              <a:off x="238125" y="0"/>
              <a:ext cx="80964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B0BEC5"/>
                  </a:solidFill>
                  <a:latin typeface="Inter"/>
                  <a:ea typeface="Inter"/>
                  <a:cs typeface="Inter"/>
                  <a:sym typeface="Inter"/>
                </a:rPr>
                <a:t>Standard multilingual models like mBERT collapse on transliterated and code-mixed Indian vernaculars due to lack of localized vocabulary.</a:t>
              </a:r>
              <a:endParaRPr/>
            </a:p>
          </p:txBody>
        </p:sp>
      </p:grpSp>
      <p:grpSp>
        <p:nvGrpSpPr>
          <p:cNvPr id="163" name="Google Shape;163;p17"/>
          <p:cNvGrpSpPr/>
          <p:nvPr/>
        </p:nvGrpSpPr>
        <p:grpSpPr>
          <a:xfrm>
            <a:off x="381000" y="1619250"/>
            <a:ext cx="8334525" cy="400200"/>
            <a:chOff x="0" y="0"/>
            <a:chExt cx="8334525" cy="400200"/>
          </a:xfrm>
        </p:grpSpPr>
        <p:sp>
          <p:nvSpPr>
            <p:cNvPr id="164" name="Google Shape;164;p17"/>
            <p:cNvSpPr/>
            <p:nvPr/>
          </p:nvSpPr>
          <p:spPr>
            <a:xfrm>
              <a:off x="0" y="76200"/>
              <a:ext cx="76200" cy="76200"/>
            </a:xfrm>
            <a:prstGeom prst="rect">
              <a:avLst/>
            </a:prstGeom>
            <a:solidFill>
              <a:srgbClr val="00E6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17"/>
            <p:cNvSpPr txBox="1"/>
            <p:nvPr/>
          </p:nvSpPr>
          <p:spPr>
            <a:xfrm>
              <a:off x="238125" y="0"/>
              <a:ext cx="80964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B0BEC5"/>
                  </a:solidFill>
                  <a:latin typeface="Inter"/>
                  <a:ea typeface="Inter"/>
                  <a:cs typeface="Inter"/>
                  <a:sym typeface="Inter"/>
                </a:rPr>
                <a:t>Localized stack integrates MuRIL, IndicBERT, and BhaavNet to accurately parse complex dialectal shifts.</a:t>
              </a:r>
              <a:endParaRPr/>
            </a:p>
          </p:txBody>
        </p:sp>
      </p:grpSp>
      <p:grpSp>
        <p:nvGrpSpPr>
          <p:cNvPr id="166" name="Google Shape;166;p17"/>
          <p:cNvGrpSpPr/>
          <p:nvPr/>
        </p:nvGrpSpPr>
        <p:grpSpPr>
          <a:xfrm>
            <a:off x="381000" y="2095500"/>
            <a:ext cx="8334525" cy="400200"/>
            <a:chOff x="0" y="0"/>
            <a:chExt cx="8334525" cy="400200"/>
          </a:xfrm>
        </p:grpSpPr>
        <p:sp>
          <p:nvSpPr>
            <p:cNvPr id="167" name="Google Shape;167;p17"/>
            <p:cNvSpPr/>
            <p:nvPr/>
          </p:nvSpPr>
          <p:spPr>
            <a:xfrm>
              <a:off x="0" y="76200"/>
              <a:ext cx="76200" cy="76200"/>
            </a:xfrm>
            <a:prstGeom prst="rect">
              <a:avLst/>
            </a:prstGeom>
            <a:solidFill>
              <a:srgbClr val="00E6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17"/>
            <p:cNvSpPr txBox="1"/>
            <p:nvPr/>
          </p:nvSpPr>
          <p:spPr>
            <a:xfrm>
              <a:off x="238125" y="0"/>
              <a:ext cx="80964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B0BEC5"/>
                  </a:solidFill>
                  <a:latin typeface="Inter"/>
                  <a:ea typeface="Inter"/>
                  <a:cs typeface="Inter"/>
                  <a:sym typeface="Inter"/>
                </a:rPr>
                <a:t>Fine-tuning is conducted on historical KCC logs and AgriGov datasets to maximize intent classification accuracy.</a:t>
              </a:r>
              <a:endParaRPr/>
            </a:p>
          </p:txBody>
        </p:sp>
      </p:grpSp>
      <p:grpSp>
        <p:nvGrpSpPr>
          <p:cNvPr id="169" name="Google Shape;169;p17"/>
          <p:cNvGrpSpPr/>
          <p:nvPr/>
        </p:nvGrpSpPr>
        <p:grpSpPr>
          <a:xfrm>
            <a:off x="381000" y="2857500"/>
            <a:ext cx="1333500" cy="285900"/>
            <a:chOff x="0" y="0"/>
            <a:chExt cx="1333500" cy="285900"/>
          </a:xfrm>
        </p:grpSpPr>
        <p:sp>
          <p:nvSpPr>
            <p:cNvPr id="170" name="Google Shape;170;p17"/>
            <p:cNvSpPr/>
            <p:nvPr/>
          </p:nvSpPr>
          <p:spPr>
            <a:xfrm>
              <a:off x="0" y="0"/>
              <a:ext cx="1333500" cy="285900"/>
            </a:xfrm>
            <a:prstGeom prst="roundRect">
              <a:avLst>
                <a:gd fmla="val 50000" name="adj"/>
              </a:avLst>
            </a:prstGeom>
            <a:solidFill>
              <a:srgbClr val="0B1114"/>
            </a:solidFill>
            <a:ln cap="flat" cmpd="sng" w="9525">
              <a:solidFill>
                <a:srgbClr val="29B6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17"/>
            <p:cNvSpPr txBox="1"/>
            <p:nvPr/>
          </p:nvSpPr>
          <p:spPr>
            <a:xfrm>
              <a:off x="95250" y="47625"/>
              <a:ext cx="1143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29B6F6"/>
                  </a:solidFill>
                  <a:latin typeface="Roboto Mono Medium"/>
                  <a:ea typeface="Roboto Mono Medium"/>
                  <a:cs typeface="Roboto Mono Medium"/>
                  <a:sym typeface="Roboto Mono Medium"/>
                </a:rPr>
                <a:t>MuRIL</a:t>
              </a:r>
              <a:endParaRPr/>
            </a:p>
          </p:txBody>
        </p:sp>
      </p:grpSp>
      <p:grpSp>
        <p:nvGrpSpPr>
          <p:cNvPr id="172" name="Google Shape;172;p17"/>
          <p:cNvGrpSpPr/>
          <p:nvPr/>
        </p:nvGrpSpPr>
        <p:grpSpPr>
          <a:xfrm>
            <a:off x="1809750" y="2857500"/>
            <a:ext cx="1333500" cy="285900"/>
            <a:chOff x="0" y="0"/>
            <a:chExt cx="1333500" cy="285900"/>
          </a:xfrm>
        </p:grpSpPr>
        <p:sp>
          <p:nvSpPr>
            <p:cNvPr id="173" name="Google Shape;173;p17"/>
            <p:cNvSpPr/>
            <p:nvPr/>
          </p:nvSpPr>
          <p:spPr>
            <a:xfrm>
              <a:off x="0" y="0"/>
              <a:ext cx="1333500" cy="285900"/>
            </a:xfrm>
            <a:prstGeom prst="roundRect">
              <a:avLst>
                <a:gd fmla="val 50000" name="adj"/>
              </a:avLst>
            </a:prstGeom>
            <a:solidFill>
              <a:srgbClr val="0B1114"/>
            </a:solidFill>
            <a:ln cap="flat" cmpd="sng" w="9525">
              <a:solidFill>
                <a:srgbClr val="29B6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17"/>
            <p:cNvSpPr txBox="1"/>
            <p:nvPr/>
          </p:nvSpPr>
          <p:spPr>
            <a:xfrm>
              <a:off x="95250" y="47625"/>
              <a:ext cx="1143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29B6F6"/>
                  </a:solidFill>
                  <a:latin typeface="Roboto Mono Medium"/>
                  <a:ea typeface="Roboto Mono Medium"/>
                  <a:cs typeface="Roboto Mono Medium"/>
                  <a:sym typeface="Roboto Mono Medium"/>
                </a:rPr>
                <a:t>IndicBERT</a:t>
              </a:r>
              <a:endParaRPr/>
            </a:p>
          </p:txBody>
        </p:sp>
      </p:grpSp>
      <p:grpSp>
        <p:nvGrpSpPr>
          <p:cNvPr id="175" name="Google Shape;175;p17"/>
          <p:cNvGrpSpPr/>
          <p:nvPr/>
        </p:nvGrpSpPr>
        <p:grpSpPr>
          <a:xfrm>
            <a:off x="3238500" y="2857500"/>
            <a:ext cx="1333500" cy="285900"/>
            <a:chOff x="0" y="0"/>
            <a:chExt cx="1333500" cy="285900"/>
          </a:xfrm>
        </p:grpSpPr>
        <p:sp>
          <p:nvSpPr>
            <p:cNvPr id="176" name="Google Shape;176;p17"/>
            <p:cNvSpPr/>
            <p:nvPr/>
          </p:nvSpPr>
          <p:spPr>
            <a:xfrm>
              <a:off x="0" y="0"/>
              <a:ext cx="1333500" cy="285900"/>
            </a:xfrm>
            <a:prstGeom prst="roundRect">
              <a:avLst>
                <a:gd fmla="val 50000" name="adj"/>
              </a:avLst>
            </a:prstGeom>
            <a:solidFill>
              <a:srgbClr val="0B1114"/>
            </a:solidFill>
            <a:ln cap="flat" cmpd="sng" w="9525">
              <a:solidFill>
                <a:srgbClr val="29B6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17"/>
            <p:cNvSpPr txBox="1"/>
            <p:nvPr/>
          </p:nvSpPr>
          <p:spPr>
            <a:xfrm>
              <a:off x="95250" y="47625"/>
              <a:ext cx="1143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29B6F6"/>
                  </a:solidFill>
                  <a:latin typeface="Roboto Mono Medium"/>
                  <a:ea typeface="Roboto Mono Medium"/>
                  <a:cs typeface="Roboto Mono Medium"/>
                  <a:sym typeface="Roboto Mono Medium"/>
                </a:rPr>
                <a:t>BhaavNet</a:t>
              </a:r>
              <a:endParaRPr/>
            </a:p>
          </p:txBody>
        </p:sp>
      </p:grpSp>
      <p:grpSp>
        <p:nvGrpSpPr>
          <p:cNvPr id="178" name="Google Shape;178;p17"/>
          <p:cNvGrpSpPr/>
          <p:nvPr/>
        </p:nvGrpSpPr>
        <p:grpSpPr>
          <a:xfrm>
            <a:off x="381000" y="4857750"/>
            <a:ext cx="8382000" cy="238125"/>
            <a:chOff x="381000" y="4857750"/>
            <a:chExt cx="8382000" cy="238125"/>
          </a:xfrm>
        </p:grpSpPr>
        <p:cxnSp>
          <p:nvCxnSpPr>
            <p:cNvPr id="179" name="Google Shape;179;p17"/>
            <p:cNvCxnSpPr/>
            <p:nvPr/>
          </p:nvCxnSpPr>
          <p:spPr>
            <a:xfrm>
              <a:off x="381000" y="48577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sp>
          <p:nvSpPr>
            <p:cNvPr id="180" name="Google Shape;180;p17"/>
            <p:cNvSpPr txBox="1"/>
            <p:nvPr/>
          </p:nvSpPr>
          <p:spPr>
            <a:xfrm>
              <a:off x="381000" y="4905375"/>
              <a:ext cx="3810000" cy="190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i="0" lang="en" sz="800" u="none" strike="noStrike">
                  <a:solidFill>
                    <a:srgbClr val="2A3B47"/>
                  </a:solidFill>
                  <a:latin typeface="Roboto Mono Medium"/>
                  <a:ea typeface="Roboto Mono Medium"/>
                  <a:cs typeface="Roboto Mono Medium"/>
                  <a:sym typeface="Roboto Mono Medium"/>
                </a:rPr>
                <a:t>AUTONOMOUS MULTIMODAL ROUTING ARCHITECTURE</a:t>
              </a:r>
              <a:endParaRPr b="0" i="0" sz="800" u="none" strike="noStrike">
                <a:solidFill>
                  <a:srgbClr val="2A3B47"/>
                </a:solidFill>
                <a:latin typeface="Roboto Mono Medium"/>
                <a:ea typeface="Roboto Mono Medium"/>
                <a:cs typeface="Roboto Mono Medium"/>
                <a:sym typeface="Roboto Mono Medium"/>
              </a:endParaRPr>
            </a:p>
          </p:txBody>
        </p:sp>
        <p:sp>
          <p:nvSpPr>
            <p:cNvPr id="181" name="Google Shape;181;p17"/>
            <p:cNvSpPr txBox="1"/>
            <p:nvPr/>
          </p:nvSpPr>
          <p:spPr>
            <a:xfrm>
              <a:off x="7810500" y="4905375"/>
              <a:ext cx="952500" cy="1905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ctr">
                <a:spcBef>
                  <a:spcPts val="0"/>
                </a:spcBef>
                <a:spcAft>
                  <a:spcPts val="0"/>
                </a:spcAft>
                <a:buNone/>
              </a:pPr>
              <a:r>
                <a:rPr b="0" i="0" lang="en" sz="800" u="none" strike="noStrike">
                  <a:solidFill>
                    <a:srgbClr val="2A3B47"/>
                  </a:solidFill>
                  <a:latin typeface="Roboto Mono Medium"/>
                  <a:ea typeface="Roboto Mono Medium"/>
                  <a:cs typeface="Roboto Mono Medium"/>
                  <a:sym typeface="Roboto Mono Medium"/>
                </a:rPr>
                <a:t>JUL 2026</a:t>
              </a:r>
              <a:endParaRPr b="0" i="0" sz="800" u="none" strike="noStrike">
                <a:solidFill>
                  <a:srgbClr val="2A3B47"/>
                </a:solidFill>
                <a:latin typeface="Roboto Mono Medium"/>
                <a:ea typeface="Roboto Mono Medium"/>
                <a:cs typeface="Roboto Mono Medium"/>
                <a:sym typeface="Roboto Mono Medium"/>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8"/>
          <p:cNvSpPr/>
          <p:nvPr/>
        </p:nvSpPr>
        <p:spPr>
          <a:xfrm>
            <a:off x="0" y="0"/>
            <a:ext cx="9144000" cy="5143500"/>
          </a:xfrm>
          <a:prstGeom prst="rect">
            <a:avLst/>
          </a:prstGeom>
          <a:solidFill>
            <a:srgbClr val="0B11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87" name="Google Shape;187;p18"/>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nvGrpSpPr>
          <p:cNvPr id="188" name="Google Shape;188;p18"/>
          <p:cNvGrpSpPr/>
          <p:nvPr/>
        </p:nvGrpSpPr>
        <p:grpSpPr>
          <a:xfrm>
            <a:off x="381000" y="381000"/>
            <a:ext cx="8382000" cy="476400"/>
            <a:chOff x="381000" y="381000"/>
            <a:chExt cx="8382000" cy="476400"/>
          </a:xfrm>
        </p:grpSpPr>
        <p:sp>
          <p:nvSpPr>
            <p:cNvPr id="189" name="Google Shape;189;p18"/>
            <p:cNvSpPr txBox="1"/>
            <p:nvPr/>
          </p:nvSpPr>
          <p:spPr>
            <a:xfrm>
              <a:off x="381000" y="381000"/>
              <a:ext cx="83820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2400" u="none" strike="noStrike">
                  <a:solidFill>
                    <a:srgbClr val="FFFFFF"/>
                  </a:solidFill>
                  <a:latin typeface="Space Grotesk"/>
                  <a:ea typeface="Space Grotesk"/>
                  <a:cs typeface="Space Grotesk"/>
                  <a:sym typeface="Space Grotesk"/>
                </a:rPr>
                <a:t>LAB-TO-FIELD COMPUTER VISION INTERVENTION</a:t>
              </a:r>
              <a:endParaRPr b="1" i="0" sz="2400" u="none" strike="noStrike">
                <a:solidFill>
                  <a:srgbClr val="FFFFFF"/>
                </a:solidFill>
                <a:latin typeface="Space Grotesk"/>
                <a:ea typeface="Space Grotesk"/>
                <a:cs typeface="Space Grotesk"/>
                <a:sym typeface="Space Grotesk"/>
              </a:endParaRPr>
            </a:p>
          </p:txBody>
        </p:sp>
        <p:cxnSp>
          <p:nvCxnSpPr>
            <p:cNvPr id="190" name="Google Shape;190;p18"/>
            <p:cNvCxnSpPr/>
            <p:nvPr/>
          </p:nvCxnSpPr>
          <p:spPr>
            <a:xfrm>
              <a:off x="381000" y="8572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grpSp>
      <p:cxnSp>
        <p:nvCxnSpPr>
          <p:cNvPr id="191" name="Google Shape;191;p18"/>
          <p:cNvCxnSpPr/>
          <p:nvPr/>
        </p:nvCxnSpPr>
        <p:spPr>
          <a:xfrm>
            <a:off x="4572000" y="1143000"/>
            <a:ext cx="0" cy="3048000"/>
          </a:xfrm>
          <a:prstGeom prst="straightConnector1">
            <a:avLst/>
          </a:prstGeom>
          <a:solidFill>
            <a:srgbClr val="FFFFFF"/>
          </a:solidFill>
          <a:ln cap="flat" cmpd="sng" w="9525">
            <a:solidFill>
              <a:srgbClr val="151E23"/>
            </a:solidFill>
            <a:prstDash val="solid"/>
            <a:round/>
            <a:headEnd len="sm" w="sm" type="none"/>
            <a:tailEnd len="sm" w="sm" type="none"/>
          </a:ln>
        </p:spPr>
      </p:cxnSp>
      <p:sp>
        <p:nvSpPr>
          <p:cNvPr id="192" name="Google Shape;192;p18"/>
          <p:cNvSpPr txBox="1"/>
          <p:nvPr/>
        </p:nvSpPr>
        <p:spPr>
          <a:xfrm>
            <a:off x="381000" y="1143000"/>
            <a:ext cx="3905400" cy="3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B0BEC5"/>
                </a:solidFill>
                <a:latin typeface="Inter"/>
                <a:ea typeface="Inter"/>
                <a:cs typeface="Inter"/>
                <a:sym typeface="Inter"/>
              </a:rPr>
              <a:t>Standard CNNs like </a:t>
            </a:r>
            <a:r>
              <a:rPr b="0" lang="en" sz="1100">
                <a:solidFill>
                  <a:srgbClr val="FFFFFF"/>
                </a:solidFill>
                <a:latin typeface="Inter SemiBold"/>
                <a:ea typeface="Inter SemiBold"/>
                <a:cs typeface="Inter SemiBold"/>
                <a:sym typeface="Inter SemiBold"/>
              </a:rPr>
              <a:t>EfficientNet-B0</a:t>
            </a:r>
            <a:r>
              <a:rPr b="0" lang="en" sz="1100">
                <a:solidFill>
                  <a:srgbClr val="B0BEC5"/>
                </a:solidFill>
                <a:latin typeface="Inter"/>
                <a:ea typeface="Inter"/>
                <a:cs typeface="Inter"/>
                <a:sym typeface="Inter"/>
              </a:rPr>
              <a:t> achieve 99% accuracy on clean, lab-generated datasets (PlantVillage), but suffer catastrophic collapse (</a:t>
            </a:r>
            <a:r>
              <a:rPr b="0" lang="en" sz="1100">
                <a:solidFill>
                  <a:srgbClr val="FF5252"/>
                </a:solidFill>
                <a:latin typeface="Inter SemiBold"/>
                <a:ea typeface="Inter SemiBold"/>
                <a:cs typeface="Inter SemiBold"/>
                <a:sym typeface="Inter SemiBold"/>
              </a:rPr>
              <a:t>73% accuracy</a:t>
            </a:r>
            <a:r>
              <a:rPr b="0" lang="en" sz="1100">
                <a:solidFill>
                  <a:srgbClr val="B0BEC5"/>
                </a:solidFill>
                <a:latin typeface="Inter"/>
                <a:ea typeface="Inter"/>
                <a:cs typeface="Inter"/>
                <a:sym typeface="Inter"/>
              </a:rPr>
              <a:t>) when deployed in real-world fields. This failure is driven by chaotic backgrounds, variable lighting, severe occlusions, and overlapping foliage.</a:t>
            </a:r>
            <a:endParaRPr b="0" sz="1100">
              <a:solidFill>
                <a:srgbClr val="B0BEC5"/>
              </a:solidFill>
              <a:latin typeface="Inter"/>
              <a:ea typeface="Inter"/>
              <a:cs typeface="Inter"/>
              <a:sym typeface="Inter"/>
            </a:endParaRPr>
          </a:p>
          <a:p>
            <a:pPr indent="0" lvl="0" marL="0" rtl="0" algn="l">
              <a:spcBef>
                <a:spcPts val="1125"/>
              </a:spcBef>
              <a:spcAft>
                <a:spcPts val="0"/>
              </a:spcAft>
              <a:buNone/>
            </a:pPr>
            <a:r>
              <a:rPr b="0" lang="en" sz="850">
                <a:solidFill>
                  <a:srgbClr val="00E676"/>
                </a:solidFill>
                <a:latin typeface="Roboto Mono Medium"/>
                <a:ea typeface="Roboto Mono Medium"/>
                <a:cs typeface="Roboto Mono Medium"/>
                <a:sym typeface="Roboto Mono Medium"/>
              </a:rPr>
              <a:t>3-STAGE ARCHITECTURAL INTERVENTION</a:t>
            </a:r>
            <a:endParaRPr b="0" sz="850">
              <a:solidFill>
                <a:srgbClr val="00E676"/>
              </a:solidFill>
              <a:latin typeface="Roboto Mono Medium"/>
              <a:ea typeface="Roboto Mono Medium"/>
              <a:cs typeface="Roboto Mono Medium"/>
              <a:sym typeface="Roboto Mono Medium"/>
            </a:endParaRPr>
          </a:p>
          <a:p>
            <a:pPr indent="-317500" lvl="0" marL="457200" rtl="0" algn="l">
              <a:spcBef>
                <a:spcPts val="750"/>
              </a:spcBef>
              <a:spcAft>
                <a:spcPts val="0"/>
              </a:spcAft>
              <a:buClr>
                <a:srgbClr val="B0BEC5"/>
              </a:buClr>
              <a:buSzPts val="1400"/>
              <a:buFont typeface="Inter"/>
              <a:buChar char="●"/>
            </a:pPr>
            <a:r>
              <a:rPr b="0" lang="en" sz="1050">
                <a:solidFill>
                  <a:srgbClr val="29B6F6"/>
                </a:solidFill>
                <a:latin typeface="Inter SemiBold"/>
                <a:ea typeface="Inter SemiBold"/>
                <a:cs typeface="Inter SemiBold"/>
                <a:sym typeface="Inter SemiBold"/>
              </a:rPr>
              <a:t>STAR-Net Segmentation:</a:t>
            </a:r>
            <a:r>
              <a:rPr lang="en" sz="1050">
                <a:solidFill>
                  <a:srgbClr val="B0BEC5"/>
                </a:solidFill>
                <a:latin typeface="Inter"/>
                <a:ea typeface="Inter"/>
                <a:cs typeface="Inter"/>
                <a:sym typeface="Inter"/>
              </a:rPr>
              <a:t> First isolates complex, irregular fungal lesion morphologies before passing to classification.</a:t>
            </a:r>
            <a:endParaRPr sz="1050">
              <a:solidFill>
                <a:srgbClr val="B0BEC5"/>
              </a:solidFill>
              <a:latin typeface="Inter"/>
              <a:ea typeface="Inter"/>
              <a:cs typeface="Inter"/>
              <a:sym typeface="Inter"/>
            </a:endParaRPr>
          </a:p>
          <a:p>
            <a:pPr indent="-317500" lvl="0" marL="457200" rtl="0" algn="l">
              <a:spcBef>
                <a:spcPts val="900"/>
              </a:spcBef>
              <a:spcAft>
                <a:spcPts val="0"/>
              </a:spcAft>
              <a:buClr>
                <a:srgbClr val="B0BEC5"/>
              </a:buClr>
              <a:buSzPts val="1400"/>
              <a:buFont typeface="Inter"/>
              <a:buChar char="●"/>
            </a:pPr>
            <a:r>
              <a:rPr b="0" lang="en" sz="1050">
                <a:solidFill>
                  <a:srgbClr val="29B6F6"/>
                </a:solidFill>
                <a:latin typeface="Inter SemiBold"/>
                <a:ea typeface="Inter SemiBold"/>
                <a:cs typeface="Inter SemiBold"/>
                <a:sym typeface="Inter SemiBold"/>
              </a:rPr>
              <a:t>Domain Adaptation:</a:t>
            </a:r>
            <a:r>
              <a:rPr lang="en" sz="1050">
                <a:solidFill>
                  <a:srgbClr val="B0BEC5"/>
                </a:solidFill>
                <a:latin typeface="Inter"/>
                <a:ea typeface="Inter"/>
                <a:cs typeface="Inter"/>
                <a:sym typeface="Inter"/>
              </a:rPr>
              <a:t> Leverages Fourier FDA and sim2real transfer techniques to bridge the synthetic-to-field visual gap.</a:t>
            </a:r>
            <a:endParaRPr sz="1050">
              <a:solidFill>
                <a:srgbClr val="B0BEC5"/>
              </a:solidFill>
              <a:latin typeface="Inter"/>
              <a:ea typeface="Inter"/>
              <a:cs typeface="Inter"/>
              <a:sym typeface="Inter"/>
            </a:endParaRPr>
          </a:p>
          <a:p>
            <a:pPr indent="-317500" lvl="0" marL="457200" rtl="0" algn="l">
              <a:spcBef>
                <a:spcPts val="900"/>
              </a:spcBef>
              <a:spcAft>
                <a:spcPts val="0"/>
              </a:spcAft>
              <a:buClr>
                <a:srgbClr val="B0BEC5"/>
              </a:buClr>
              <a:buSzPts val="1400"/>
              <a:buFont typeface="Inter"/>
              <a:buChar char="●"/>
            </a:pPr>
            <a:r>
              <a:rPr b="0" lang="en" sz="1050">
                <a:solidFill>
                  <a:srgbClr val="29B6F6"/>
                </a:solidFill>
                <a:latin typeface="Inter SemiBold"/>
                <a:ea typeface="Inter SemiBold"/>
                <a:cs typeface="Inter SemiBold"/>
                <a:sym typeface="Inter SemiBold"/>
              </a:rPr>
              <a:t>YOLOv8 Edge Models:</a:t>
            </a:r>
            <a:r>
              <a:rPr lang="en" sz="1050">
                <a:solidFill>
                  <a:srgbClr val="B0BEC5"/>
                </a:solidFill>
                <a:latin typeface="Inter"/>
                <a:ea typeface="Inter"/>
                <a:cs typeface="Inter"/>
                <a:sym typeface="Inter"/>
              </a:rPr>
              <a:t> Integrates single-stage models to provide rapid, localized bounding box generation and edge detection.</a:t>
            </a:r>
            <a:endParaRPr sz="1050">
              <a:solidFill>
                <a:srgbClr val="B0BEC5"/>
              </a:solidFill>
              <a:latin typeface="Inter"/>
              <a:ea typeface="Inter"/>
              <a:cs typeface="Inter"/>
              <a:sym typeface="Inter"/>
            </a:endParaRPr>
          </a:p>
        </p:txBody>
      </p:sp>
      <p:grpSp>
        <p:nvGrpSpPr>
          <p:cNvPr id="193" name="Google Shape;193;p18"/>
          <p:cNvGrpSpPr/>
          <p:nvPr/>
        </p:nvGrpSpPr>
        <p:grpSpPr>
          <a:xfrm>
            <a:off x="4857750" y="1143000"/>
            <a:ext cx="3905400" cy="1428900"/>
            <a:chOff x="0" y="0"/>
            <a:chExt cx="3905400" cy="1428900"/>
          </a:xfrm>
        </p:grpSpPr>
        <p:sp>
          <p:nvSpPr>
            <p:cNvPr id="194" name="Google Shape;194;p18"/>
            <p:cNvSpPr/>
            <p:nvPr/>
          </p:nvSpPr>
          <p:spPr>
            <a:xfrm>
              <a:off x="0" y="0"/>
              <a:ext cx="3905400" cy="1428900"/>
            </a:xfrm>
            <a:prstGeom prst="rect">
              <a:avLst/>
            </a:prstGeom>
            <a:solidFill>
              <a:srgbClr val="151E23"/>
            </a:solidFill>
            <a:ln cap="flat" cmpd="sng" w="9525">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5" name="Google Shape;195;p18"/>
            <p:cNvSpPr/>
            <p:nvPr/>
          </p:nvSpPr>
          <p:spPr>
            <a:xfrm>
              <a:off x="0" y="0"/>
              <a:ext cx="57300" cy="1428900"/>
            </a:xfrm>
            <a:prstGeom prst="rect">
              <a:avLst/>
            </a:prstGeom>
            <a:solidFill>
              <a:srgbClr val="00E6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18"/>
            <p:cNvSpPr txBox="1"/>
            <p:nvPr/>
          </p:nvSpPr>
          <p:spPr>
            <a:xfrm>
              <a:off x="238125" y="190500"/>
              <a:ext cx="34290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879">
                  <a:solidFill>
                    <a:srgbClr val="29B6F6"/>
                  </a:solidFill>
                  <a:latin typeface="Roboto Mono Medium"/>
                  <a:ea typeface="Roboto Mono Medium"/>
                  <a:cs typeface="Roboto Mono Medium"/>
                  <a:sym typeface="Roboto Mono Medium"/>
                </a:rPr>
                <a:t>LAB ACCURACY (PLANTVILLAGE)</a:t>
              </a:r>
              <a:endParaRPr b="0" sz="879">
                <a:solidFill>
                  <a:srgbClr val="29B6F6"/>
                </a:solidFill>
                <a:latin typeface="Roboto Mono Medium"/>
                <a:ea typeface="Roboto Mono Medium"/>
                <a:cs typeface="Roboto Mono Medium"/>
                <a:sym typeface="Roboto Mono Medium"/>
              </a:endParaRPr>
            </a:p>
            <a:p>
              <a:pPr indent="0" lvl="0" marL="0" rtl="0" algn="l">
                <a:spcBef>
                  <a:spcPts val="0"/>
                </a:spcBef>
                <a:spcAft>
                  <a:spcPts val="0"/>
                </a:spcAft>
                <a:buNone/>
              </a:pPr>
              <a:r>
                <a:rPr b="1" lang="en" sz="4995">
                  <a:solidFill>
                    <a:srgbClr val="00E676"/>
                  </a:solidFill>
                  <a:latin typeface="Space Grotesk"/>
                  <a:ea typeface="Space Grotesk"/>
                  <a:cs typeface="Space Grotesk"/>
                  <a:sym typeface="Space Grotesk"/>
                </a:rPr>
                <a:t>99%</a:t>
              </a:r>
              <a:endParaRPr b="1" sz="4995">
                <a:solidFill>
                  <a:srgbClr val="00E676"/>
                </a:solidFill>
                <a:latin typeface="Space Grotesk"/>
                <a:ea typeface="Space Grotesk"/>
                <a:cs typeface="Space Grotesk"/>
                <a:sym typeface="Space Grotesk"/>
              </a:endParaRPr>
            </a:p>
            <a:p>
              <a:pPr indent="0" lvl="0" marL="0" rtl="0" algn="l">
                <a:spcBef>
                  <a:spcPts val="0"/>
                </a:spcBef>
                <a:spcAft>
                  <a:spcPts val="0"/>
                </a:spcAft>
                <a:buNone/>
              </a:pPr>
              <a:r>
                <a:rPr b="0" lang="en" sz="971">
                  <a:solidFill>
                    <a:srgbClr val="B0BEC5"/>
                  </a:solidFill>
                  <a:latin typeface="Inter"/>
                  <a:ea typeface="Inter"/>
                  <a:cs typeface="Inter"/>
                  <a:sym typeface="Inter"/>
                </a:rPr>
                <a:t>Optimal environment, uniform illumination &amp; clear crops</a:t>
              </a:r>
              <a:endParaRPr b="0" sz="971">
                <a:solidFill>
                  <a:srgbClr val="B0BEC5"/>
                </a:solidFill>
                <a:latin typeface="Inter"/>
                <a:ea typeface="Inter"/>
                <a:cs typeface="Inter"/>
                <a:sym typeface="Inter"/>
              </a:endParaRPr>
            </a:p>
          </p:txBody>
        </p:sp>
      </p:grpSp>
      <p:grpSp>
        <p:nvGrpSpPr>
          <p:cNvPr id="197" name="Google Shape;197;p18"/>
          <p:cNvGrpSpPr/>
          <p:nvPr/>
        </p:nvGrpSpPr>
        <p:grpSpPr>
          <a:xfrm>
            <a:off x="4857750" y="2762250"/>
            <a:ext cx="3905400" cy="1428900"/>
            <a:chOff x="0" y="0"/>
            <a:chExt cx="3905400" cy="1428900"/>
          </a:xfrm>
        </p:grpSpPr>
        <p:sp>
          <p:nvSpPr>
            <p:cNvPr id="198" name="Google Shape;198;p18"/>
            <p:cNvSpPr/>
            <p:nvPr/>
          </p:nvSpPr>
          <p:spPr>
            <a:xfrm>
              <a:off x="0" y="0"/>
              <a:ext cx="3905400" cy="1428900"/>
            </a:xfrm>
            <a:prstGeom prst="rect">
              <a:avLst/>
            </a:prstGeom>
            <a:solidFill>
              <a:srgbClr val="151E23"/>
            </a:solidFill>
            <a:ln cap="flat" cmpd="sng" w="9525">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18"/>
            <p:cNvSpPr/>
            <p:nvPr/>
          </p:nvSpPr>
          <p:spPr>
            <a:xfrm>
              <a:off x="0" y="0"/>
              <a:ext cx="57300" cy="1428900"/>
            </a:xfrm>
            <a:prstGeom prst="rect">
              <a:avLst/>
            </a:prstGeom>
            <a:solidFill>
              <a:srgbClr val="FF525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18"/>
            <p:cNvSpPr txBox="1"/>
            <p:nvPr/>
          </p:nvSpPr>
          <p:spPr>
            <a:xfrm>
              <a:off x="238125" y="190500"/>
              <a:ext cx="34290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879">
                  <a:solidFill>
                    <a:srgbClr val="FF5252"/>
                  </a:solidFill>
                  <a:latin typeface="Roboto Mono Medium"/>
                  <a:ea typeface="Roboto Mono Medium"/>
                  <a:cs typeface="Roboto Mono Medium"/>
                  <a:sym typeface="Roboto Mono Medium"/>
                </a:rPr>
                <a:t>UNADAPTED FIELD ACCURACY</a:t>
              </a:r>
              <a:endParaRPr b="0" sz="879">
                <a:solidFill>
                  <a:srgbClr val="FF5252"/>
                </a:solidFill>
                <a:latin typeface="Roboto Mono Medium"/>
                <a:ea typeface="Roboto Mono Medium"/>
                <a:cs typeface="Roboto Mono Medium"/>
                <a:sym typeface="Roboto Mono Medium"/>
              </a:endParaRPr>
            </a:p>
            <a:p>
              <a:pPr indent="0" lvl="0" marL="0" rtl="0" algn="l">
                <a:spcBef>
                  <a:spcPts val="0"/>
                </a:spcBef>
                <a:spcAft>
                  <a:spcPts val="0"/>
                </a:spcAft>
                <a:buNone/>
              </a:pPr>
              <a:r>
                <a:rPr b="1" lang="en" sz="4995">
                  <a:solidFill>
                    <a:srgbClr val="FF5252"/>
                  </a:solidFill>
                  <a:latin typeface="Space Grotesk"/>
                  <a:ea typeface="Space Grotesk"/>
                  <a:cs typeface="Space Grotesk"/>
                  <a:sym typeface="Space Grotesk"/>
                </a:rPr>
                <a:t>73%</a:t>
              </a:r>
              <a:endParaRPr b="1" sz="4995">
                <a:solidFill>
                  <a:srgbClr val="FF5252"/>
                </a:solidFill>
                <a:latin typeface="Space Grotesk"/>
                <a:ea typeface="Space Grotesk"/>
                <a:cs typeface="Space Grotesk"/>
                <a:sym typeface="Space Grotesk"/>
              </a:endParaRPr>
            </a:p>
            <a:p>
              <a:pPr indent="0" lvl="0" marL="0" rtl="0" algn="l">
                <a:spcBef>
                  <a:spcPts val="0"/>
                </a:spcBef>
                <a:spcAft>
                  <a:spcPts val="0"/>
                </a:spcAft>
                <a:buNone/>
              </a:pPr>
              <a:r>
                <a:rPr b="0" lang="en" sz="971">
                  <a:solidFill>
                    <a:srgbClr val="FF5252"/>
                  </a:solidFill>
                  <a:latin typeface="Inter SemiBold"/>
                  <a:ea typeface="Inter SemiBold"/>
                  <a:cs typeface="Inter SemiBold"/>
                  <a:sym typeface="Inter SemiBold"/>
                </a:rPr>
                <a:t>Catastrophic gap driven by real-world field complexity</a:t>
              </a:r>
              <a:endParaRPr b="0" sz="971">
                <a:solidFill>
                  <a:srgbClr val="FF5252"/>
                </a:solidFill>
                <a:latin typeface="Inter SemiBold"/>
                <a:ea typeface="Inter SemiBold"/>
                <a:cs typeface="Inter SemiBold"/>
                <a:sym typeface="Inter SemiBold"/>
              </a:endParaRPr>
            </a:p>
          </p:txBody>
        </p:sp>
      </p:grpSp>
      <p:grpSp>
        <p:nvGrpSpPr>
          <p:cNvPr id="201" name="Google Shape;201;p18"/>
          <p:cNvGrpSpPr/>
          <p:nvPr/>
        </p:nvGrpSpPr>
        <p:grpSpPr>
          <a:xfrm>
            <a:off x="381000" y="4857750"/>
            <a:ext cx="8382000" cy="238125"/>
            <a:chOff x="381000" y="4857750"/>
            <a:chExt cx="8382000" cy="238125"/>
          </a:xfrm>
        </p:grpSpPr>
        <p:cxnSp>
          <p:nvCxnSpPr>
            <p:cNvPr id="202" name="Google Shape;202;p18"/>
            <p:cNvCxnSpPr/>
            <p:nvPr/>
          </p:nvCxnSpPr>
          <p:spPr>
            <a:xfrm>
              <a:off x="381000" y="48577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sp>
          <p:nvSpPr>
            <p:cNvPr id="203" name="Google Shape;203;p18"/>
            <p:cNvSpPr txBox="1"/>
            <p:nvPr/>
          </p:nvSpPr>
          <p:spPr>
            <a:xfrm>
              <a:off x="381000" y="4905375"/>
              <a:ext cx="4286400" cy="190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i="0" lang="en" sz="800" u="none" strike="noStrike">
                  <a:solidFill>
                    <a:srgbClr val="2A3B47"/>
                  </a:solidFill>
                  <a:latin typeface="Roboto Mono Medium"/>
                  <a:ea typeface="Roboto Mono Medium"/>
                  <a:cs typeface="Roboto Mono Medium"/>
                  <a:sym typeface="Roboto Mono Medium"/>
                </a:rPr>
                <a:t>COMPUTER VISION FIELD INTERVENTION PLATFORM</a:t>
              </a:r>
              <a:endParaRPr b="0" i="0" sz="800" u="none" strike="noStrike">
                <a:solidFill>
                  <a:srgbClr val="2A3B47"/>
                </a:solidFill>
                <a:latin typeface="Roboto Mono Medium"/>
                <a:ea typeface="Roboto Mono Medium"/>
                <a:cs typeface="Roboto Mono Medium"/>
                <a:sym typeface="Roboto Mono Medium"/>
              </a:endParaRPr>
            </a:p>
          </p:txBody>
        </p:sp>
        <p:sp>
          <p:nvSpPr>
            <p:cNvPr id="204" name="Google Shape;204;p18"/>
            <p:cNvSpPr txBox="1"/>
            <p:nvPr/>
          </p:nvSpPr>
          <p:spPr>
            <a:xfrm>
              <a:off x="7810500" y="4905375"/>
              <a:ext cx="952500" cy="1905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ctr">
                <a:spcBef>
                  <a:spcPts val="0"/>
                </a:spcBef>
                <a:spcAft>
                  <a:spcPts val="0"/>
                </a:spcAft>
                <a:buNone/>
              </a:pPr>
              <a:r>
                <a:rPr b="0" i="0" lang="en" sz="800" u="none" strike="noStrike">
                  <a:solidFill>
                    <a:srgbClr val="2A3B47"/>
                  </a:solidFill>
                  <a:latin typeface="Roboto Mono Medium"/>
                  <a:ea typeface="Roboto Mono Medium"/>
                  <a:cs typeface="Roboto Mono Medium"/>
                  <a:sym typeface="Roboto Mono Medium"/>
                </a:rPr>
                <a:t>2026-07-01</a:t>
              </a:r>
              <a:endParaRPr b="0" i="0" sz="800" u="none" strike="noStrike">
                <a:solidFill>
                  <a:srgbClr val="2A3B47"/>
                </a:solidFill>
                <a:latin typeface="Roboto Mono Medium"/>
                <a:ea typeface="Roboto Mono Medium"/>
                <a:cs typeface="Roboto Mono Medium"/>
                <a:sym typeface="Roboto Mono Medium"/>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9"/>
          <p:cNvSpPr/>
          <p:nvPr/>
        </p:nvSpPr>
        <p:spPr>
          <a:xfrm>
            <a:off x="0" y="0"/>
            <a:ext cx="9144000" cy="5143500"/>
          </a:xfrm>
          <a:prstGeom prst="rect">
            <a:avLst/>
          </a:prstGeom>
          <a:solidFill>
            <a:srgbClr val="0B11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10" name="Google Shape;210;p19"/>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nvGrpSpPr>
          <p:cNvPr id="211" name="Google Shape;211;p19"/>
          <p:cNvGrpSpPr/>
          <p:nvPr/>
        </p:nvGrpSpPr>
        <p:grpSpPr>
          <a:xfrm>
            <a:off x="381000" y="209550"/>
            <a:ext cx="8382000" cy="647850"/>
            <a:chOff x="381000" y="209550"/>
            <a:chExt cx="8382000" cy="647850"/>
          </a:xfrm>
        </p:grpSpPr>
        <p:sp>
          <p:nvSpPr>
            <p:cNvPr id="212" name="Google Shape;212;p19"/>
            <p:cNvSpPr txBox="1"/>
            <p:nvPr/>
          </p:nvSpPr>
          <p:spPr>
            <a:xfrm>
              <a:off x="381000" y="209550"/>
              <a:ext cx="83820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800">
                  <a:solidFill>
                    <a:srgbClr val="00E676"/>
                  </a:solidFill>
                  <a:latin typeface="Roboto Mono Medium"/>
                  <a:ea typeface="Roboto Mono Medium"/>
                  <a:cs typeface="Roboto Mono Medium"/>
                  <a:sym typeface="Roboto Mono Medium"/>
                </a:rPr>
                <a:t>VISION-LANGUAGE MODELS</a:t>
              </a:r>
              <a:endParaRPr/>
            </a:p>
          </p:txBody>
        </p:sp>
        <p:sp>
          <p:nvSpPr>
            <p:cNvPr id="213" name="Google Shape;213;p19"/>
            <p:cNvSpPr txBox="1"/>
            <p:nvPr/>
          </p:nvSpPr>
          <p:spPr>
            <a:xfrm>
              <a:off x="381000" y="381000"/>
              <a:ext cx="8382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FFFFFF"/>
                  </a:solidFill>
                  <a:latin typeface="Space Grotesk"/>
                  <a:ea typeface="Space Grotesk"/>
                  <a:cs typeface="Space Grotesk"/>
                  <a:sym typeface="Space Grotesk"/>
                </a:rPr>
                <a:t>SCOLD FRAMEWORK INTEGRATION</a:t>
              </a:r>
              <a:endParaRPr/>
            </a:p>
          </p:txBody>
        </p:sp>
        <p:cxnSp>
          <p:nvCxnSpPr>
            <p:cNvPr id="214" name="Google Shape;214;p19"/>
            <p:cNvCxnSpPr/>
            <p:nvPr/>
          </p:nvCxnSpPr>
          <p:spPr>
            <a:xfrm>
              <a:off x="381000" y="8572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grpSp>
      <p:sp>
        <p:nvSpPr>
          <p:cNvPr id="215" name="Google Shape;215;p19"/>
          <p:cNvSpPr txBox="1"/>
          <p:nvPr/>
        </p:nvSpPr>
        <p:spPr>
          <a:xfrm>
            <a:off x="381000" y="1143000"/>
            <a:ext cx="83820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0">
                <a:solidFill>
                  <a:srgbClr val="B0BEC5"/>
                </a:solidFill>
                <a:latin typeface="Inter"/>
                <a:ea typeface="Inter"/>
                <a:cs typeface="Inter"/>
                <a:sym typeface="Inter"/>
              </a:rPr>
              <a:t>To further enhance the system's analytical capabilities, the architecture integrates advanced Vision-Language Foundation Models, specifically highlighting the </a:t>
            </a:r>
            <a:r>
              <a:rPr b="0" lang="en" sz="1200">
                <a:solidFill>
                  <a:srgbClr val="00E676"/>
                </a:solidFill>
                <a:latin typeface="Inter SemiBold"/>
                <a:ea typeface="Inter SemiBold"/>
                <a:cs typeface="Inter SemiBold"/>
                <a:sym typeface="Inter SemiBold"/>
              </a:rPr>
              <a:t>SCOLD</a:t>
            </a:r>
            <a:r>
              <a:rPr b="0" lang="en" sz="1200">
                <a:solidFill>
                  <a:srgbClr val="B0BEC5"/>
                </a:solidFill>
                <a:latin typeface="Inter"/>
                <a:ea typeface="Inter"/>
                <a:cs typeface="Inter"/>
                <a:sym typeface="Inter"/>
              </a:rPr>
              <a:t> (Soft Context-Aware Object and Language Distillation) framework. This dual-stream architecture combines </a:t>
            </a:r>
            <a:r>
              <a:rPr b="0" lang="en" sz="1200">
                <a:solidFill>
                  <a:srgbClr val="29B6F6"/>
                </a:solidFill>
                <a:latin typeface="Inter"/>
                <a:ea typeface="Inter"/>
                <a:cs typeface="Inter"/>
                <a:sym typeface="Inter"/>
              </a:rPr>
              <a:t>Swin-T</a:t>
            </a:r>
            <a:r>
              <a:rPr b="0" lang="en" sz="1200">
                <a:solidFill>
                  <a:srgbClr val="B0BEC5"/>
                </a:solidFill>
                <a:latin typeface="Inter"/>
                <a:ea typeface="Inter"/>
                <a:cs typeface="Inter"/>
                <a:sym typeface="Inter"/>
              </a:rPr>
              <a:t> and </a:t>
            </a:r>
            <a:r>
              <a:rPr b="0" lang="en" sz="1200">
                <a:solidFill>
                  <a:srgbClr val="29B6F6"/>
                </a:solidFill>
                <a:latin typeface="Inter"/>
                <a:ea typeface="Inter"/>
                <a:cs typeface="Inter"/>
                <a:sym typeface="Inter"/>
              </a:rPr>
              <a:t>RoBERTa</a:t>
            </a:r>
            <a:r>
              <a:rPr b="0" lang="en" sz="1200">
                <a:solidFill>
                  <a:srgbClr val="B0BEC5"/>
                </a:solidFill>
                <a:latin typeface="Inter"/>
                <a:ea typeface="Inter"/>
                <a:cs typeface="Inter"/>
                <a:sym typeface="Inter"/>
              </a:rPr>
              <a:t> alongside </a:t>
            </a:r>
            <a:r>
              <a:rPr b="0" lang="en" sz="1200">
                <a:solidFill>
                  <a:srgbClr val="29B6F6"/>
                </a:solidFill>
                <a:latin typeface="Inter"/>
                <a:ea typeface="Inter"/>
                <a:cs typeface="Inter"/>
                <a:sym typeface="Inter"/>
              </a:rPr>
              <a:t>Context-Aware Soft Targets (CST)</a:t>
            </a:r>
            <a:r>
              <a:rPr b="0" lang="en" sz="1200">
                <a:solidFill>
                  <a:srgbClr val="B0BEC5"/>
                </a:solidFill>
                <a:latin typeface="Inter"/>
                <a:ea typeface="Inter"/>
                <a:cs typeface="Inter"/>
                <a:sym typeface="Inter"/>
              </a:rPr>
              <a:t> to fundamentally transform opaque black-box image classification into accurate, explainable image-text retrieval.</a:t>
            </a:r>
            <a:endParaRPr b="0" sz="1200">
              <a:solidFill>
                <a:srgbClr val="B0BEC5"/>
              </a:solidFill>
              <a:latin typeface="Inter"/>
              <a:ea typeface="Inter"/>
              <a:cs typeface="Inter"/>
              <a:sym typeface="Inter"/>
            </a:endParaRPr>
          </a:p>
          <a:p>
            <a:pPr indent="0" lvl="0" marL="0" rtl="0" algn="l">
              <a:spcBef>
                <a:spcPts val="1125"/>
              </a:spcBef>
              <a:spcAft>
                <a:spcPts val="0"/>
              </a:spcAft>
              <a:buNone/>
            </a:pPr>
            <a:r>
              <a:rPr b="0" lang="en" sz="1200">
                <a:solidFill>
                  <a:srgbClr val="B0BEC5"/>
                </a:solidFill>
                <a:latin typeface="Inter"/>
                <a:ea typeface="Inter"/>
                <a:cs typeface="Inter"/>
                <a:sym typeface="Inter"/>
              </a:rPr>
              <a:t>By aligning visual features directly with rich textual descriptions, the model's output becomes highly explainable. Instead of merely outputting a generic class label, the system generates structured, descriptive text detailing exact visual symptoms. This structured output serves as high-fidelity grounding context for downstream LLMs, ensuring agronomic advice is tied directly to observable evidence, dramatically reducing misdiagnosis risks.</a:t>
            </a:r>
            <a:endParaRPr b="0" sz="1200">
              <a:solidFill>
                <a:srgbClr val="B0BEC5"/>
              </a:solidFill>
              <a:latin typeface="Inter"/>
              <a:ea typeface="Inter"/>
              <a:cs typeface="Inter"/>
              <a:sym typeface="Inter"/>
            </a:endParaRPr>
          </a:p>
        </p:txBody>
      </p:sp>
      <p:sp>
        <p:nvSpPr>
          <p:cNvPr id="216" name="Google Shape;216;p19"/>
          <p:cNvSpPr txBox="1"/>
          <p:nvPr/>
        </p:nvSpPr>
        <p:spPr>
          <a:xfrm>
            <a:off x="381000" y="3190875"/>
            <a:ext cx="83820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800">
                <a:solidFill>
                  <a:srgbClr val="2A3B47"/>
                </a:solidFill>
                <a:latin typeface="Roboto Mono Medium"/>
                <a:ea typeface="Roboto Mono Medium"/>
                <a:cs typeface="Roboto Mono Medium"/>
                <a:sym typeface="Roboto Mono Medium"/>
              </a:rPr>
              <a:t>STACK COMPONENTS</a:t>
            </a:r>
            <a:endParaRPr/>
          </a:p>
        </p:txBody>
      </p:sp>
      <p:grpSp>
        <p:nvGrpSpPr>
          <p:cNvPr id="217" name="Google Shape;217;p19"/>
          <p:cNvGrpSpPr/>
          <p:nvPr/>
        </p:nvGrpSpPr>
        <p:grpSpPr>
          <a:xfrm>
            <a:off x="381000" y="3429000"/>
            <a:ext cx="1333500" cy="285900"/>
            <a:chOff x="0" y="0"/>
            <a:chExt cx="1333500" cy="285900"/>
          </a:xfrm>
        </p:grpSpPr>
        <p:sp>
          <p:nvSpPr>
            <p:cNvPr id="218" name="Google Shape;218;p19"/>
            <p:cNvSpPr/>
            <p:nvPr/>
          </p:nvSpPr>
          <p:spPr>
            <a:xfrm>
              <a:off x="0" y="0"/>
              <a:ext cx="1333500" cy="285900"/>
            </a:xfrm>
            <a:prstGeom prst="roundRect">
              <a:avLst>
                <a:gd fmla="val 50000" name="adj"/>
              </a:avLst>
            </a:prstGeom>
            <a:solidFill>
              <a:srgbClr val="151E23"/>
            </a:solidFill>
            <a:ln cap="flat" cmpd="sng" w="14300">
              <a:solidFill>
                <a:srgbClr val="00E67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 name="Google Shape;219;p19"/>
            <p:cNvSpPr txBox="1"/>
            <p:nvPr/>
          </p:nvSpPr>
          <p:spPr>
            <a:xfrm>
              <a:off x="95250" y="47625"/>
              <a:ext cx="1143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00E676"/>
                  </a:solidFill>
                  <a:latin typeface="Roboto Mono"/>
                  <a:ea typeface="Roboto Mono"/>
                  <a:cs typeface="Roboto Mono"/>
                  <a:sym typeface="Roboto Mono"/>
                </a:rPr>
                <a:t>SCOLD</a:t>
              </a:r>
              <a:endParaRPr/>
            </a:p>
          </p:txBody>
        </p:sp>
      </p:grpSp>
      <p:grpSp>
        <p:nvGrpSpPr>
          <p:cNvPr id="220" name="Google Shape;220;p19"/>
          <p:cNvGrpSpPr/>
          <p:nvPr/>
        </p:nvGrpSpPr>
        <p:grpSpPr>
          <a:xfrm>
            <a:off x="1809750" y="3429000"/>
            <a:ext cx="1333500" cy="285900"/>
            <a:chOff x="0" y="0"/>
            <a:chExt cx="1333500" cy="285900"/>
          </a:xfrm>
        </p:grpSpPr>
        <p:sp>
          <p:nvSpPr>
            <p:cNvPr id="221" name="Google Shape;221;p19"/>
            <p:cNvSpPr/>
            <p:nvPr/>
          </p:nvSpPr>
          <p:spPr>
            <a:xfrm>
              <a:off x="0" y="0"/>
              <a:ext cx="1333500" cy="285900"/>
            </a:xfrm>
            <a:prstGeom prst="roundRect">
              <a:avLst>
                <a:gd fmla="val 50000" name="adj"/>
              </a:avLst>
            </a:prstGeom>
            <a:solidFill>
              <a:srgbClr val="151E23"/>
            </a:solidFill>
            <a:ln cap="flat" cmpd="sng" w="9525">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19"/>
            <p:cNvSpPr txBox="1"/>
            <p:nvPr/>
          </p:nvSpPr>
          <p:spPr>
            <a:xfrm>
              <a:off x="95250" y="47625"/>
              <a:ext cx="1143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00">
                  <a:solidFill>
                    <a:srgbClr val="B0BEC5"/>
                  </a:solidFill>
                  <a:latin typeface="Roboto Mono Medium"/>
                  <a:ea typeface="Roboto Mono Medium"/>
                  <a:cs typeface="Roboto Mono Medium"/>
                  <a:sym typeface="Roboto Mono Medium"/>
                </a:rPr>
                <a:t>Swin-T</a:t>
              </a:r>
              <a:endParaRPr/>
            </a:p>
          </p:txBody>
        </p:sp>
      </p:grpSp>
      <p:grpSp>
        <p:nvGrpSpPr>
          <p:cNvPr id="223" name="Google Shape;223;p19"/>
          <p:cNvGrpSpPr/>
          <p:nvPr/>
        </p:nvGrpSpPr>
        <p:grpSpPr>
          <a:xfrm>
            <a:off x="3238500" y="3429000"/>
            <a:ext cx="1333500" cy="285900"/>
            <a:chOff x="0" y="0"/>
            <a:chExt cx="1333500" cy="285900"/>
          </a:xfrm>
        </p:grpSpPr>
        <p:sp>
          <p:nvSpPr>
            <p:cNvPr id="224" name="Google Shape;224;p19"/>
            <p:cNvSpPr/>
            <p:nvPr/>
          </p:nvSpPr>
          <p:spPr>
            <a:xfrm>
              <a:off x="0" y="0"/>
              <a:ext cx="1333500" cy="285900"/>
            </a:xfrm>
            <a:prstGeom prst="roundRect">
              <a:avLst>
                <a:gd fmla="val 50000" name="adj"/>
              </a:avLst>
            </a:prstGeom>
            <a:solidFill>
              <a:srgbClr val="151E23"/>
            </a:solidFill>
            <a:ln cap="flat" cmpd="sng" w="9525">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19"/>
            <p:cNvSpPr txBox="1"/>
            <p:nvPr/>
          </p:nvSpPr>
          <p:spPr>
            <a:xfrm>
              <a:off x="95250" y="47625"/>
              <a:ext cx="1143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00">
                  <a:solidFill>
                    <a:srgbClr val="B0BEC5"/>
                  </a:solidFill>
                  <a:latin typeface="Roboto Mono Medium"/>
                  <a:ea typeface="Roboto Mono Medium"/>
                  <a:cs typeface="Roboto Mono Medium"/>
                  <a:sym typeface="Roboto Mono Medium"/>
                </a:rPr>
                <a:t>RoBERTa</a:t>
              </a:r>
              <a:endParaRPr/>
            </a:p>
          </p:txBody>
        </p:sp>
      </p:grpSp>
      <p:grpSp>
        <p:nvGrpSpPr>
          <p:cNvPr id="226" name="Google Shape;226;p19"/>
          <p:cNvGrpSpPr/>
          <p:nvPr/>
        </p:nvGrpSpPr>
        <p:grpSpPr>
          <a:xfrm>
            <a:off x="4667250" y="3429000"/>
            <a:ext cx="1333500" cy="285900"/>
            <a:chOff x="0" y="0"/>
            <a:chExt cx="1333500" cy="285900"/>
          </a:xfrm>
        </p:grpSpPr>
        <p:sp>
          <p:nvSpPr>
            <p:cNvPr id="227" name="Google Shape;227;p19"/>
            <p:cNvSpPr/>
            <p:nvPr/>
          </p:nvSpPr>
          <p:spPr>
            <a:xfrm>
              <a:off x="0" y="0"/>
              <a:ext cx="1333500" cy="285900"/>
            </a:xfrm>
            <a:prstGeom prst="roundRect">
              <a:avLst>
                <a:gd fmla="val 50000" name="adj"/>
              </a:avLst>
            </a:prstGeom>
            <a:solidFill>
              <a:srgbClr val="151E23"/>
            </a:solidFill>
            <a:ln cap="flat" cmpd="sng" w="9525">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19"/>
            <p:cNvSpPr txBox="1"/>
            <p:nvPr/>
          </p:nvSpPr>
          <p:spPr>
            <a:xfrm>
              <a:off x="95250" y="47625"/>
              <a:ext cx="1143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900">
                  <a:solidFill>
                    <a:srgbClr val="B0BEC5"/>
                  </a:solidFill>
                  <a:latin typeface="Roboto Mono Medium"/>
                  <a:ea typeface="Roboto Mono Medium"/>
                  <a:cs typeface="Roboto Mono Medium"/>
                  <a:sym typeface="Roboto Mono Medium"/>
                </a:rPr>
                <a:t>CST</a:t>
              </a:r>
              <a:endParaRPr/>
            </a:p>
          </p:txBody>
        </p:sp>
      </p:grpSp>
      <p:grpSp>
        <p:nvGrpSpPr>
          <p:cNvPr id="229" name="Google Shape;229;p19"/>
          <p:cNvGrpSpPr/>
          <p:nvPr/>
        </p:nvGrpSpPr>
        <p:grpSpPr>
          <a:xfrm>
            <a:off x="6191250" y="3190875"/>
            <a:ext cx="762000" cy="247800"/>
            <a:chOff x="0" y="0"/>
            <a:chExt cx="762000" cy="247800"/>
          </a:xfrm>
        </p:grpSpPr>
        <p:sp>
          <p:nvSpPr>
            <p:cNvPr id="230" name="Google Shape;230;p19"/>
            <p:cNvSpPr/>
            <p:nvPr/>
          </p:nvSpPr>
          <p:spPr>
            <a:xfrm>
              <a:off x="0" y="0"/>
              <a:ext cx="762000" cy="247800"/>
            </a:xfrm>
            <a:prstGeom prst="roundRect">
              <a:avLst>
                <a:gd fmla="val 15384" name="adj"/>
              </a:avLst>
            </a:prstGeom>
            <a:solidFill>
              <a:srgbClr val="151E23"/>
            </a:solidFill>
            <a:ln cap="flat" cmpd="sng" w="9525">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19"/>
            <p:cNvSpPr txBox="1"/>
            <p:nvPr/>
          </p:nvSpPr>
          <p:spPr>
            <a:xfrm>
              <a:off x="47625" y="28575"/>
              <a:ext cx="6669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750">
                  <a:solidFill>
                    <a:srgbClr val="29B6F6"/>
                  </a:solidFill>
                  <a:latin typeface="Roboto Mono Medium"/>
                  <a:ea typeface="Roboto Mono Medium"/>
                  <a:cs typeface="Roboto Mono Medium"/>
                  <a:sym typeface="Roboto Mono Medium"/>
                </a:rPr>
                <a:t>Swin-T</a:t>
              </a:r>
              <a:endParaRPr/>
            </a:p>
          </p:txBody>
        </p:sp>
      </p:grpSp>
      <p:grpSp>
        <p:nvGrpSpPr>
          <p:cNvPr id="232" name="Google Shape;232;p19"/>
          <p:cNvGrpSpPr/>
          <p:nvPr/>
        </p:nvGrpSpPr>
        <p:grpSpPr>
          <a:xfrm>
            <a:off x="6191250" y="3762375"/>
            <a:ext cx="762000" cy="247800"/>
            <a:chOff x="0" y="0"/>
            <a:chExt cx="762000" cy="247800"/>
          </a:xfrm>
        </p:grpSpPr>
        <p:sp>
          <p:nvSpPr>
            <p:cNvPr id="233" name="Google Shape;233;p19"/>
            <p:cNvSpPr/>
            <p:nvPr/>
          </p:nvSpPr>
          <p:spPr>
            <a:xfrm>
              <a:off x="0" y="0"/>
              <a:ext cx="762000" cy="247800"/>
            </a:xfrm>
            <a:prstGeom prst="roundRect">
              <a:avLst>
                <a:gd fmla="val 15384" name="adj"/>
              </a:avLst>
            </a:prstGeom>
            <a:solidFill>
              <a:srgbClr val="151E23"/>
            </a:solidFill>
            <a:ln cap="flat" cmpd="sng" w="9525">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4" name="Google Shape;234;p19"/>
            <p:cNvSpPr txBox="1"/>
            <p:nvPr/>
          </p:nvSpPr>
          <p:spPr>
            <a:xfrm>
              <a:off x="47625" y="28575"/>
              <a:ext cx="6669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750">
                  <a:solidFill>
                    <a:srgbClr val="29B6F6"/>
                  </a:solidFill>
                  <a:latin typeface="Roboto Mono Medium"/>
                  <a:ea typeface="Roboto Mono Medium"/>
                  <a:cs typeface="Roboto Mono Medium"/>
                  <a:sym typeface="Roboto Mono Medium"/>
                </a:rPr>
                <a:t>RoBERTa</a:t>
              </a:r>
              <a:endParaRPr/>
            </a:p>
          </p:txBody>
        </p:sp>
      </p:grpSp>
      <p:sp>
        <p:nvSpPr>
          <p:cNvPr id="235" name="Google Shape;235;p19"/>
          <p:cNvSpPr/>
          <p:nvPr/>
        </p:nvSpPr>
        <p:spPr>
          <a:xfrm>
            <a:off x="6953250" y="3314700"/>
            <a:ext cx="428700" cy="285900"/>
          </a:xfrm>
          <a:custGeom>
            <a:rect b="b" l="l" r="r" t="t"/>
            <a:pathLst>
              <a:path extrusionOk="0" h="120000" w="120000">
                <a:moveTo>
                  <a:pt x="0" y="0"/>
                </a:moveTo>
                <a:lnTo>
                  <a:pt x="66667" y="0"/>
                </a:lnTo>
                <a:lnTo>
                  <a:pt x="66667" y="120000"/>
                </a:lnTo>
                <a:lnTo>
                  <a:pt x="120000" y="120000"/>
                </a:lnTo>
              </a:path>
            </a:pathLst>
          </a:custGeom>
          <a:solidFill>
            <a:srgbClr val="000000">
              <a:alpha val="0"/>
            </a:srgbClr>
          </a:solidFill>
          <a:ln cap="flat" cmpd="sng" w="9525">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19"/>
          <p:cNvSpPr/>
          <p:nvPr/>
        </p:nvSpPr>
        <p:spPr>
          <a:xfrm>
            <a:off x="6953250" y="3600450"/>
            <a:ext cx="428700" cy="285900"/>
          </a:xfrm>
          <a:custGeom>
            <a:rect b="b" l="l" r="r" t="t"/>
            <a:pathLst>
              <a:path extrusionOk="0" h="120000" w="120000">
                <a:moveTo>
                  <a:pt x="0" y="120000"/>
                </a:moveTo>
                <a:lnTo>
                  <a:pt x="66667" y="120000"/>
                </a:lnTo>
                <a:lnTo>
                  <a:pt x="66667" y="0"/>
                </a:lnTo>
                <a:lnTo>
                  <a:pt x="120000" y="0"/>
                </a:lnTo>
              </a:path>
            </a:pathLst>
          </a:custGeom>
          <a:solidFill>
            <a:srgbClr val="000000">
              <a:alpha val="0"/>
            </a:srgbClr>
          </a:solidFill>
          <a:ln cap="flat" cmpd="sng" w="9525">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 name="Google Shape;237;p19"/>
          <p:cNvSpPr/>
          <p:nvPr/>
        </p:nvSpPr>
        <p:spPr>
          <a:xfrm>
            <a:off x="7162800" y="3571875"/>
            <a:ext cx="57300" cy="57300"/>
          </a:xfrm>
          <a:prstGeom prst="ellipse">
            <a:avLst/>
          </a:prstGeom>
          <a:solidFill>
            <a:srgbClr val="00E6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38" name="Google Shape;238;p19"/>
          <p:cNvGrpSpPr/>
          <p:nvPr/>
        </p:nvGrpSpPr>
        <p:grpSpPr>
          <a:xfrm>
            <a:off x="7381875" y="3476625"/>
            <a:ext cx="952500" cy="247800"/>
            <a:chOff x="0" y="0"/>
            <a:chExt cx="952500" cy="247800"/>
          </a:xfrm>
        </p:grpSpPr>
        <p:sp>
          <p:nvSpPr>
            <p:cNvPr id="239" name="Google Shape;239;p19"/>
            <p:cNvSpPr/>
            <p:nvPr/>
          </p:nvSpPr>
          <p:spPr>
            <a:xfrm>
              <a:off x="0" y="0"/>
              <a:ext cx="952500" cy="247800"/>
            </a:xfrm>
            <a:prstGeom prst="roundRect">
              <a:avLst>
                <a:gd fmla="val 15384" name="adj"/>
              </a:avLst>
            </a:prstGeom>
            <a:solidFill>
              <a:srgbClr val="151E23"/>
            </a:solidFill>
            <a:ln cap="flat" cmpd="sng" w="9525">
              <a:solidFill>
                <a:srgbClr val="00E67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19"/>
            <p:cNvSpPr txBox="1"/>
            <p:nvPr/>
          </p:nvSpPr>
          <p:spPr>
            <a:xfrm>
              <a:off x="47625" y="28575"/>
              <a:ext cx="857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50">
                  <a:solidFill>
                    <a:srgbClr val="00E676"/>
                  </a:solidFill>
                  <a:latin typeface="Roboto Mono"/>
                  <a:ea typeface="Roboto Mono"/>
                  <a:cs typeface="Roboto Mono"/>
                  <a:sym typeface="Roboto Mono"/>
                </a:rPr>
                <a:t>CST ALIGN</a:t>
              </a:r>
              <a:endParaRPr/>
            </a:p>
          </p:txBody>
        </p:sp>
      </p:grpSp>
      <p:pic>
        <p:nvPicPr>
          <p:cNvPr id="241" name="Google Shape;241;p19"/>
          <p:cNvPicPr preferRelativeResize="0"/>
          <p:nvPr/>
        </p:nvPicPr>
        <p:blipFill rotWithShape="1">
          <a:blip r:embed="rId4">
            <a:alphaModFix/>
          </a:blip>
          <a:srcRect b="0" l="0" r="0" t="0"/>
          <a:stretch/>
        </p:blipFill>
        <p:spPr>
          <a:xfrm>
            <a:off x="8334375" y="3595688"/>
            <a:ext cx="324000" cy="9600"/>
          </a:xfrm>
          <a:prstGeom prst="rect">
            <a:avLst/>
          </a:prstGeom>
          <a:noFill/>
          <a:ln>
            <a:noFill/>
          </a:ln>
        </p:spPr>
      </p:pic>
      <p:sp>
        <p:nvSpPr>
          <p:cNvPr id="242" name="Google Shape;242;p19"/>
          <p:cNvSpPr/>
          <p:nvPr/>
        </p:nvSpPr>
        <p:spPr>
          <a:xfrm>
            <a:off x="8648700" y="3571875"/>
            <a:ext cx="66600" cy="57300"/>
          </a:xfrm>
          <a:custGeom>
            <a:rect b="b" l="l" r="r" t="t"/>
            <a:pathLst>
              <a:path extrusionOk="0" h="120000" w="120000">
                <a:moveTo>
                  <a:pt x="0" y="0"/>
                </a:moveTo>
                <a:lnTo>
                  <a:pt x="120000" y="60000"/>
                </a:lnTo>
                <a:lnTo>
                  <a:pt x="0" y="120000"/>
                </a:lnTo>
                <a:close/>
              </a:path>
            </a:pathLst>
          </a:custGeom>
          <a:solidFill>
            <a:srgbClr val="00E6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19"/>
          <p:cNvSpPr txBox="1"/>
          <p:nvPr/>
        </p:nvSpPr>
        <p:spPr>
          <a:xfrm>
            <a:off x="6191250" y="4095750"/>
            <a:ext cx="21432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750">
                <a:solidFill>
                  <a:srgbClr val="2A3B47"/>
                </a:solidFill>
                <a:latin typeface="Roboto Mono Medium"/>
                <a:ea typeface="Roboto Mono Medium"/>
                <a:cs typeface="Roboto Mono Medium"/>
                <a:sym typeface="Roboto Mono Medium"/>
              </a:rPr>
              <a:t>DUAL-STREAM RETRIEVAL FLOW</a:t>
            </a:r>
            <a:endParaRPr/>
          </a:p>
        </p:txBody>
      </p:sp>
      <p:grpSp>
        <p:nvGrpSpPr>
          <p:cNvPr id="244" name="Google Shape;244;p19"/>
          <p:cNvGrpSpPr/>
          <p:nvPr/>
        </p:nvGrpSpPr>
        <p:grpSpPr>
          <a:xfrm>
            <a:off x="381000" y="4857750"/>
            <a:ext cx="8382000" cy="238125"/>
            <a:chOff x="381000" y="4857750"/>
            <a:chExt cx="8382000" cy="238125"/>
          </a:xfrm>
        </p:grpSpPr>
        <p:cxnSp>
          <p:nvCxnSpPr>
            <p:cNvPr id="245" name="Google Shape;245;p19"/>
            <p:cNvCxnSpPr/>
            <p:nvPr/>
          </p:nvCxnSpPr>
          <p:spPr>
            <a:xfrm>
              <a:off x="381000" y="48577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sp>
          <p:nvSpPr>
            <p:cNvPr id="246" name="Google Shape;246;p19"/>
            <p:cNvSpPr txBox="1"/>
            <p:nvPr/>
          </p:nvSpPr>
          <p:spPr>
            <a:xfrm>
              <a:off x="381000" y="4905375"/>
              <a:ext cx="42864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800">
                  <a:solidFill>
                    <a:srgbClr val="2A3B47"/>
                  </a:solidFill>
                  <a:latin typeface="Roboto Mono Medium"/>
                  <a:ea typeface="Roboto Mono Medium"/>
                  <a:cs typeface="Roboto Mono Medium"/>
                  <a:sym typeface="Roboto Mono Medium"/>
                </a:rPr>
                <a:t>AUTONOMOUS MULTIMODAL ROUTING ARCHITECTURE</a:t>
              </a:r>
              <a:endParaRPr/>
            </a:p>
          </p:txBody>
        </p:sp>
        <p:sp>
          <p:nvSpPr>
            <p:cNvPr id="247" name="Google Shape;247;p19"/>
            <p:cNvSpPr txBox="1"/>
            <p:nvPr/>
          </p:nvSpPr>
          <p:spPr>
            <a:xfrm>
              <a:off x="7810500" y="4905375"/>
              <a:ext cx="952500" cy="1905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b="0" lang="en" sz="800">
                  <a:solidFill>
                    <a:srgbClr val="2A3B47"/>
                  </a:solidFill>
                  <a:latin typeface="Roboto Mono Medium"/>
                  <a:ea typeface="Roboto Mono Medium"/>
                  <a:cs typeface="Roboto Mono Medium"/>
                  <a:sym typeface="Roboto Mono Medium"/>
                </a:rPr>
                <a:t>07.2026</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0"/>
          <p:cNvSpPr/>
          <p:nvPr/>
        </p:nvSpPr>
        <p:spPr>
          <a:xfrm>
            <a:off x="0" y="0"/>
            <a:ext cx="9144000" cy="5143500"/>
          </a:xfrm>
          <a:prstGeom prst="rect">
            <a:avLst/>
          </a:prstGeom>
          <a:solidFill>
            <a:srgbClr val="0B11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53" name="Google Shape;253;p2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54" name="Google Shape;254;p20"/>
          <p:cNvSpPr/>
          <p:nvPr/>
        </p:nvSpPr>
        <p:spPr>
          <a:xfrm>
            <a:off x="285750" y="285750"/>
            <a:ext cx="142800" cy="142800"/>
          </a:xfrm>
          <a:custGeom>
            <a:rect b="b" l="l" r="r" t="t"/>
            <a:pathLst>
              <a:path extrusionOk="0" h="120000" w="120000">
                <a:moveTo>
                  <a:pt x="0" y="120000"/>
                </a:moveTo>
                <a:lnTo>
                  <a:pt x="0" y="0"/>
                </a:lnTo>
                <a:lnTo>
                  <a:pt x="120000" y="0"/>
                </a:lnTo>
              </a:path>
            </a:pathLst>
          </a:custGeom>
          <a:solidFill>
            <a:srgbClr val="000000">
              <a:alpha val="0"/>
            </a:srgbClr>
          </a:solidFill>
          <a:ln cap="flat" cmpd="sng" w="19050">
            <a:solidFill>
              <a:srgbClr val="00E67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20"/>
          <p:cNvSpPr txBox="1"/>
          <p:nvPr/>
        </p:nvSpPr>
        <p:spPr>
          <a:xfrm>
            <a:off x="476250" y="381000"/>
            <a:ext cx="82869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2400" u="none" strike="noStrike">
                <a:solidFill>
                  <a:srgbClr val="FFFFFF"/>
                </a:solidFill>
                <a:latin typeface="Space Grotesk"/>
                <a:ea typeface="Space Grotesk"/>
                <a:cs typeface="Space Grotesk"/>
                <a:sym typeface="Space Grotesk"/>
              </a:rPr>
              <a:t>GEOSPATIAL BOUNDARIES IN AGRONOMIC RAG</a:t>
            </a:r>
            <a:endParaRPr b="1" i="0" sz="2400" u="none" strike="noStrike">
              <a:solidFill>
                <a:srgbClr val="FFFFFF"/>
              </a:solidFill>
              <a:latin typeface="Space Grotesk"/>
              <a:ea typeface="Space Grotesk"/>
              <a:cs typeface="Space Grotesk"/>
              <a:sym typeface="Space Grotesk"/>
            </a:endParaRPr>
          </a:p>
        </p:txBody>
      </p:sp>
      <p:cxnSp>
        <p:nvCxnSpPr>
          <p:cNvPr id="256" name="Google Shape;256;p20"/>
          <p:cNvCxnSpPr/>
          <p:nvPr/>
        </p:nvCxnSpPr>
        <p:spPr>
          <a:xfrm>
            <a:off x="381000" y="904875"/>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sp>
        <p:nvSpPr>
          <p:cNvPr id="257" name="Google Shape;257;p20"/>
          <p:cNvSpPr txBox="1"/>
          <p:nvPr/>
        </p:nvSpPr>
        <p:spPr>
          <a:xfrm>
            <a:off x="381000" y="1143000"/>
            <a:ext cx="83820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FFFFFF"/>
                </a:solidFill>
                <a:latin typeface="Inter Medium"/>
                <a:ea typeface="Inter Medium"/>
                <a:cs typeface="Inter Medium"/>
                <a:sym typeface="Inter Medium"/>
              </a:rPr>
              <a:t>Deploying generic Retrieval-Augmented Generation (RAG) is insufficient and potentially highly dangerous in an agricultural context. Agronomic advice must be hyper-personalized and strictly bounded by precise geographic and environmental parameters.</a:t>
            </a:r>
            <a:endParaRPr b="0" sz="1300">
              <a:solidFill>
                <a:srgbClr val="FFFFFF"/>
              </a:solidFill>
              <a:latin typeface="Inter Medium"/>
              <a:ea typeface="Inter Medium"/>
              <a:cs typeface="Inter Medium"/>
              <a:sym typeface="Inter Medium"/>
            </a:endParaRPr>
          </a:p>
          <a:p>
            <a:pPr indent="0" lvl="0" marL="0" rtl="0" algn="l">
              <a:spcBef>
                <a:spcPts val="900"/>
              </a:spcBef>
              <a:spcAft>
                <a:spcPts val="0"/>
              </a:spcAft>
              <a:buNone/>
            </a:pPr>
            <a:r>
              <a:rPr b="0" lang="en" sz="1300">
                <a:solidFill>
                  <a:srgbClr val="B0BEC5"/>
                </a:solidFill>
                <a:latin typeface="Inter"/>
                <a:ea typeface="Inter"/>
                <a:cs typeface="Inter"/>
                <a:sym typeface="Inter"/>
              </a:rPr>
              <a:t>To achieve this, the architecture leverages advanced spatial reasoning frameworks like the </a:t>
            </a:r>
            <a:r>
              <a:rPr b="0" lang="en" sz="1300">
                <a:solidFill>
                  <a:srgbClr val="00E676"/>
                </a:solidFill>
                <a:latin typeface="Inter SemiBold"/>
                <a:ea typeface="Inter SemiBold"/>
                <a:cs typeface="Inter SemiBold"/>
                <a:sym typeface="Inter SemiBold"/>
              </a:rPr>
              <a:t>GeoGraphRAG-Soil (GGRS)</a:t>
            </a:r>
            <a:r>
              <a:rPr b="0" lang="en" sz="1300">
                <a:solidFill>
                  <a:srgbClr val="B0BEC5"/>
                </a:solidFill>
                <a:latin typeface="Inter"/>
                <a:ea typeface="Inter"/>
                <a:cs typeface="Inter"/>
                <a:sym typeface="Inter"/>
              </a:rPr>
              <a:t> network. This system intersects textual agronomic knowledge with hard geospatial rules. We utilize </a:t>
            </a:r>
            <a:r>
              <a:rPr b="0" lang="en" sz="1300">
                <a:solidFill>
                  <a:srgbClr val="29B6F6"/>
                </a:solidFill>
                <a:latin typeface="Inter SemiBold"/>
                <a:ea typeface="Inter SemiBold"/>
                <a:cs typeface="Inter SemiBold"/>
                <a:sym typeface="Inter SemiBold"/>
              </a:rPr>
              <a:t>ChromaDB</a:t>
            </a:r>
            <a:r>
              <a:rPr b="0" lang="en" sz="1300">
                <a:solidFill>
                  <a:srgbClr val="B0BEC5"/>
                </a:solidFill>
                <a:latin typeface="Inter"/>
                <a:ea typeface="Inter"/>
                <a:cs typeface="Inter"/>
                <a:sym typeface="Inter"/>
              </a:rPr>
              <a:t> for strict pre-retrieval metadata filtering, ensuring that vector searches are rigidly restricted to specific soil types, localized climate zones, and regional crop histories (for example, explicitly filtering for the </a:t>
            </a:r>
            <a:r>
              <a:rPr b="0" lang="en" sz="1300">
                <a:solidFill>
                  <a:srgbClr val="29B6F6"/>
                </a:solidFill>
                <a:latin typeface="Inter"/>
                <a:ea typeface="Inter"/>
                <a:cs typeface="Inter"/>
                <a:sym typeface="Inter"/>
              </a:rPr>
              <a:t>'Punjab region'</a:t>
            </a:r>
            <a:r>
              <a:rPr b="0" lang="en" sz="1300">
                <a:solidFill>
                  <a:srgbClr val="B0BEC5"/>
                </a:solidFill>
                <a:latin typeface="Inter"/>
                <a:ea typeface="Inter"/>
                <a:cs typeface="Inter"/>
                <a:sym typeface="Inter"/>
              </a:rPr>
              <a:t> and </a:t>
            </a:r>
            <a:r>
              <a:rPr b="0" lang="en" sz="1300">
                <a:solidFill>
                  <a:srgbClr val="29B6F6"/>
                </a:solidFill>
                <a:latin typeface="Inter"/>
                <a:ea typeface="Inter"/>
                <a:cs typeface="Inter"/>
                <a:sym typeface="Inter"/>
              </a:rPr>
              <a:t>'saline soil'</a:t>
            </a:r>
            <a:r>
              <a:rPr b="0" lang="en" sz="1300">
                <a:solidFill>
                  <a:srgbClr val="B0BEC5"/>
                </a:solidFill>
                <a:latin typeface="Inter"/>
                <a:ea typeface="Inter"/>
                <a:cs typeface="Inter"/>
                <a:sym typeface="Inter"/>
              </a:rPr>
              <a:t>).</a:t>
            </a:r>
            <a:endParaRPr b="0" sz="1300">
              <a:solidFill>
                <a:srgbClr val="B0BEC5"/>
              </a:solidFill>
              <a:latin typeface="Inter"/>
              <a:ea typeface="Inter"/>
              <a:cs typeface="Inter"/>
              <a:sym typeface="Inter"/>
            </a:endParaRPr>
          </a:p>
        </p:txBody>
      </p:sp>
      <p:grpSp>
        <p:nvGrpSpPr>
          <p:cNvPr id="258" name="Google Shape;258;p20"/>
          <p:cNvGrpSpPr/>
          <p:nvPr/>
        </p:nvGrpSpPr>
        <p:grpSpPr>
          <a:xfrm>
            <a:off x="381000" y="3238500"/>
            <a:ext cx="8382000" cy="1143000"/>
            <a:chOff x="0" y="0"/>
            <a:chExt cx="8382000" cy="1143000"/>
          </a:xfrm>
        </p:grpSpPr>
        <p:sp>
          <p:nvSpPr>
            <p:cNvPr id="259" name="Google Shape;259;p20"/>
            <p:cNvSpPr/>
            <p:nvPr/>
          </p:nvSpPr>
          <p:spPr>
            <a:xfrm>
              <a:off x="0" y="0"/>
              <a:ext cx="8382000" cy="1143000"/>
            </a:xfrm>
            <a:prstGeom prst="rect">
              <a:avLst/>
            </a:prstGeom>
            <a:solidFill>
              <a:srgbClr val="1A0D10"/>
            </a:solidFill>
            <a:ln cap="flat" cmpd="sng" w="19050">
              <a:solidFill>
                <a:srgbClr val="FF525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20"/>
            <p:cNvSpPr/>
            <p:nvPr/>
          </p:nvSpPr>
          <p:spPr>
            <a:xfrm>
              <a:off x="0" y="0"/>
              <a:ext cx="76200" cy="1143000"/>
            </a:xfrm>
            <a:prstGeom prst="rect">
              <a:avLst/>
            </a:prstGeom>
            <a:solidFill>
              <a:srgbClr val="FF525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20"/>
            <p:cNvSpPr txBox="1"/>
            <p:nvPr/>
          </p:nvSpPr>
          <p:spPr>
            <a:xfrm>
              <a:off x="285750" y="190500"/>
              <a:ext cx="7810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FF5252"/>
                  </a:solidFill>
                  <a:latin typeface="Inter"/>
                  <a:ea typeface="Inter"/>
                  <a:cs typeface="Inter"/>
                  <a:sym typeface="Inter"/>
                </a:rPr>
                <a:t>CORROSION &amp; DRIFT RISK:</a:t>
              </a:r>
              <a:r>
                <a:rPr b="0" lang="en" sz="1300">
                  <a:solidFill>
                    <a:srgbClr val="FF5252"/>
                  </a:solidFill>
                  <a:latin typeface="Inter SemiBold"/>
                  <a:ea typeface="Inter SemiBold"/>
                  <a:cs typeface="Inter SemiBold"/>
                  <a:sym typeface="Inter SemiBold"/>
                </a:rPr>
                <a:t> Physical IoT sensors drift and corrode rapidly in saline soil. Readings must be processed probabilistically and cross-verified against satellite baselines.</a:t>
              </a:r>
              <a:endParaRPr b="0" sz="1300">
                <a:solidFill>
                  <a:srgbClr val="FF5252"/>
                </a:solidFill>
                <a:latin typeface="Inter SemiBold"/>
                <a:ea typeface="Inter SemiBold"/>
                <a:cs typeface="Inter SemiBold"/>
                <a:sym typeface="Inter SemiBold"/>
              </a:endParaRPr>
            </a:p>
          </p:txBody>
        </p:sp>
      </p:grpSp>
      <p:grpSp>
        <p:nvGrpSpPr>
          <p:cNvPr id="262" name="Google Shape;262;p20"/>
          <p:cNvGrpSpPr/>
          <p:nvPr/>
        </p:nvGrpSpPr>
        <p:grpSpPr>
          <a:xfrm>
            <a:off x="381000" y="4857750"/>
            <a:ext cx="8382000" cy="238125"/>
            <a:chOff x="381000" y="4857750"/>
            <a:chExt cx="8382000" cy="238125"/>
          </a:xfrm>
        </p:grpSpPr>
        <p:cxnSp>
          <p:nvCxnSpPr>
            <p:cNvPr id="263" name="Google Shape;263;p20"/>
            <p:cNvCxnSpPr/>
            <p:nvPr/>
          </p:nvCxnSpPr>
          <p:spPr>
            <a:xfrm>
              <a:off x="381000" y="48577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sp>
          <p:nvSpPr>
            <p:cNvPr id="264" name="Google Shape;264;p20"/>
            <p:cNvSpPr txBox="1"/>
            <p:nvPr/>
          </p:nvSpPr>
          <p:spPr>
            <a:xfrm>
              <a:off x="381000" y="4905375"/>
              <a:ext cx="42864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800">
                  <a:solidFill>
                    <a:srgbClr val="2A3B47"/>
                  </a:solidFill>
                  <a:latin typeface="Roboto Mono Medium"/>
                  <a:ea typeface="Roboto Mono Medium"/>
                  <a:cs typeface="Roboto Mono Medium"/>
                  <a:sym typeface="Roboto Mono Medium"/>
                </a:rPr>
                <a:t>AUTONOMOUS MULTIMODAL ROUTING ARCHITECTURE</a:t>
              </a:r>
              <a:endParaRPr/>
            </a:p>
          </p:txBody>
        </p:sp>
        <p:sp>
          <p:nvSpPr>
            <p:cNvPr id="265" name="Google Shape;265;p20"/>
            <p:cNvSpPr txBox="1"/>
            <p:nvPr/>
          </p:nvSpPr>
          <p:spPr>
            <a:xfrm>
              <a:off x="7810500" y="4905375"/>
              <a:ext cx="952500" cy="1905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b="0" lang="en" sz="800">
                  <a:solidFill>
                    <a:srgbClr val="2A3B47"/>
                  </a:solidFill>
                  <a:latin typeface="Roboto Mono Medium"/>
                  <a:ea typeface="Roboto Mono Medium"/>
                  <a:cs typeface="Roboto Mono Medium"/>
                  <a:sym typeface="Roboto Mono Medium"/>
                </a:rPr>
                <a:t>2026-07-01</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1"/>
          <p:cNvSpPr/>
          <p:nvPr/>
        </p:nvSpPr>
        <p:spPr>
          <a:xfrm>
            <a:off x="0" y="0"/>
            <a:ext cx="9144000" cy="5143500"/>
          </a:xfrm>
          <a:prstGeom prst="rect">
            <a:avLst/>
          </a:prstGeom>
          <a:solidFill>
            <a:srgbClr val="0B11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71" name="Google Shape;271;p2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72" name="Google Shape;272;p21"/>
          <p:cNvSpPr txBox="1"/>
          <p:nvPr/>
        </p:nvSpPr>
        <p:spPr>
          <a:xfrm>
            <a:off x="381000" y="381000"/>
            <a:ext cx="8382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FFFFFF"/>
                </a:solidFill>
                <a:latin typeface="Space Grotesk"/>
                <a:ea typeface="Space Grotesk"/>
                <a:cs typeface="Space Grotesk"/>
                <a:sym typeface="Space Grotesk"/>
              </a:rPr>
              <a:t>UNCOMPROMISING GENERATIVE GUARDRAILS</a:t>
            </a:r>
            <a:endParaRPr/>
          </a:p>
        </p:txBody>
      </p:sp>
      <p:cxnSp>
        <p:nvCxnSpPr>
          <p:cNvPr id="273" name="Google Shape;273;p21"/>
          <p:cNvCxnSpPr/>
          <p:nvPr/>
        </p:nvCxnSpPr>
        <p:spPr>
          <a:xfrm>
            <a:off x="381000" y="8572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grpSp>
        <p:nvGrpSpPr>
          <p:cNvPr id="274" name="Google Shape;274;p21"/>
          <p:cNvGrpSpPr/>
          <p:nvPr/>
        </p:nvGrpSpPr>
        <p:grpSpPr>
          <a:xfrm>
            <a:off x="381000" y="1143000"/>
            <a:ext cx="8381925" cy="476400"/>
            <a:chOff x="0" y="0"/>
            <a:chExt cx="8381925" cy="476400"/>
          </a:xfrm>
        </p:grpSpPr>
        <p:sp>
          <p:nvSpPr>
            <p:cNvPr id="275" name="Google Shape;275;p21"/>
            <p:cNvSpPr/>
            <p:nvPr/>
          </p:nvSpPr>
          <p:spPr>
            <a:xfrm>
              <a:off x="0" y="76200"/>
              <a:ext cx="76200" cy="76200"/>
            </a:xfrm>
            <a:prstGeom prst="rect">
              <a:avLst/>
            </a:prstGeom>
            <a:solidFill>
              <a:srgbClr val="00E6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 name="Google Shape;276;p21"/>
            <p:cNvSpPr txBox="1"/>
            <p:nvPr/>
          </p:nvSpPr>
          <p:spPr>
            <a:xfrm>
              <a:off x="238125" y="0"/>
              <a:ext cx="81438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B0BEC5"/>
                  </a:solidFill>
                  <a:latin typeface="Inter"/>
                  <a:ea typeface="Inter"/>
                  <a:cs typeface="Inter"/>
                  <a:sym typeface="Inter"/>
                </a:rPr>
                <a:t>AI hallucinations in agriculture translate directly to crop failure and severe financial ruin for farmers.</a:t>
              </a:r>
              <a:endParaRPr/>
            </a:p>
          </p:txBody>
        </p:sp>
      </p:grpSp>
      <p:grpSp>
        <p:nvGrpSpPr>
          <p:cNvPr id="277" name="Google Shape;277;p21"/>
          <p:cNvGrpSpPr/>
          <p:nvPr/>
        </p:nvGrpSpPr>
        <p:grpSpPr>
          <a:xfrm>
            <a:off x="381000" y="1666875"/>
            <a:ext cx="8381925" cy="476400"/>
            <a:chOff x="0" y="0"/>
            <a:chExt cx="8381925" cy="476400"/>
          </a:xfrm>
        </p:grpSpPr>
        <p:sp>
          <p:nvSpPr>
            <p:cNvPr id="278" name="Google Shape;278;p21"/>
            <p:cNvSpPr/>
            <p:nvPr/>
          </p:nvSpPr>
          <p:spPr>
            <a:xfrm>
              <a:off x="0" y="76200"/>
              <a:ext cx="76200" cy="76200"/>
            </a:xfrm>
            <a:prstGeom prst="rect">
              <a:avLst/>
            </a:prstGeom>
            <a:solidFill>
              <a:srgbClr val="00E6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9" name="Google Shape;279;p21"/>
            <p:cNvSpPr txBox="1"/>
            <p:nvPr/>
          </p:nvSpPr>
          <p:spPr>
            <a:xfrm>
              <a:off x="238125" y="0"/>
              <a:ext cx="81438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B0BEC5"/>
                  </a:solidFill>
                  <a:latin typeface="Inter"/>
                  <a:ea typeface="Inter"/>
                  <a:cs typeface="Inter"/>
                  <a:sym typeface="Inter"/>
                </a:rPr>
                <a:t>Neurosymbolic guardrails enforce hard logical constraints directly on LLM outputs.</a:t>
              </a:r>
              <a:endParaRPr/>
            </a:p>
          </p:txBody>
        </p:sp>
      </p:grpSp>
      <p:grpSp>
        <p:nvGrpSpPr>
          <p:cNvPr id="280" name="Google Shape;280;p21"/>
          <p:cNvGrpSpPr/>
          <p:nvPr/>
        </p:nvGrpSpPr>
        <p:grpSpPr>
          <a:xfrm>
            <a:off x="381000" y="2190750"/>
            <a:ext cx="8381925" cy="476400"/>
            <a:chOff x="0" y="0"/>
            <a:chExt cx="8381925" cy="476400"/>
          </a:xfrm>
        </p:grpSpPr>
        <p:sp>
          <p:nvSpPr>
            <p:cNvPr id="281" name="Google Shape;281;p21"/>
            <p:cNvSpPr/>
            <p:nvPr/>
          </p:nvSpPr>
          <p:spPr>
            <a:xfrm>
              <a:off x="0" y="76200"/>
              <a:ext cx="76200" cy="76200"/>
            </a:xfrm>
            <a:prstGeom prst="rect">
              <a:avLst/>
            </a:prstGeom>
            <a:solidFill>
              <a:srgbClr val="00E6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2" name="Google Shape;282;p21"/>
            <p:cNvSpPr txBox="1"/>
            <p:nvPr/>
          </p:nvSpPr>
          <p:spPr>
            <a:xfrm>
              <a:off x="238125" y="0"/>
              <a:ext cx="81438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B0BEC5"/>
                  </a:solidFill>
                  <a:latin typeface="Inter"/>
                  <a:ea typeface="Inter"/>
                  <a:cs typeface="Inter"/>
                  <a:sym typeface="Inter"/>
                </a:rPr>
                <a:t>Multi-agent validation setup utilizes automated evaluator agents to verify advice before transmission.</a:t>
              </a:r>
              <a:endParaRPr/>
            </a:p>
          </p:txBody>
        </p:sp>
      </p:grpSp>
      <p:grpSp>
        <p:nvGrpSpPr>
          <p:cNvPr id="283" name="Google Shape;283;p21"/>
          <p:cNvGrpSpPr/>
          <p:nvPr/>
        </p:nvGrpSpPr>
        <p:grpSpPr>
          <a:xfrm>
            <a:off x="381000" y="2905125"/>
            <a:ext cx="8382000" cy="1143000"/>
            <a:chOff x="0" y="0"/>
            <a:chExt cx="8382000" cy="1143000"/>
          </a:xfrm>
        </p:grpSpPr>
        <p:sp>
          <p:nvSpPr>
            <p:cNvPr id="284" name="Google Shape;284;p21"/>
            <p:cNvSpPr/>
            <p:nvPr/>
          </p:nvSpPr>
          <p:spPr>
            <a:xfrm>
              <a:off x="0" y="0"/>
              <a:ext cx="8382000" cy="1143000"/>
            </a:xfrm>
            <a:prstGeom prst="rect">
              <a:avLst/>
            </a:prstGeom>
            <a:solidFill>
              <a:srgbClr val="151E23"/>
            </a:solidFill>
            <a:ln cap="flat" cmpd="sng" w="9525">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5" name="Google Shape;285;p21"/>
            <p:cNvSpPr/>
            <p:nvPr/>
          </p:nvSpPr>
          <p:spPr>
            <a:xfrm>
              <a:off x="95250" y="190500"/>
              <a:ext cx="190500" cy="190500"/>
            </a:xfrm>
            <a:custGeom>
              <a:rect b="b" l="l" r="r" t="t"/>
              <a:pathLst>
                <a:path extrusionOk="0" h="120000" w="120000">
                  <a:moveTo>
                    <a:pt x="60000" y="0"/>
                  </a:moveTo>
                  <a:quadBezTo>
                    <a:pt x="120000" y="0"/>
                    <a:pt x="120000" y="60000"/>
                  </a:quadBezTo>
                  <a:quadBezTo>
                    <a:pt x="120000" y="120000"/>
                    <a:pt x="60000" y="120000"/>
                  </a:quadBezTo>
                  <a:quadBezTo>
                    <a:pt x="0" y="120000"/>
                    <a:pt x="0" y="60000"/>
                  </a:quadBezTo>
                  <a:quadBezTo>
                    <a:pt x="0" y="0"/>
                    <a:pt x="60000" y="0"/>
                  </a:quadBezTo>
                  <a:close/>
                </a:path>
              </a:pathLst>
            </a:custGeom>
            <a:solidFill>
              <a:srgbClr val="29B6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6" name="Google Shape;286;p21"/>
            <p:cNvSpPr txBox="1"/>
            <p:nvPr/>
          </p:nvSpPr>
          <p:spPr>
            <a:xfrm>
              <a:off x="571500" y="238125"/>
              <a:ext cx="7429500" cy="666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i="1" lang="en" sz="1600">
                  <a:solidFill>
                    <a:srgbClr val="FFFFFF"/>
                  </a:solidFill>
                  <a:latin typeface="Inter"/>
                  <a:ea typeface="Inter"/>
                  <a:cs typeface="Inter"/>
                  <a:sym typeface="Inter"/>
                </a:rPr>
                <a:t>"In high-stakes farming, correctness is non-negotiable. Natural fluency must never compromise factual faithfulness."</a:t>
              </a:r>
              <a:endParaRPr/>
            </a:p>
          </p:txBody>
        </p:sp>
      </p:grpSp>
      <p:grpSp>
        <p:nvGrpSpPr>
          <p:cNvPr id="287" name="Google Shape;287;p21"/>
          <p:cNvGrpSpPr/>
          <p:nvPr/>
        </p:nvGrpSpPr>
        <p:grpSpPr>
          <a:xfrm>
            <a:off x="381000" y="4857750"/>
            <a:ext cx="8382000" cy="238125"/>
            <a:chOff x="381000" y="4857750"/>
            <a:chExt cx="8382000" cy="238125"/>
          </a:xfrm>
        </p:grpSpPr>
        <p:cxnSp>
          <p:nvCxnSpPr>
            <p:cNvPr id="288" name="Google Shape;288;p21"/>
            <p:cNvCxnSpPr/>
            <p:nvPr/>
          </p:nvCxnSpPr>
          <p:spPr>
            <a:xfrm>
              <a:off x="381000" y="48577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sp>
          <p:nvSpPr>
            <p:cNvPr id="289" name="Google Shape;289;p21"/>
            <p:cNvSpPr txBox="1"/>
            <p:nvPr/>
          </p:nvSpPr>
          <p:spPr>
            <a:xfrm>
              <a:off x="381000" y="4905375"/>
              <a:ext cx="3810000" cy="190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i="0" lang="en" sz="800" u="none" strike="noStrike">
                  <a:solidFill>
                    <a:srgbClr val="2A3B47"/>
                  </a:solidFill>
                  <a:latin typeface="Roboto Mono Medium"/>
                  <a:ea typeface="Roboto Mono Medium"/>
                  <a:cs typeface="Roboto Mono Medium"/>
                  <a:sym typeface="Roboto Mono Medium"/>
                </a:rPr>
                <a:t>AUTONOMOUS MULTIMODAL ROUTING ARCHITECTURE</a:t>
              </a:r>
              <a:endParaRPr b="0" i="0" sz="800" u="none" strike="noStrike">
                <a:solidFill>
                  <a:srgbClr val="2A3B47"/>
                </a:solidFill>
                <a:latin typeface="Roboto Mono Medium"/>
                <a:ea typeface="Roboto Mono Medium"/>
                <a:cs typeface="Roboto Mono Medium"/>
                <a:sym typeface="Roboto Mono Medium"/>
              </a:endParaRPr>
            </a:p>
          </p:txBody>
        </p:sp>
        <p:sp>
          <p:nvSpPr>
            <p:cNvPr id="290" name="Google Shape;290;p21"/>
            <p:cNvSpPr txBox="1"/>
            <p:nvPr/>
          </p:nvSpPr>
          <p:spPr>
            <a:xfrm>
              <a:off x="7810500" y="4905375"/>
              <a:ext cx="952500" cy="1905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ctr">
                <a:spcBef>
                  <a:spcPts val="0"/>
                </a:spcBef>
                <a:spcAft>
                  <a:spcPts val="0"/>
                </a:spcAft>
                <a:buNone/>
              </a:pPr>
              <a:r>
                <a:rPr b="0" i="0" lang="en" sz="800" u="none" strike="noStrike">
                  <a:solidFill>
                    <a:srgbClr val="2A3B47"/>
                  </a:solidFill>
                  <a:latin typeface="Roboto Mono Medium"/>
                  <a:ea typeface="Roboto Mono Medium"/>
                  <a:cs typeface="Roboto Mono Medium"/>
                  <a:sym typeface="Roboto Mono Medium"/>
                </a:rPr>
                <a:t>07/2026</a:t>
              </a:r>
              <a:endParaRPr b="0" i="0" sz="800" u="none" strike="noStrike">
                <a:solidFill>
                  <a:srgbClr val="2A3B47"/>
                </a:solidFill>
                <a:latin typeface="Roboto Mono Medium"/>
                <a:ea typeface="Roboto Mono Medium"/>
                <a:cs typeface="Roboto Mono Medium"/>
                <a:sym typeface="Roboto Mono Medium"/>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grpSp>
        <p:nvGrpSpPr>
          <p:cNvPr id="295" name="Google Shape;295;p22"/>
          <p:cNvGrpSpPr/>
          <p:nvPr/>
        </p:nvGrpSpPr>
        <p:grpSpPr>
          <a:xfrm>
            <a:off x="0" y="0"/>
            <a:ext cx="9144000" cy="5143500"/>
            <a:chOff x="0" y="0"/>
            <a:chExt cx="9144000" cy="5143500"/>
          </a:xfrm>
        </p:grpSpPr>
        <p:sp>
          <p:nvSpPr>
            <p:cNvPr id="296" name="Google Shape;296;p22"/>
            <p:cNvSpPr/>
            <p:nvPr/>
          </p:nvSpPr>
          <p:spPr>
            <a:xfrm>
              <a:off x="0" y="0"/>
              <a:ext cx="9144000" cy="5143500"/>
            </a:xfrm>
            <a:prstGeom prst="rect">
              <a:avLst/>
            </a:prstGeom>
            <a:solidFill>
              <a:srgbClr val="0B11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97" name="Google Shape;297;p22"/>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nvGrpSpPr>
            <p:cNvPr id="298" name="Google Shape;298;p22"/>
            <p:cNvGrpSpPr/>
            <p:nvPr/>
          </p:nvGrpSpPr>
          <p:grpSpPr>
            <a:xfrm>
              <a:off x="381000" y="4857750"/>
              <a:ext cx="8382000" cy="238125"/>
              <a:chOff x="381000" y="4857750"/>
              <a:chExt cx="8382000" cy="238125"/>
            </a:xfrm>
          </p:grpSpPr>
          <p:cxnSp>
            <p:nvCxnSpPr>
              <p:cNvPr id="299" name="Google Shape;299;p22"/>
              <p:cNvCxnSpPr/>
              <p:nvPr/>
            </p:nvCxnSpPr>
            <p:spPr>
              <a:xfrm>
                <a:off x="381000" y="48577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sp>
            <p:nvSpPr>
              <p:cNvPr id="300" name="Google Shape;300;p22"/>
              <p:cNvSpPr txBox="1"/>
              <p:nvPr/>
            </p:nvSpPr>
            <p:spPr>
              <a:xfrm>
                <a:off x="381000" y="4905375"/>
                <a:ext cx="38100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800">
                    <a:solidFill>
                      <a:srgbClr val="2A3B47"/>
                    </a:solidFill>
                    <a:latin typeface="Roboto Mono Medium"/>
                    <a:ea typeface="Roboto Mono Medium"/>
                    <a:cs typeface="Roboto Mono Medium"/>
                    <a:sym typeface="Roboto Mono Medium"/>
                  </a:rPr>
                  <a:t>AUTONOMOUS MULTIMODAL ROUTING ARCHITECTURE</a:t>
                </a:r>
                <a:endParaRPr/>
              </a:p>
            </p:txBody>
          </p:sp>
          <p:sp>
            <p:nvSpPr>
              <p:cNvPr id="301" name="Google Shape;301;p22"/>
              <p:cNvSpPr txBox="1"/>
              <p:nvPr/>
            </p:nvSpPr>
            <p:spPr>
              <a:xfrm>
                <a:off x="7810500" y="4905375"/>
                <a:ext cx="952500" cy="1905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b="0" lang="en" sz="800">
                    <a:solidFill>
                      <a:srgbClr val="2A3B47"/>
                    </a:solidFill>
                    <a:latin typeface="Roboto Mono Medium"/>
                    <a:ea typeface="Roboto Mono Medium"/>
                    <a:cs typeface="Roboto Mono Medium"/>
                    <a:sym typeface="Roboto Mono Medium"/>
                  </a:rPr>
                  <a:t>01 JUL 2026</a:t>
                </a:r>
                <a:endParaRPr/>
              </a:p>
            </p:txBody>
          </p:sp>
        </p:grpSp>
        <p:sp>
          <p:nvSpPr>
            <p:cNvPr id="302" name="Google Shape;302;p22"/>
            <p:cNvSpPr txBox="1"/>
            <p:nvPr/>
          </p:nvSpPr>
          <p:spPr>
            <a:xfrm>
              <a:off x="381000" y="381000"/>
              <a:ext cx="8382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FFFFFF"/>
                  </a:solidFill>
                  <a:latin typeface="Space Grotesk"/>
                  <a:ea typeface="Space Grotesk"/>
                  <a:cs typeface="Space Grotesk"/>
                  <a:sym typeface="Space Grotesk"/>
                </a:rPr>
                <a:t>RAGAS EVALUATION FRAMEWORK</a:t>
              </a:r>
              <a:endParaRPr/>
            </a:p>
          </p:txBody>
        </p:sp>
        <p:cxnSp>
          <p:nvCxnSpPr>
            <p:cNvPr id="303" name="Google Shape;303;p22"/>
            <p:cNvCxnSpPr/>
            <p:nvPr/>
          </p:nvCxnSpPr>
          <p:spPr>
            <a:xfrm>
              <a:off x="381000" y="8572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grpSp>
      <p:sp>
        <p:nvSpPr>
          <p:cNvPr id="304" name="Google Shape;304;p22"/>
          <p:cNvSpPr txBox="1"/>
          <p:nvPr/>
        </p:nvSpPr>
        <p:spPr>
          <a:xfrm>
            <a:off x="381000" y="1095375"/>
            <a:ext cx="83820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64">
                <a:solidFill>
                  <a:srgbClr val="B0BEC5"/>
                </a:solidFill>
                <a:latin typeface="Inter"/>
                <a:ea typeface="Inter"/>
                <a:cs typeface="Inter"/>
                <a:sym typeface="Inter"/>
              </a:rPr>
              <a:t>To guarantee continuous system safety and reliability, the architecture relies heavily on the rigorous RAGAS Evaluation Framework. This framework establishes four foundational, mathematical safety pillars that dictate the operational boundaries of the Generative AI.</a:t>
            </a:r>
            <a:endParaRPr b="0" sz="1064">
              <a:solidFill>
                <a:srgbClr val="B0BEC5"/>
              </a:solidFill>
              <a:latin typeface="Inter"/>
              <a:ea typeface="Inter"/>
              <a:cs typeface="Inter"/>
              <a:sym typeface="Inter"/>
            </a:endParaRPr>
          </a:p>
          <a:p>
            <a:pPr indent="0" lvl="0" marL="0" rtl="0" algn="l">
              <a:spcBef>
                <a:spcPts val="900"/>
              </a:spcBef>
              <a:spcAft>
                <a:spcPts val="0"/>
              </a:spcAft>
              <a:buNone/>
            </a:pPr>
            <a:r>
              <a:rPr b="0" lang="en" sz="1064">
                <a:solidFill>
                  <a:srgbClr val="B0BEC5"/>
                </a:solidFill>
                <a:latin typeface="Inter"/>
                <a:ea typeface="Inter"/>
                <a:cs typeface="Inter"/>
                <a:sym typeface="Inter"/>
              </a:rPr>
              <a:t>First, Context Precision evaluates the signal-to-noise ratio, ensuring that only the most highly relevant and accurate source documents are retrieved from the vector database. Second, Context Recall measures completeness, guaranteeing that the system successfully captures all necessary and critical information required to formulate a complete agronomic answer.</a:t>
            </a:r>
            <a:endParaRPr b="0" sz="1064">
              <a:solidFill>
                <a:srgbClr val="B0BEC5"/>
              </a:solidFill>
              <a:latin typeface="Inter"/>
              <a:ea typeface="Inter"/>
              <a:cs typeface="Inter"/>
              <a:sym typeface="Inter"/>
            </a:endParaRPr>
          </a:p>
          <a:p>
            <a:pPr indent="0" lvl="0" marL="0" rtl="0" algn="l">
              <a:spcBef>
                <a:spcPts val="900"/>
              </a:spcBef>
              <a:spcAft>
                <a:spcPts val="0"/>
              </a:spcAft>
              <a:buNone/>
            </a:pPr>
            <a:r>
              <a:rPr b="0" lang="en" sz="1064">
                <a:solidFill>
                  <a:srgbClr val="B0BEC5"/>
                </a:solidFill>
                <a:latin typeface="Inter"/>
                <a:ea typeface="Inter"/>
                <a:cs typeface="Inter"/>
                <a:sym typeface="Inter"/>
              </a:rPr>
              <a:t>Third, and most critically, is Faithfulness. This serves as the ultimate safety guardrail for the entire architecture; it mathematically ensures that every single generated claim, dosage recommendation, or agronomic instruction can be strictly and explicitly traced back to the securely retrieved context, eliminating unauthorized extrapolation. Finally, Response Relevancy ensures that the final output directly and concisely answers the user's specific prompt, preventing the system from generating tangential or unhelpful information during a critical agricultural intervention.</a:t>
            </a:r>
            <a:endParaRPr b="0" sz="1064">
              <a:solidFill>
                <a:srgbClr val="B0BEC5"/>
              </a:solidFill>
              <a:latin typeface="Inter"/>
              <a:ea typeface="Inter"/>
              <a:cs typeface="Inter"/>
              <a:sym typeface="Inter"/>
            </a:endParaRPr>
          </a:p>
        </p:txBody>
      </p:sp>
      <p:grpSp>
        <p:nvGrpSpPr>
          <p:cNvPr id="305" name="Google Shape;305;p22"/>
          <p:cNvGrpSpPr/>
          <p:nvPr/>
        </p:nvGrpSpPr>
        <p:grpSpPr>
          <a:xfrm>
            <a:off x="381000" y="3429000"/>
            <a:ext cx="1333500" cy="285900"/>
            <a:chOff x="0" y="0"/>
            <a:chExt cx="1333500" cy="285900"/>
          </a:xfrm>
        </p:grpSpPr>
        <p:sp>
          <p:nvSpPr>
            <p:cNvPr id="306" name="Google Shape;306;p22"/>
            <p:cNvSpPr/>
            <p:nvPr/>
          </p:nvSpPr>
          <p:spPr>
            <a:xfrm>
              <a:off x="0" y="0"/>
              <a:ext cx="1333500" cy="285900"/>
            </a:xfrm>
            <a:prstGeom prst="roundRect">
              <a:avLst>
                <a:gd fmla="val 50000" name="adj"/>
              </a:avLst>
            </a:prstGeom>
            <a:solidFill>
              <a:srgbClr val="0B1114"/>
            </a:solidFill>
            <a:ln cap="flat" cmpd="sng" w="9525">
              <a:solidFill>
                <a:srgbClr val="29B6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p22"/>
            <p:cNvSpPr txBox="1"/>
            <p:nvPr/>
          </p:nvSpPr>
          <p:spPr>
            <a:xfrm>
              <a:off x="95250" y="47625"/>
              <a:ext cx="1143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00">
                  <a:solidFill>
                    <a:srgbClr val="29B6F6"/>
                  </a:solidFill>
                  <a:latin typeface="Roboto Mono Medium"/>
                  <a:ea typeface="Roboto Mono Medium"/>
                  <a:cs typeface="Roboto Mono Medium"/>
                  <a:sym typeface="Roboto Mono Medium"/>
                </a:rPr>
                <a:t>CONTEXT PRECISION</a:t>
              </a:r>
              <a:endParaRPr/>
            </a:p>
          </p:txBody>
        </p:sp>
      </p:grpSp>
      <p:grpSp>
        <p:nvGrpSpPr>
          <p:cNvPr id="308" name="Google Shape;308;p22"/>
          <p:cNvGrpSpPr/>
          <p:nvPr/>
        </p:nvGrpSpPr>
        <p:grpSpPr>
          <a:xfrm>
            <a:off x="1809750" y="3429000"/>
            <a:ext cx="1333500" cy="285900"/>
            <a:chOff x="0" y="0"/>
            <a:chExt cx="1333500" cy="285900"/>
          </a:xfrm>
        </p:grpSpPr>
        <p:sp>
          <p:nvSpPr>
            <p:cNvPr id="309" name="Google Shape;309;p22"/>
            <p:cNvSpPr/>
            <p:nvPr/>
          </p:nvSpPr>
          <p:spPr>
            <a:xfrm>
              <a:off x="0" y="0"/>
              <a:ext cx="1333500" cy="285900"/>
            </a:xfrm>
            <a:prstGeom prst="roundRect">
              <a:avLst>
                <a:gd fmla="val 50000" name="adj"/>
              </a:avLst>
            </a:prstGeom>
            <a:solidFill>
              <a:srgbClr val="0B1114"/>
            </a:solidFill>
            <a:ln cap="flat" cmpd="sng" w="9525">
              <a:solidFill>
                <a:srgbClr val="29B6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2"/>
            <p:cNvSpPr txBox="1"/>
            <p:nvPr/>
          </p:nvSpPr>
          <p:spPr>
            <a:xfrm>
              <a:off x="95250" y="47625"/>
              <a:ext cx="1143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00">
                  <a:solidFill>
                    <a:srgbClr val="29B6F6"/>
                  </a:solidFill>
                  <a:latin typeface="Roboto Mono Medium"/>
                  <a:ea typeface="Roboto Mono Medium"/>
                  <a:cs typeface="Roboto Mono Medium"/>
                  <a:sym typeface="Roboto Mono Medium"/>
                </a:rPr>
                <a:t>CONTEXT RECALL</a:t>
              </a:r>
              <a:endParaRPr/>
            </a:p>
          </p:txBody>
        </p:sp>
      </p:grpSp>
      <p:grpSp>
        <p:nvGrpSpPr>
          <p:cNvPr id="311" name="Google Shape;311;p22"/>
          <p:cNvGrpSpPr/>
          <p:nvPr/>
        </p:nvGrpSpPr>
        <p:grpSpPr>
          <a:xfrm>
            <a:off x="3238500" y="3429000"/>
            <a:ext cx="1333500" cy="285900"/>
            <a:chOff x="0" y="0"/>
            <a:chExt cx="1333500" cy="285900"/>
          </a:xfrm>
        </p:grpSpPr>
        <p:sp>
          <p:nvSpPr>
            <p:cNvPr id="312" name="Google Shape;312;p22"/>
            <p:cNvSpPr/>
            <p:nvPr/>
          </p:nvSpPr>
          <p:spPr>
            <a:xfrm>
              <a:off x="0" y="0"/>
              <a:ext cx="1333500" cy="285900"/>
            </a:xfrm>
            <a:prstGeom prst="roundRect">
              <a:avLst>
                <a:gd fmla="val 50000" name="adj"/>
              </a:avLst>
            </a:prstGeom>
            <a:solidFill>
              <a:srgbClr val="0B1114"/>
            </a:solidFill>
            <a:ln cap="flat" cmpd="sng" w="9525">
              <a:solidFill>
                <a:srgbClr val="29B6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22"/>
            <p:cNvSpPr txBox="1"/>
            <p:nvPr/>
          </p:nvSpPr>
          <p:spPr>
            <a:xfrm>
              <a:off x="95250" y="47625"/>
              <a:ext cx="1143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00">
                  <a:solidFill>
                    <a:srgbClr val="29B6F6"/>
                  </a:solidFill>
                  <a:latin typeface="Roboto Mono Medium"/>
                  <a:ea typeface="Roboto Mono Medium"/>
                  <a:cs typeface="Roboto Mono Medium"/>
                  <a:sym typeface="Roboto Mono Medium"/>
                </a:rPr>
                <a:t>FAITHFULNESS</a:t>
              </a:r>
              <a:endParaRPr/>
            </a:p>
          </p:txBody>
        </p:sp>
      </p:grpSp>
      <p:grpSp>
        <p:nvGrpSpPr>
          <p:cNvPr id="314" name="Google Shape;314;p22"/>
          <p:cNvGrpSpPr/>
          <p:nvPr/>
        </p:nvGrpSpPr>
        <p:grpSpPr>
          <a:xfrm>
            <a:off x="4667250" y="3429000"/>
            <a:ext cx="1333500" cy="285900"/>
            <a:chOff x="0" y="0"/>
            <a:chExt cx="1333500" cy="285900"/>
          </a:xfrm>
        </p:grpSpPr>
        <p:sp>
          <p:nvSpPr>
            <p:cNvPr id="315" name="Google Shape;315;p22"/>
            <p:cNvSpPr/>
            <p:nvPr/>
          </p:nvSpPr>
          <p:spPr>
            <a:xfrm>
              <a:off x="0" y="0"/>
              <a:ext cx="1333500" cy="285900"/>
            </a:xfrm>
            <a:prstGeom prst="roundRect">
              <a:avLst>
                <a:gd fmla="val 50000" name="adj"/>
              </a:avLst>
            </a:prstGeom>
            <a:solidFill>
              <a:srgbClr val="0B1114"/>
            </a:solidFill>
            <a:ln cap="flat" cmpd="sng" w="9525">
              <a:solidFill>
                <a:srgbClr val="29B6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6" name="Google Shape;316;p22"/>
            <p:cNvSpPr txBox="1"/>
            <p:nvPr/>
          </p:nvSpPr>
          <p:spPr>
            <a:xfrm>
              <a:off x="95250" y="47625"/>
              <a:ext cx="1143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00">
                  <a:solidFill>
                    <a:srgbClr val="29B6F6"/>
                  </a:solidFill>
                  <a:latin typeface="Roboto Mono Medium"/>
                  <a:ea typeface="Roboto Mono Medium"/>
                  <a:cs typeface="Roboto Mono Medium"/>
                  <a:sym typeface="Roboto Mono Medium"/>
                </a:rPr>
                <a:t>RESPONSE RELEVANCY</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3"/>
          <p:cNvSpPr/>
          <p:nvPr/>
        </p:nvSpPr>
        <p:spPr>
          <a:xfrm>
            <a:off x="0" y="0"/>
            <a:ext cx="9144000" cy="5143500"/>
          </a:xfrm>
          <a:prstGeom prst="rect">
            <a:avLst/>
          </a:prstGeom>
          <a:solidFill>
            <a:srgbClr val="0B11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22" name="Google Shape;322;p2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23" name="Google Shape;323;p23"/>
          <p:cNvSpPr txBox="1"/>
          <p:nvPr/>
        </p:nvSpPr>
        <p:spPr>
          <a:xfrm>
            <a:off x="381000" y="381000"/>
            <a:ext cx="83820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2400" u="none" strike="noStrike">
                <a:solidFill>
                  <a:srgbClr val="FFFFFF"/>
                </a:solidFill>
                <a:latin typeface="Space Grotesk"/>
                <a:ea typeface="Space Grotesk"/>
                <a:cs typeface="Space Grotesk"/>
                <a:sym typeface="Space Grotesk"/>
              </a:rPr>
              <a:t>VOICE-FIRST MULTI-TURN UX</a:t>
            </a:r>
            <a:endParaRPr b="1" i="0" sz="2400" u="none" strike="noStrike">
              <a:solidFill>
                <a:srgbClr val="FFFFFF"/>
              </a:solidFill>
              <a:latin typeface="Space Grotesk"/>
              <a:ea typeface="Space Grotesk"/>
              <a:cs typeface="Space Grotesk"/>
              <a:sym typeface="Space Grotesk"/>
            </a:endParaRPr>
          </a:p>
        </p:txBody>
      </p:sp>
      <p:cxnSp>
        <p:nvCxnSpPr>
          <p:cNvPr id="324" name="Google Shape;324;p23"/>
          <p:cNvCxnSpPr/>
          <p:nvPr/>
        </p:nvCxnSpPr>
        <p:spPr>
          <a:xfrm>
            <a:off x="381000" y="8572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cxnSp>
        <p:nvCxnSpPr>
          <p:cNvPr id="325" name="Google Shape;325;p23"/>
          <p:cNvCxnSpPr/>
          <p:nvPr/>
        </p:nvCxnSpPr>
        <p:spPr>
          <a:xfrm>
            <a:off x="4572000" y="1143000"/>
            <a:ext cx="0" cy="3429000"/>
          </a:xfrm>
          <a:prstGeom prst="straightConnector1">
            <a:avLst/>
          </a:prstGeom>
          <a:solidFill>
            <a:srgbClr val="FFFFFF"/>
          </a:solidFill>
          <a:ln cap="flat" cmpd="sng" w="9525">
            <a:solidFill>
              <a:srgbClr val="151E23"/>
            </a:solidFill>
            <a:prstDash val="solid"/>
            <a:round/>
            <a:headEnd len="sm" w="sm" type="none"/>
            <a:tailEnd len="sm" w="sm" type="none"/>
          </a:ln>
        </p:spPr>
      </p:cxnSp>
      <p:sp>
        <p:nvSpPr>
          <p:cNvPr id="326" name="Google Shape;326;p23"/>
          <p:cNvSpPr txBox="1"/>
          <p:nvPr/>
        </p:nvSpPr>
        <p:spPr>
          <a:xfrm>
            <a:off x="381000" y="1143000"/>
            <a:ext cx="40005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00E676"/>
                </a:solidFill>
                <a:latin typeface="Roboto Mono Medium"/>
                <a:ea typeface="Roboto Mono Medium"/>
                <a:cs typeface="Roboto Mono Medium"/>
                <a:sym typeface="Roboto Mono Medium"/>
              </a:rPr>
              <a:t>Strategy &amp; Architecture</a:t>
            </a:r>
            <a:endParaRPr b="0" sz="1000">
              <a:solidFill>
                <a:srgbClr val="00E676"/>
              </a:solidFill>
              <a:latin typeface="Roboto Mono Medium"/>
              <a:ea typeface="Roboto Mono Medium"/>
              <a:cs typeface="Roboto Mono Medium"/>
              <a:sym typeface="Roboto Mono Medium"/>
            </a:endParaRPr>
          </a:p>
          <a:p>
            <a:pPr indent="0" lvl="0" marL="0" rtl="0" algn="l">
              <a:spcBef>
                <a:spcPts val="750"/>
              </a:spcBef>
              <a:spcAft>
                <a:spcPts val="0"/>
              </a:spcAft>
              <a:buNone/>
            </a:pPr>
            <a:r>
              <a:rPr b="0" lang="en" sz="1100">
                <a:solidFill>
                  <a:srgbClr val="FFFFFF"/>
                </a:solidFill>
                <a:latin typeface="Inter Medium"/>
                <a:ea typeface="Inter Medium"/>
                <a:cs typeface="Inter Medium"/>
                <a:sym typeface="Inter Medium"/>
              </a:rPr>
              <a:t>Designing for smallholder farmers requires a fundamental shift in user experience strategy.</a:t>
            </a:r>
            <a:endParaRPr b="0" sz="1100">
              <a:solidFill>
                <a:srgbClr val="FFFFFF"/>
              </a:solidFill>
              <a:latin typeface="Inter Medium"/>
              <a:ea typeface="Inter Medium"/>
              <a:cs typeface="Inter Medium"/>
              <a:sym typeface="Inter Medium"/>
            </a:endParaRPr>
          </a:p>
          <a:p>
            <a:pPr indent="0" lvl="0" marL="0" rtl="0" algn="l">
              <a:spcBef>
                <a:spcPts val="1200"/>
              </a:spcBef>
              <a:spcAft>
                <a:spcPts val="0"/>
              </a:spcAft>
              <a:buNone/>
            </a:pPr>
            <a:r>
              <a:rPr b="0" lang="en" sz="1100">
                <a:solidFill>
                  <a:srgbClr val="B0BEC5"/>
                </a:solidFill>
                <a:latin typeface="Inter"/>
                <a:ea typeface="Inter"/>
                <a:cs typeface="Inter"/>
                <a:sym typeface="Inter"/>
              </a:rPr>
              <a:t>We cannot rely on zero-shot interactions, as expecting a perfectly structured prompt from low-literacy users consistently leads to failure. Instead, the architecture features an intelligent, agent-initiated multi-turn dialogue system. Utilizing advanced dialogue state tracking, the AI proactively asks clarifying questions if a farmer's initial query is ambiguous—for example, prompting the user to describe specific leaf symptoms before offering a diagnosis.</a:t>
            </a:r>
            <a:endParaRPr b="0" sz="1100">
              <a:solidFill>
                <a:srgbClr val="B0BEC5"/>
              </a:solidFill>
              <a:latin typeface="Inter"/>
              <a:ea typeface="Inter"/>
              <a:cs typeface="Inter"/>
              <a:sym typeface="Inter"/>
            </a:endParaRPr>
          </a:p>
          <a:p>
            <a:pPr indent="0" lvl="0" marL="0" rtl="0" algn="l">
              <a:spcBef>
                <a:spcPts val="1200"/>
              </a:spcBef>
              <a:spcAft>
                <a:spcPts val="0"/>
              </a:spcAft>
              <a:buNone/>
            </a:pPr>
            <a:r>
              <a:rPr b="0" lang="en" sz="1100">
                <a:solidFill>
                  <a:srgbClr val="B0BEC5"/>
                </a:solidFill>
                <a:latin typeface="Inter"/>
                <a:ea typeface="Inter"/>
                <a:cs typeface="Inter"/>
                <a:sym typeface="Inter"/>
              </a:rPr>
              <a:t>Crucially, this interaction is delivered through a Voice-First design tailored for accessibility. By deploying this voice-first experience over accessible platforms like WhatsApp or traditional IVR networks, farmers can easily listen to and repeatedly review complex agronomic instructions without needing to read dense text.</a:t>
            </a:r>
            <a:endParaRPr b="0" sz="1100">
              <a:solidFill>
                <a:srgbClr val="B0BEC5"/>
              </a:solidFill>
              <a:latin typeface="Inter"/>
              <a:ea typeface="Inter"/>
              <a:cs typeface="Inter"/>
              <a:sym typeface="Inter"/>
            </a:endParaRPr>
          </a:p>
        </p:txBody>
      </p:sp>
      <p:grpSp>
        <p:nvGrpSpPr>
          <p:cNvPr id="327" name="Google Shape;327;p23"/>
          <p:cNvGrpSpPr/>
          <p:nvPr/>
        </p:nvGrpSpPr>
        <p:grpSpPr>
          <a:xfrm>
            <a:off x="4762500" y="1143000"/>
            <a:ext cx="1714500" cy="3048000"/>
            <a:chOff x="0" y="0"/>
            <a:chExt cx="1714500" cy="3048000"/>
          </a:xfrm>
        </p:grpSpPr>
        <p:sp>
          <p:nvSpPr>
            <p:cNvPr id="328" name="Google Shape;328;p23"/>
            <p:cNvSpPr/>
            <p:nvPr/>
          </p:nvSpPr>
          <p:spPr>
            <a:xfrm>
              <a:off x="0" y="0"/>
              <a:ext cx="1714500" cy="3048000"/>
            </a:xfrm>
            <a:prstGeom prst="roundRect">
              <a:avLst>
                <a:gd fmla="val 8888" name="adj"/>
              </a:avLst>
            </a:prstGeom>
            <a:solidFill>
              <a:srgbClr val="151E23"/>
            </a:solidFill>
            <a:ln cap="flat" cmpd="sng" w="19050">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23"/>
            <p:cNvSpPr/>
            <p:nvPr/>
          </p:nvSpPr>
          <p:spPr>
            <a:xfrm>
              <a:off x="0" y="0"/>
              <a:ext cx="142800" cy="142800"/>
            </a:xfrm>
            <a:custGeom>
              <a:rect b="b" l="l" r="r" t="t"/>
              <a:pathLst>
                <a:path extrusionOk="0" h="120000" w="120000">
                  <a:moveTo>
                    <a:pt x="0" y="120000"/>
                  </a:moveTo>
                  <a:lnTo>
                    <a:pt x="0" y="0"/>
                  </a:lnTo>
                  <a:lnTo>
                    <a:pt x="120000" y="0"/>
                  </a:lnTo>
                </a:path>
              </a:pathLst>
            </a:custGeom>
            <a:solidFill>
              <a:srgbClr val="000000">
                <a:alpha val="0"/>
              </a:srgbClr>
            </a:solidFill>
            <a:ln cap="flat" cmpd="sng" w="19050">
              <a:solidFill>
                <a:srgbClr val="00E67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23"/>
            <p:cNvSpPr/>
            <p:nvPr/>
          </p:nvSpPr>
          <p:spPr>
            <a:xfrm>
              <a:off x="1571625" y="2905125"/>
              <a:ext cx="142800" cy="142800"/>
            </a:xfrm>
            <a:custGeom>
              <a:rect b="b" l="l" r="r" t="t"/>
              <a:pathLst>
                <a:path extrusionOk="0" h="120000" w="120000">
                  <a:moveTo>
                    <a:pt x="120000" y="0"/>
                  </a:moveTo>
                  <a:lnTo>
                    <a:pt x="120000" y="120000"/>
                  </a:lnTo>
                  <a:lnTo>
                    <a:pt x="0" y="120000"/>
                  </a:lnTo>
                </a:path>
              </a:pathLst>
            </a:custGeom>
            <a:solidFill>
              <a:srgbClr val="000000">
                <a:alpha val="0"/>
              </a:srgbClr>
            </a:solidFill>
            <a:ln cap="flat" cmpd="sng" w="19050">
              <a:solidFill>
                <a:srgbClr val="00E67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 name="Google Shape;331;p23"/>
            <p:cNvSpPr/>
            <p:nvPr/>
          </p:nvSpPr>
          <p:spPr>
            <a:xfrm>
              <a:off x="57150" y="57150"/>
              <a:ext cx="1600200" cy="2933700"/>
            </a:xfrm>
            <a:prstGeom prst="roundRect">
              <a:avLst>
                <a:gd fmla="val 7142" name="adj"/>
              </a:avLst>
            </a:prstGeom>
            <a:solidFill>
              <a:srgbClr val="0B11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23"/>
            <p:cNvSpPr/>
            <p:nvPr/>
          </p:nvSpPr>
          <p:spPr>
            <a:xfrm>
              <a:off x="57150" y="57150"/>
              <a:ext cx="1600200" cy="381000"/>
            </a:xfrm>
            <a:prstGeom prst="rect">
              <a:avLst/>
            </a:prstGeom>
            <a:solidFill>
              <a:srgbClr val="151E23"/>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33" name="Google Shape;333;p23"/>
            <p:cNvCxnSpPr/>
            <p:nvPr/>
          </p:nvCxnSpPr>
          <p:spPr>
            <a:xfrm>
              <a:off x="57150" y="438150"/>
              <a:ext cx="1600200" cy="0"/>
            </a:xfrm>
            <a:prstGeom prst="straightConnector1">
              <a:avLst/>
            </a:prstGeom>
            <a:solidFill>
              <a:srgbClr val="FFFFFF"/>
            </a:solidFill>
            <a:ln cap="flat" cmpd="sng" w="9525">
              <a:solidFill>
                <a:srgbClr val="2A3B47"/>
              </a:solidFill>
              <a:prstDash val="solid"/>
              <a:round/>
              <a:headEnd len="sm" w="sm" type="none"/>
              <a:tailEnd len="sm" w="sm" type="none"/>
            </a:ln>
          </p:spPr>
        </p:cxnSp>
        <p:sp>
          <p:nvSpPr>
            <p:cNvPr id="334" name="Google Shape;334;p23"/>
            <p:cNvSpPr/>
            <p:nvPr/>
          </p:nvSpPr>
          <p:spPr>
            <a:xfrm>
              <a:off x="142875" y="142875"/>
              <a:ext cx="209700" cy="209700"/>
            </a:xfrm>
            <a:prstGeom prst="ellipse">
              <a:avLst/>
            </a:prstGeom>
            <a:solidFill>
              <a:srgbClr val="00E676">
                <a:alpha val="15000"/>
              </a:srgbClr>
            </a:solidFill>
            <a:ln cap="flat" cmpd="sng" w="9525">
              <a:solidFill>
                <a:srgbClr val="00E67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23"/>
            <p:cNvSpPr/>
            <p:nvPr/>
          </p:nvSpPr>
          <p:spPr>
            <a:xfrm>
              <a:off x="209550" y="190500"/>
              <a:ext cx="76200" cy="76200"/>
            </a:xfrm>
            <a:custGeom>
              <a:rect b="b" l="l" r="r" t="t"/>
              <a:pathLst>
                <a:path extrusionOk="0" h="120000" w="120000">
                  <a:moveTo>
                    <a:pt x="0" y="120000"/>
                  </a:moveTo>
                  <a:cubicBezTo>
                    <a:pt x="0" y="75000"/>
                    <a:pt x="120000" y="75000"/>
                    <a:pt x="120000" y="120000"/>
                  </a:cubicBezTo>
                  <a:moveTo>
                    <a:pt x="60000" y="60000"/>
                  </a:moveTo>
                  <a:cubicBezTo>
                    <a:pt x="76569" y="60000"/>
                    <a:pt x="90000" y="46569"/>
                    <a:pt x="90000" y="30000"/>
                  </a:cubicBezTo>
                  <a:cubicBezTo>
                    <a:pt x="90000" y="13431"/>
                    <a:pt x="76569" y="0"/>
                    <a:pt x="60000" y="0"/>
                  </a:cubicBezTo>
                  <a:cubicBezTo>
                    <a:pt x="43431" y="0"/>
                    <a:pt x="30000" y="13431"/>
                    <a:pt x="30000" y="30000"/>
                  </a:cubicBezTo>
                  <a:cubicBezTo>
                    <a:pt x="30000" y="46569"/>
                    <a:pt x="43431" y="60000"/>
                    <a:pt x="60000" y="60000"/>
                  </a:cubicBezTo>
                </a:path>
              </a:pathLst>
            </a:custGeom>
            <a:solidFill>
              <a:srgbClr val="000000">
                <a:alpha val="0"/>
              </a:srgbClr>
            </a:solidFill>
            <a:ln cap="flat" cmpd="sng" w="11425">
              <a:solidFill>
                <a:srgbClr val="00E67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6" name="Google Shape;336;p23"/>
            <p:cNvSpPr txBox="1"/>
            <p:nvPr/>
          </p:nvSpPr>
          <p:spPr>
            <a:xfrm>
              <a:off x="419100" y="104775"/>
              <a:ext cx="10953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750">
                  <a:solidFill>
                    <a:srgbClr val="FFFFFF"/>
                  </a:solidFill>
                  <a:latin typeface="Space Grotesk"/>
                  <a:ea typeface="Space Grotesk"/>
                  <a:cs typeface="Space Grotesk"/>
                  <a:sym typeface="Space Grotesk"/>
                </a:rPr>
                <a:t>Agri-Assist AI</a:t>
              </a:r>
              <a:endParaRPr b="1" sz="750">
                <a:solidFill>
                  <a:srgbClr val="FFFFFF"/>
                </a:solidFill>
                <a:latin typeface="Space Grotesk"/>
                <a:ea typeface="Space Grotesk"/>
                <a:cs typeface="Space Grotesk"/>
                <a:sym typeface="Space Grotesk"/>
              </a:endParaRPr>
            </a:p>
            <a:p>
              <a:pPr indent="0" lvl="0" marL="0" rtl="0" algn="l">
                <a:spcBef>
                  <a:spcPts val="0"/>
                </a:spcBef>
                <a:spcAft>
                  <a:spcPts val="0"/>
                </a:spcAft>
                <a:buNone/>
              </a:pPr>
              <a:r>
                <a:rPr lang="en" sz="500">
                  <a:solidFill>
                    <a:srgbClr val="00E676"/>
                  </a:solidFill>
                  <a:latin typeface="Roboto Mono"/>
                  <a:ea typeface="Roboto Mono"/>
                  <a:cs typeface="Roboto Mono"/>
                  <a:sym typeface="Roboto Mono"/>
                </a:rPr>
                <a:t>● Multi-Turn Active</a:t>
              </a:r>
              <a:endParaRPr sz="500">
                <a:solidFill>
                  <a:srgbClr val="00E676"/>
                </a:solidFill>
                <a:latin typeface="Roboto Mono"/>
                <a:ea typeface="Roboto Mono"/>
                <a:cs typeface="Roboto Mono"/>
                <a:sym typeface="Roboto Mono"/>
              </a:endParaRPr>
            </a:p>
          </p:txBody>
        </p:sp>
        <p:sp>
          <p:nvSpPr>
            <p:cNvPr id="337" name="Google Shape;337;p23"/>
            <p:cNvSpPr/>
            <p:nvPr/>
          </p:nvSpPr>
          <p:spPr>
            <a:xfrm>
              <a:off x="114300" y="619125"/>
              <a:ext cx="1076400" cy="342900"/>
            </a:xfrm>
            <a:custGeom>
              <a:rect b="b" l="l" r="r" t="t"/>
              <a:pathLst>
                <a:path extrusionOk="0" h="120000" w="120000">
                  <a:moveTo>
                    <a:pt x="0" y="0"/>
                  </a:moveTo>
                  <a:lnTo>
                    <a:pt x="120000" y="0"/>
                  </a:lnTo>
                  <a:lnTo>
                    <a:pt x="120000" y="93333"/>
                  </a:lnTo>
                  <a:lnTo>
                    <a:pt x="8496" y="93333"/>
                  </a:lnTo>
                  <a:lnTo>
                    <a:pt x="0" y="120000"/>
                  </a:lnTo>
                  <a:close/>
                </a:path>
              </a:pathLst>
            </a:custGeom>
            <a:solidFill>
              <a:srgbClr val="151E23"/>
            </a:solidFill>
            <a:ln cap="flat" cmpd="sng" w="9525">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 name="Google Shape;338;p23"/>
            <p:cNvSpPr txBox="1"/>
            <p:nvPr/>
          </p:nvSpPr>
          <p:spPr>
            <a:xfrm>
              <a:off x="209550" y="666750"/>
              <a:ext cx="809700" cy="17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339" name="Google Shape;339;p23"/>
            <p:cNvSpPr txBox="1"/>
            <p:nvPr/>
          </p:nvSpPr>
          <p:spPr>
            <a:xfrm>
              <a:off x="952500" y="771525"/>
              <a:ext cx="209700" cy="954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 sz="388">
                  <a:solidFill>
                    <a:srgbClr val="29B6F6"/>
                  </a:solidFill>
                  <a:latin typeface="Roboto Mono"/>
                  <a:ea typeface="Roboto Mono"/>
                  <a:cs typeface="Roboto Mono"/>
                  <a:sym typeface="Roboto Mono"/>
                </a:rPr>
                <a:t>0:12 🔉</a:t>
              </a:r>
              <a:endParaRPr sz="388">
                <a:solidFill>
                  <a:srgbClr val="29B6F6"/>
                </a:solidFill>
                <a:latin typeface="Roboto Mono"/>
                <a:ea typeface="Roboto Mono"/>
                <a:cs typeface="Roboto Mono"/>
                <a:sym typeface="Roboto Mono"/>
              </a:endParaRPr>
            </a:p>
          </p:txBody>
        </p:sp>
        <p:sp>
          <p:nvSpPr>
            <p:cNvPr id="340" name="Google Shape;340;p23"/>
            <p:cNvSpPr/>
            <p:nvPr/>
          </p:nvSpPr>
          <p:spPr>
            <a:xfrm>
              <a:off x="523875" y="1095375"/>
              <a:ext cx="1076400" cy="647700"/>
            </a:xfrm>
            <a:custGeom>
              <a:rect b="b" l="l" r="r" t="t"/>
              <a:pathLst>
                <a:path extrusionOk="0" h="120000" w="120000">
                  <a:moveTo>
                    <a:pt x="120000" y="0"/>
                  </a:moveTo>
                  <a:lnTo>
                    <a:pt x="0" y="0"/>
                  </a:lnTo>
                  <a:lnTo>
                    <a:pt x="0" y="105882"/>
                  </a:lnTo>
                  <a:lnTo>
                    <a:pt x="111504" y="105882"/>
                  </a:lnTo>
                  <a:lnTo>
                    <a:pt x="120000" y="120000"/>
                  </a:lnTo>
                  <a:close/>
                </a:path>
              </a:pathLst>
            </a:custGeom>
            <a:solidFill>
              <a:srgbClr val="0B1114"/>
            </a:solidFill>
            <a:ln cap="flat" cmpd="sng" w="9525">
              <a:solidFill>
                <a:srgbClr val="00E67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1" name="Google Shape;341;p23"/>
            <p:cNvSpPr txBox="1"/>
            <p:nvPr/>
          </p:nvSpPr>
          <p:spPr>
            <a:xfrm>
              <a:off x="600075" y="1143000"/>
              <a:ext cx="924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600">
                  <a:solidFill>
                    <a:srgbClr val="00E676"/>
                  </a:solidFill>
                  <a:latin typeface="Space Grotesk"/>
                  <a:ea typeface="Space Grotesk"/>
                  <a:cs typeface="Space Grotesk"/>
                  <a:sym typeface="Space Grotesk"/>
                </a:rPr>
                <a:t>AI Clarification</a:t>
              </a:r>
              <a:endParaRPr b="1" sz="600">
                <a:solidFill>
                  <a:srgbClr val="00E676"/>
                </a:solidFill>
                <a:latin typeface="Space Grotesk"/>
                <a:ea typeface="Space Grotesk"/>
                <a:cs typeface="Space Grotesk"/>
                <a:sym typeface="Space Grotesk"/>
              </a:endParaRPr>
            </a:p>
            <a:p>
              <a:pPr indent="0" lvl="0" marL="0" rtl="0" algn="l">
                <a:spcBef>
                  <a:spcPts val="225"/>
                </a:spcBef>
                <a:spcAft>
                  <a:spcPts val="0"/>
                </a:spcAft>
                <a:buNone/>
              </a:pPr>
              <a:r>
                <a:rPr lang="en" sz="600">
                  <a:solidFill>
                    <a:srgbClr val="FFFFFF"/>
                  </a:solidFill>
                  <a:latin typeface="Inter"/>
                  <a:ea typeface="Inter"/>
                  <a:cs typeface="Inter"/>
                  <a:sym typeface="Inter"/>
                </a:rPr>
                <a:t>"Could you describe the specific leaf symptoms before we diagnose?"</a:t>
              </a:r>
              <a:endParaRPr sz="600">
                <a:solidFill>
                  <a:srgbClr val="FFFFFF"/>
                </a:solidFill>
                <a:latin typeface="Inter"/>
                <a:ea typeface="Inter"/>
                <a:cs typeface="Inter"/>
                <a:sym typeface="Inter"/>
              </a:endParaRPr>
            </a:p>
          </p:txBody>
        </p:sp>
        <p:grpSp>
          <p:nvGrpSpPr>
            <p:cNvPr id="342" name="Google Shape;342;p23"/>
            <p:cNvGrpSpPr/>
            <p:nvPr/>
          </p:nvGrpSpPr>
          <p:grpSpPr>
            <a:xfrm>
              <a:off x="95250" y="2238375"/>
              <a:ext cx="1524000" cy="476400"/>
              <a:chOff x="0" y="0"/>
              <a:chExt cx="1524000" cy="476400"/>
            </a:xfrm>
          </p:grpSpPr>
          <p:sp>
            <p:nvSpPr>
              <p:cNvPr id="343" name="Google Shape;343;p23"/>
              <p:cNvSpPr/>
              <p:nvPr/>
            </p:nvSpPr>
            <p:spPr>
              <a:xfrm>
                <a:off x="0" y="0"/>
                <a:ext cx="1524000" cy="476400"/>
              </a:xfrm>
              <a:prstGeom prst="roundRect">
                <a:avLst>
                  <a:gd fmla="val 16000" name="adj"/>
                </a:avLst>
              </a:prstGeom>
              <a:solidFill>
                <a:srgbClr val="151E23"/>
              </a:solidFill>
              <a:ln cap="flat" cmpd="sng" w="9525">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23"/>
              <p:cNvSpPr/>
              <p:nvPr/>
            </p:nvSpPr>
            <p:spPr>
              <a:xfrm>
                <a:off x="142875" y="95250"/>
                <a:ext cx="1143000" cy="142800"/>
              </a:xfrm>
              <a:custGeom>
                <a:rect b="b" l="l" r="r" t="t"/>
                <a:pathLst>
                  <a:path extrusionOk="0" h="120000" w="120000">
                    <a:moveTo>
                      <a:pt x="0" y="120000"/>
                    </a:moveTo>
                    <a:quadBezTo>
                      <a:pt x="20000" y="0"/>
                      <a:pt x="40000" y="120000"/>
                    </a:quadBezTo>
                    <a:lnTo>
                      <a:pt x="80000" y="120000"/>
                    </a:lnTo>
                    <a:lnTo>
                      <a:pt x="120000" y="120000"/>
                    </a:lnTo>
                  </a:path>
                </a:pathLst>
              </a:custGeom>
              <a:solidFill>
                <a:srgbClr val="000000">
                  <a:alpha val="0"/>
                </a:srgbClr>
              </a:solidFill>
              <a:ln cap="flat" cmpd="sng" w="14300">
                <a:solidFill>
                  <a:srgbClr val="00E67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45" name="Google Shape;345;p23"/>
              <p:cNvPicPr preferRelativeResize="0"/>
              <p:nvPr/>
            </p:nvPicPr>
            <p:blipFill rotWithShape="1">
              <a:blip r:embed="rId4">
                <a:alphaModFix/>
              </a:blip>
              <a:srcRect b="0" l="0" r="0" t="0"/>
              <a:stretch/>
            </p:blipFill>
            <p:spPr>
              <a:xfrm>
                <a:off x="138113" y="161925"/>
                <a:ext cx="1147800" cy="152400"/>
              </a:xfrm>
              <a:prstGeom prst="rect">
                <a:avLst/>
              </a:prstGeom>
              <a:noFill/>
              <a:ln>
                <a:noFill/>
              </a:ln>
            </p:spPr>
          </p:pic>
          <p:sp>
            <p:nvSpPr>
              <p:cNvPr id="346" name="Google Shape;346;p23"/>
              <p:cNvSpPr/>
              <p:nvPr/>
            </p:nvSpPr>
            <p:spPr>
              <a:xfrm>
                <a:off x="733425" y="209550"/>
                <a:ext cx="57300" cy="57300"/>
              </a:xfrm>
              <a:prstGeom prst="ellipse">
                <a:avLst/>
              </a:prstGeom>
              <a:solidFill>
                <a:srgbClr val="00E6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47" name="Google Shape;347;p23"/>
            <p:cNvSpPr txBox="1"/>
            <p:nvPr/>
          </p:nvSpPr>
          <p:spPr>
            <a:xfrm>
              <a:off x="95250" y="2781300"/>
              <a:ext cx="1524000" cy="11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600">
                  <a:solidFill>
                    <a:srgbClr val="B0BEC5"/>
                  </a:solidFill>
                  <a:latin typeface="Roboto Mono"/>
                  <a:ea typeface="Roboto Mono"/>
                  <a:cs typeface="Roboto Mono"/>
                  <a:sym typeface="Roboto Mono"/>
                </a:rPr>
                <a:t>Voice API Stack Active</a:t>
              </a:r>
              <a:endParaRPr sz="600">
                <a:solidFill>
                  <a:srgbClr val="B0BEC5"/>
                </a:solidFill>
                <a:latin typeface="Roboto Mono"/>
                <a:ea typeface="Roboto Mono"/>
                <a:cs typeface="Roboto Mono"/>
                <a:sym typeface="Roboto Mono"/>
              </a:endParaRPr>
            </a:p>
          </p:txBody>
        </p:sp>
      </p:grpSp>
      <p:grpSp>
        <p:nvGrpSpPr>
          <p:cNvPr id="348" name="Google Shape;348;p23"/>
          <p:cNvGrpSpPr/>
          <p:nvPr/>
        </p:nvGrpSpPr>
        <p:grpSpPr>
          <a:xfrm>
            <a:off x="6477000" y="1485900"/>
            <a:ext cx="190500" cy="2209950"/>
            <a:chOff x="6477000" y="1485900"/>
            <a:chExt cx="190500" cy="2209950"/>
          </a:xfrm>
        </p:grpSpPr>
        <p:pic>
          <p:nvPicPr>
            <p:cNvPr id="349" name="Google Shape;349;p23"/>
            <p:cNvPicPr preferRelativeResize="0"/>
            <p:nvPr/>
          </p:nvPicPr>
          <p:blipFill rotWithShape="1">
            <a:blip r:embed="rId5">
              <a:alphaModFix/>
            </a:blip>
            <a:srcRect b="0" l="0" r="0" t="0"/>
            <a:stretch/>
          </p:blipFill>
          <p:spPr>
            <a:xfrm>
              <a:off x="6477000" y="1485900"/>
              <a:ext cx="190500" cy="2190900"/>
            </a:xfrm>
            <a:prstGeom prst="rect">
              <a:avLst/>
            </a:prstGeom>
            <a:noFill/>
            <a:ln>
              <a:noFill/>
            </a:ln>
          </p:spPr>
        </p:pic>
        <p:pic>
          <p:nvPicPr>
            <p:cNvPr id="350" name="Google Shape;350;p23"/>
            <p:cNvPicPr preferRelativeResize="0"/>
            <p:nvPr/>
          </p:nvPicPr>
          <p:blipFill rotWithShape="1">
            <a:blip r:embed="rId6">
              <a:alphaModFix/>
            </a:blip>
            <a:srcRect b="0" l="0" r="0" t="0"/>
            <a:stretch/>
          </p:blipFill>
          <p:spPr>
            <a:xfrm>
              <a:off x="6591300" y="2057400"/>
              <a:ext cx="76200" cy="19200"/>
            </a:xfrm>
            <a:prstGeom prst="rect">
              <a:avLst/>
            </a:prstGeom>
            <a:noFill/>
            <a:ln>
              <a:noFill/>
            </a:ln>
          </p:spPr>
        </p:pic>
        <p:pic>
          <p:nvPicPr>
            <p:cNvPr id="351" name="Google Shape;351;p23"/>
            <p:cNvPicPr preferRelativeResize="0"/>
            <p:nvPr/>
          </p:nvPicPr>
          <p:blipFill rotWithShape="1">
            <a:blip r:embed="rId6">
              <a:alphaModFix/>
            </a:blip>
            <a:srcRect b="0" l="0" r="0" t="0"/>
            <a:stretch/>
          </p:blipFill>
          <p:spPr>
            <a:xfrm>
              <a:off x="6591300" y="2628900"/>
              <a:ext cx="76200" cy="19200"/>
            </a:xfrm>
            <a:prstGeom prst="rect">
              <a:avLst/>
            </a:prstGeom>
            <a:noFill/>
            <a:ln>
              <a:noFill/>
            </a:ln>
          </p:spPr>
        </p:pic>
        <p:pic>
          <p:nvPicPr>
            <p:cNvPr id="352" name="Google Shape;352;p23"/>
            <p:cNvPicPr preferRelativeResize="0"/>
            <p:nvPr/>
          </p:nvPicPr>
          <p:blipFill rotWithShape="1">
            <a:blip r:embed="rId7">
              <a:alphaModFix/>
            </a:blip>
            <a:srcRect b="0" l="0" r="0" t="0"/>
            <a:stretch/>
          </p:blipFill>
          <p:spPr>
            <a:xfrm>
              <a:off x="6562725" y="3638550"/>
              <a:ext cx="57300" cy="57300"/>
            </a:xfrm>
            <a:prstGeom prst="rect">
              <a:avLst/>
            </a:prstGeom>
            <a:noFill/>
            <a:ln>
              <a:noFill/>
            </a:ln>
          </p:spPr>
        </p:pic>
        <p:pic>
          <p:nvPicPr>
            <p:cNvPr id="353" name="Google Shape;353;p23"/>
            <p:cNvPicPr preferRelativeResize="0"/>
            <p:nvPr/>
          </p:nvPicPr>
          <p:blipFill rotWithShape="1">
            <a:blip r:embed="rId8">
              <a:alphaModFix/>
            </a:blip>
            <a:srcRect b="0" l="0" r="0" t="0"/>
            <a:stretch/>
          </p:blipFill>
          <p:spPr>
            <a:xfrm>
              <a:off x="6572250" y="2047875"/>
              <a:ext cx="38100" cy="38100"/>
            </a:xfrm>
            <a:prstGeom prst="rect">
              <a:avLst/>
            </a:prstGeom>
            <a:noFill/>
            <a:ln>
              <a:noFill/>
            </a:ln>
          </p:spPr>
        </p:pic>
        <p:pic>
          <p:nvPicPr>
            <p:cNvPr id="354" name="Google Shape;354;p23"/>
            <p:cNvPicPr preferRelativeResize="0"/>
            <p:nvPr/>
          </p:nvPicPr>
          <p:blipFill rotWithShape="1">
            <a:blip r:embed="rId8">
              <a:alphaModFix/>
            </a:blip>
            <a:srcRect b="0" l="0" r="0" t="0"/>
            <a:stretch/>
          </p:blipFill>
          <p:spPr>
            <a:xfrm>
              <a:off x="6572250" y="2619375"/>
              <a:ext cx="38100" cy="38100"/>
            </a:xfrm>
            <a:prstGeom prst="rect">
              <a:avLst/>
            </a:prstGeom>
            <a:noFill/>
            <a:ln>
              <a:noFill/>
            </a:ln>
          </p:spPr>
        </p:pic>
      </p:grpSp>
      <p:sp>
        <p:nvSpPr>
          <p:cNvPr id="355" name="Google Shape;355;p23"/>
          <p:cNvSpPr txBox="1"/>
          <p:nvPr/>
        </p:nvSpPr>
        <p:spPr>
          <a:xfrm>
            <a:off x="6667500" y="1162050"/>
            <a:ext cx="1619100" cy="14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29B6F6"/>
                </a:solidFill>
                <a:latin typeface="Roboto Mono Medium"/>
                <a:ea typeface="Roboto Mono Medium"/>
                <a:cs typeface="Roboto Mono Medium"/>
                <a:sym typeface="Roboto Mono Medium"/>
              </a:rPr>
              <a:t>Speech-to-Text Stack</a:t>
            </a:r>
            <a:endParaRPr b="0" sz="750">
              <a:solidFill>
                <a:srgbClr val="29B6F6"/>
              </a:solidFill>
              <a:latin typeface="Roboto Mono Medium"/>
              <a:ea typeface="Roboto Mono Medium"/>
              <a:cs typeface="Roboto Mono Medium"/>
              <a:sym typeface="Roboto Mono Medium"/>
            </a:endParaRPr>
          </a:p>
        </p:txBody>
      </p:sp>
      <p:grpSp>
        <p:nvGrpSpPr>
          <p:cNvPr id="356" name="Google Shape;356;p23"/>
          <p:cNvGrpSpPr/>
          <p:nvPr/>
        </p:nvGrpSpPr>
        <p:grpSpPr>
          <a:xfrm>
            <a:off x="6667500" y="1333500"/>
            <a:ext cx="1619100" cy="324000"/>
            <a:chOff x="0" y="0"/>
            <a:chExt cx="1619100" cy="324000"/>
          </a:xfrm>
        </p:grpSpPr>
        <p:sp>
          <p:nvSpPr>
            <p:cNvPr id="357" name="Google Shape;357;p23"/>
            <p:cNvSpPr/>
            <p:nvPr/>
          </p:nvSpPr>
          <p:spPr>
            <a:xfrm>
              <a:off x="0" y="0"/>
              <a:ext cx="1619100" cy="324000"/>
            </a:xfrm>
            <a:prstGeom prst="roundRect">
              <a:avLst>
                <a:gd fmla="val 50000" name="adj"/>
              </a:avLst>
            </a:prstGeom>
            <a:solidFill>
              <a:srgbClr val="151E23"/>
            </a:solidFill>
            <a:ln cap="flat" cmpd="sng" w="9525">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 name="Google Shape;358;p23"/>
            <p:cNvSpPr/>
            <p:nvPr/>
          </p:nvSpPr>
          <p:spPr>
            <a:xfrm>
              <a:off x="0" y="0"/>
              <a:ext cx="38100" cy="324000"/>
            </a:xfrm>
            <a:prstGeom prst="roundRect">
              <a:avLst>
                <a:gd fmla="val 50000" name="adj"/>
              </a:avLst>
            </a:prstGeom>
            <a:solidFill>
              <a:srgbClr val="00E6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9" name="Google Shape;359;p23"/>
            <p:cNvSpPr txBox="1"/>
            <p:nvPr/>
          </p:nvSpPr>
          <p:spPr>
            <a:xfrm>
              <a:off x="95250" y="19050"/>
              <a:ext cx="1428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50">
                  <a:solidFill>
                    <a:srgbClr val="FFFFFF"/>
                  </a:solidFill>
                  <a:latin typeface="Roboto Mono Medium"/>
                  <a:ea typeface="Roboto Mono Medium"/>
                  <a:cs typeface="Roboto Mono Medium"/>
                  <a:sym typeface="Roboto Mono Medium"/>
                </a:rPr>
                <a:t>IndicWhisper STT</a:t>
              </a:r>
              <a:endParaRPr/>
            </a:p>
          </p:txBody>
        </p:sp>
      </p:grpSp>
      <p:sp>
        <p:nvSpPr>
          <p:cNvPr id="360" name="Google Shape;360;p23"/>
          <p:cNvSpPr txBox="1"/>
          <p:nvPr/>
        </p:nvSpPr>
        <p:spPr>
          <a:xfrm>
            <a:off x="6667500" y="1733550"/>
            <a:ext cx="1619100" cy="14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29B6F6"/>
                </a:solidFill>
                <a:latin typeface="Roboto Mono Medium"/>
                <a:ea typeface="Roboto Mono Medium"/>
                <a:cs typeface="Roboto Mono Medium"/>
                <a:sym typeface="Roboto Mono Medium"/>
              </a:rPr>
              <a:t>Fast Audio Synthesis</a:t>
            </a:r>
            <a:endParaRPr b="0" sz="750">
              <a:solidFill>
                <a:srgbClr val="29B6F6"/>
              </a:solidFill>
              <a:latin typeface="Roboto Mono Medium"/>
              <a:ea typeface="Roboto Mono Medium"/>
              <a:cs typeface="Roboto Mono Medium"/>
              <a:sym typeface="Roboto Mono Medium"/>
            </a:endParaRPr>
          </a:p>
        </p:txBody>
      </p:sp>
      <p:grpSp>
        <p:nvGrpSpPr>
          <p:cNvPr id="361" name="Google Shape;361;p23"/>
          <p:cNvGrpSpPr/>
          <p:nvPr/>
        </p:nvGrpSpPr>
        <p:grpSpPr>
          <a:xfrm>
            <a:off x="6667500" y="1905000"/>
            <a:ext cx="1619100" cy="324000"/>
            <a:chOff x="0" y="0"/>
            <a:chExt cx="1619100" cy="324000"/>
          </a:xfrm>
        </p:grpSpPr>
        <p:sp>
          <p:nvSpPr>
            <p:cNvPr id="362" name="Google Shape;362;p23"/>
            <p:cNvSpPr/>
            <p:nvPr/>
          </p:nvSpPr>
          <p:spPr>
            <a:xfrm>
              <a:off x="0" y="0"/>
              <a:ext cx="1619100" cy="324000"/>
            </a:xfrm>
            <a:prstGeom prst="roundRect">
              <a:avLst>
                <a:gd fmla="val 50000" name="adj"/>
              </a:avLst>
            </a:prstGeom>
            <a:solidFill>
              <a:srgbClr val="151E23"/>
            </a:solidFill>
            <a:ln cap="flat" cmpd="sng" w="9525">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3" name="Google Shape;363;p23"/>
            <p:cNvSpPr/>
            <p:nvPr/>
          </p:nvSpPr>
          <p:spPr>
            <a:xfrm>
              <a:off x="0" y="0"/>
              <a:ext cx="38100" cy="324000"/>
            </a:xfrm>
            <a:prstGeom prst="roundRect">
              <a:avLst>
                <a:gd fmla="val 50000" name="adj"/>
              </a:avLst>
            </a:prstGeom>
            <a:solidFill>
              <a:srgbClr val="00E6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4" name="Google Shape;364;p23"/>
            <p:cNvSpPr txBox="1"/>
            <p:nvPr/>
          </p:nvSpPr>
          <p:spPr>
            <a:xfrm>
              <a:off x="95250" y="19050"/>
              <a:ext cx="1428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50">
                  <a:solidFill>
                    <a:srgbClr val="FFFFFF"/>
                  </a:solidFill>
                  <a:latin typeface="Roboto Mono Medium"/>
                  <a:ea typeface="Roboto Mono Medium"/>
                  <a:cs typeface="Roboto Mono Medium"/>
                  <a:sym typeface="Roboto Mono Medium"/>
                </a:rPr>
                <a:t>Kokoro-82M</a:t>
              </a:r>
              <a:endParaRPr/>
            </a:p>
          </p:txBody>
        </p:sp>
      </p:grpSp>
      <p:sp>
        <p:nvSpPr>
          <p:cNvPr id="365" name="Google Shape;365;p23"/>
          <p:cNvSpPr txBox="1"/>
          <p:nvPr/>
        </p:nvSpPr>
        <p:spPr>
          <a:xfrm>
            <a:off x="6667500" y="2305050"/>
            <a:ext cx="1619100" cy="14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29B6F6"/>
                </a:solidFill>
                <a:latin typeface="Roboto Mono Medium"/>
                <a:ea typeface="Roboto Mono Medium"/>
                <a:cs typeface="Roboto Mono Medium"/>
                <a:sym typeface="Roboto Mono Medium"/>
              </a:rPr>
              <a:t>Text-to-Speech Stack</a:t>
            </a:r>
            <a:endParaRPr b="0" sz="750">
              <a:solidFill>
                <a:srgbClr val="29B6F6"/>
              </a:solidFill>
              <a:latin typeface="Roboto Mono Medium"/>
              <a:ea typeface="Roboto Mono Medium"/>
              <a:cs typeface="Roboto Mono Medium"/>
              <a:sym typeface="Roboto Mono Medium"/>
            </a:endParaRPr>
          </a:p>
        </p:txBody>
      </p:sp>
      <p:grpSp>
        <p:nvGrpSpPr>
          <p:cNvPr id="366" name="Google Shape;366;p23"/>
          <p:cNvGrpSpPr/>
          <p:nvPr/>
        </p:nvGrpSpPr>
        <p:grpSpPr>
          <a:xfrm>
            <a:off x="6667500" y="2476500"/>
            <a:ext cx="1619100" cy="324000"/>
            <a:chOff x="0" y="0"/>
            <a:chExt cx="1619100" cy="324000"/>
          </a:xfrm>
        </p:grpSpPr>
        <p:sp>
          <p:nvSpPr>
            <p:cNvPr id="367" name="Google Shape;367;p23"/>
            <p:cNvSpPr/>
            <p:nvPr/>
          </p:nvSpPr>
          <p:spPr>
            <a:xfrm>
              <a:off x="0" y="0"/>
              <a:ext cx="1619100" cy="324000"/>
            </a:xfrm>
            <a:prstGeom prst="roundRect">
              <a:avLst>
                <a:gd fmla="val 50000" name="adj"/>
              </a:avLst>
            </a:prstGeom>
            <a:solidFill>
              <a:srgbClr val="151E23"/>
            </a:solidFill>
            <a:ln cap="flat" cmpd="sng" w="9525">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8" name="Google Shape;368;p23"/>
            <p:cNvSpPr/>
            <p:nvPr/>
          </p:nvSpPr>
          <p:spPr>
            <a:xfrm>
              <a:off x="0" y="0"/>
              <a:ext cx="38100" cy="324000"/>
            </a:xfrm>
            <a:prstGeom prst="roundRect">
              <a:avLst>
                <a:gd fmla="val 50000" name="adj"/>
              </a:avLst>
            </a:prstGeom>
            <a:solidFill>
              <a:srgbClr val="00E6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23"/>
            <p:cNvSpPr txBox="1"/>
            <p:nvPr/>
          </p:nvSpPr>
          <p:spPr>
            <a:xfrm>
              <a:off x="95250" y="19050"/>
              <a:ext cx="1428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50">
                  <a:solidFill>
                    <a:srgbClr val="FFFFFF"/>
                  </a:solidFill>
                  <a:latin typeface="Roboto Mono Medium"/>
                  <a:ea typeface="Roboto Mono Medium"/>
                  <a:cs typeface="Roboto Mono Medium"/>
                  <a:sym typeface="Roboto Mono Medium"/>
                </a:rPr>
                <a:t>Sarvam TTS</a:t>
              </a:r>
              <a:endParaRPr/>
            </a:p>
          </p:txBody>
        </p:sp>
      </p:grpSp>
      <p:grpSp>
        <p:nvGrpSpPr>
          <p:cNvPr id="370" name="Google Shape;370;p23"/>
          <p:cNvGrpSpPr/>
          <p:nvPr/>
        </p:nvGrpSpPr>
        <p:grpSpPr>
          <a:xfrm>
            <a:off x="381000" y="4857750"/>
            <a:ext cx="8382000" cy="238125"/>
            <a:chOff x="381000" y="4857750"/>
            <a:chExt cx="8382000" cy="238125"/>
          </a:xfrm>
        </p:grpSpPr>
        <p:cxnSp>
          <p:nvCxnSpPr>
            <p:cNvPr id="371" name="Google Shape;371;p23"/>
            <p:cNvCxnSpPr/>
            <p:nvPr/>
          </p:nvCxnSpPr>
          <p:spPr>
            <a:xfrm>
              <a:off x="381000" y="48577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sp>
          <p:nvSpPr>
            <p:cNvPr id="372" name="Google Shape;372;p23"/>
            <p:cNvSpPr txBox="1"/>
            <p:nvPr/>
          </p:nvSpPr>
          <p:spPr>
            <a:xfrm>
              <a:off x="381000" y="4905375"/>
              <a:ext cx="3810000" cy="190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i="0" lang="en" sz="800" u="none" strike="noStrike">
                  <a:solidFill>
                    <a:srgbClr val="2A3B47"/>
                  </a:solidFill>
                  <a:latin typeface="Roboto Mono Medium"/>
                  <a:ea typeface="Roboto Mono Medium"/>
                  <a:cs typeface="Roboto Mono Medium"/>
                  <a:sym typeface="Roboto Mono Medium"/>
                </a:rPr>
                <a:t>AUTONOMOUS MULTIMODAL ROUTING ARCHITECTURE</a:t>
              </a:r>
              <a:endParaRPr b="0" i="0" sz="800" u="none" strike="noStrike">
                <a:solidFill>
                  <a:srgbClr val="2A3B47"/>
                </a:solidFill>
                <a:latin typeface="Roboto Mono Medium"/>
                <a:ea typeface="Roboto Mono Medium"/>
                <a:cs typeface="Roboto Mono Medium"/>
                <a:sym typeface="Roboto Mono Medium"/>
              </a:endParaRPr>
            </a:p>
          </p:txBody>
        </p:sp>
        <p:sp>
          <p:nvSpPr>
            <p:cNvPr id="373" name="Google Shape;373;p23"/>
            <p:cNvSpPr txBox="1"/>
            <p:nvPr/>
          </p:nvSpPr>
          <p:spPr>
            <a:xfrm>
              <a:off x="7810500" y="4905375"/>
              <a:ext cx="952500" cy="1905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ctr">
                <a:spcBef>
                  <a:spcPts val="0"/>
                </a:spcBef>
                <a:spcAft>
                  <a:spcPts val="0"/>
                </a:spcAft>
                <a:buNone/>
              </a:pPr>
              <a:r>
                <a:rPr b="0" i="0" lang="en" sz="800" u="none" strike="noStrike">
                  <a:solidFill>
                    <a:srgbClr val="2A3B47"/>
                  </a:solidFill>
                  <a:latin typeface="Roboto Mono Medium"/>
                  <a:ea typeface="Roboto Mono Medium"/>
                  <a:cs typeface="Roboto Mono Medium"/>
                  <a:sym typeface="Roboto Mono Medium"/>
                </a:rPr>
                <a:t>2026-07-01</a:t>
              </a:r>
              <a:endParaRPr b="0" i="0" sz="800" u="none" strike="noStrike">
                <a:solidFill>
                  <a:srgbClr val="2A3B47"/>
                </a:solidFill>
                <a:latin typeface="Roboto Mono Medium"/>
                <a:ea typeface="Roboto Mono Medium"/>
                <a:cs typeface="Roboto Mono Medium"/>
                <a:sym typeface="Roboto Mono Medium"/>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4"/>
          <p:cNvSpPr/>
          <p:nvPr/>
        </p:nvSpPr>
        <p:spPr>
          <a:xfrm>
            <a:off x="0" y="0"/>
            <a:ext cx="9144000" cy="5143500"/>
          </a:xfrm>
          <a:prstGeom prst="rect">
            <a:avLst/>
          </a:prstGeom>
          <a:solidFill>
            <a:srgbClr val="0B11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79" name="Google Shape;379;p24"/>
          <p:cNvPicPr preferRelativeResize="0"/>
          <p:nvPr/>
        </p:nvPicPr>
        <p:blipFill rotWithShape="1">
          <a:blip r:embed="rId3">
            <a:alphaModFix/>
          </a:blip>
          <a:srcRect b="0" l="0" r="0" t="0"/>
          <a:stretch/>
        </p:blipFill>
        <p:spPr>
          <a:xfrm>
            <a:off x="16149" y="0"/>
            <a:ext cx="9144000" cy="5143500"/>
          </a:xfrm>
          <a:prstGeom prst="rect">
            <a:avLst/>
          </a:prstGeom>
          <a:noFill/>
          <a:ln>
            <a:noFill/>
          </a:ln>
        </p:spPr>
      </p:pic>
      <p:grpSp>
        <p:nvGrpSpPr>
          <p:cNvPr id="380" name="Google Shape;380;p24"/>
          <p:cNvGrpSpPr/>
          <p:nvPr/>
        </p:nvGrpSpPr>
        <p:grpSpPr>
          <a:xfrm>
            <a:off x="381000" y="4857750"/>
            <a:ext cx="8382000" cy="238125"/>
            <a:chOff x="381000" y="4857750"/>
            <a:chExt cx="8382000" cy="238125"/>
          </a:xfrm>
        </p:grpSpPr>
        <p:cxnSp>
          <p:nvCxnSpPr>
            <p:cNvPr id="381" name="Google Shape;381;p24"/>
            <p:cNvCxnSpPr/>
            <p:nvPr/>
          </p:nvCxnSpPr>
          <p:spPr>
            <a:xfrm>
              <a:off x="381000" y="48577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sp>
          <p:nvSpPr>
            <p:cNvPr id="382" name="Google Shape;382;p24"/>
            <p:cNvSpPr txBox="1"/>
            <p:nvPr/>
          </p:nvSpPr>
          <p:spPr>
            <a:xfrm>
              <a:off x="381000" y="4905375"/>
              <a:ext cx="4286400" cy="190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i="0" lang="en" sz="800" u="none" strike="noStrike">
                  <a:solidFill>
                    <a:srgbClr val="2A3B47"/>
                  </a:solidFill>
                  <a:latin typeface="Roboto Mono Medium"/>
                  <a:ea typeface="Roboto Mono Medium"/>
                  <a:cs typeface="Roboto Mono Medium"/>
                  <a:sym typeface="Roboto Mono Medium"/>
                </a:rPr>
                <a:t>AUTONOMOUS MULTIMODAL ROUTING ARCHITECTURE</a:t>
              </a:r>
              <a:endParaRPr b="0" i="0" sz="800" u="none" strike="noStrike">
                <a:solidFill>
                  <a:srgbClr val="2A3B47"/>
                </a:solidFill>
                <a:latin typeface="Roboto Mono Medium"/>
                <a:ea typeface="Roboto Mono Medium"/>
                <a:cs typeface="Roboto Mono Medium"/>
                <a:sym typeface="Roboto Mono Medium"/>
              </a:endParaRPr>
            </a:p>
          </p:txBody>
        </p:sp>
        <p:sp>
          <p:nvSpPr>
            <p:cNvPr id="383" name="Google Shape;383;p24"/>
            <p:cNvSpPr txBox="1"/>
            <p:nvPr/>
          </p:nvSpPr>
          <p:spPr>
            <a:xfrm>
              <a:off x="7810500" y="4905375"/>
              <a:ext cx="952500" cy="1905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ctr">
                <a:spcBef>
                  <a:spcPts val="0"/>
                </a:spcBef>
                <a:spcAft>
                  <a:spcPts val="0"/>
                </a:spcAft>
                <a:buNone/>
              </a:pPr>
              <a:r>
                <a:rPr b="0" i="0" lang="en" sz="800" u="none" strike="noStrike">
                  <a:solidFill>
                    <a:srgbClr val="2A3B47"/>
                  </a:solidFill>
                  <a:latin typeface="Roboto Mono Medium"/>
                  <a:ea typeface="Roboto Mono Medium"/>
                  <a:cs typeface="Roboto Mono Medium"/>
                  <a:sym typeface="Roboto Mono Medium"/>
                </a:rPr>
                <a:t>JULY 2026</a:t>
              </a:r>
              <a:endParaRPr b="0" i="0" sz="800" u="none" strike="noStrike">
                <a:solidFill>
                  <a:srgbClr val="2A3B47"/>
                </a:solidFill>
                <a:latin typeface="Roboto Mono Medium"/>
                <a:ea typeface="Roboto Mono Medium"/>
                <a:cs typeface="Roboto Mono Medium"/>
                <a:sym typeface="Roboto Mono Medium"/>
              </a:endParaRPr>
            </a:p>
          </p:txBody>
        </p:sp>
      </p:grpSp>
      <p:grpSp>
        <p:nvGrpSpPr>
          <p:cNvPr id="384" name="Google Shape;384;p24"/>
          <p:cNvGrpSpPr/>
          <p:nvPr/>
        </p:nvGrpSpPr>
        <p:grpSpPr>
          <a:xfrm>
            <a:off x="381000" y="381000"/>
            <a:ext cx="8382000" cy="476400"/>
            <a:chOff x="381000" y="381000"/>
            <a:chExt cx="8382000" cy="476400"/>
          </a:xfrm>
        </p:grpSpPr>
        <p:sp>
          <p:nvSpPr>
            <p:cNvPr id="385" name="Google Shape;385;p24"/>
            <p:cNvSpPr txBox="1"/>
            <p:nvPr/>
          </p:nvSpPr>
          <p:spPr>
            <a:xfrm>
              <a:off x="381000" y="381000"/>
              <a:ext cx="83820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2400" u="none" strike="noStrike">
                  <a:solidFill>
                    <a:srgbClr val="FFFFFF"/>
                  </a:solidFill>
                  <a:latin typeface="Space Grotesk"/>
                  <a:ea typeface="Space Grotesk"/>
                  <a:cs typeface="Space Grotesk"/>
                  <a:sym typeface="Space Grotesk"/>
                </a:rPr>
                <a:t>PROPOSED ARCHITECTURE &amp; MILESTONE 1 SCOPE</a:t>
              </a:r>
              <a:endParaRPr b="1" i="0" sz="2400" u="none" strike="noStrike">
                <a:solidFill>
                  <a:srgbClr val="FFFFFF"/>
                </a:solidFill>
                <a:latin typeface="Space Grotesk"/>
                <a:ea typeface="Space Grotesk"/>
                <a:cs typeface="Space Grotesk"/>
                <a:sym typeface="Space Grotesk"/>
              </a:endParaRPr>
            </a:p>
          </p:txBody>
        </p:sp>
        <p:cxnSp>
          <p:nvCxnSpPr>
            <p:cNvPr id="386" name="Google Shape;386;p24"/>
            <p:cNvCxnSpPr/>
            <p:nvPr/>
          </p:nvCxnSpPr>
          <p:spPr>
            <a:xfrm>
              <a:off x="381000" y="8572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grpSp>
      <p:sp>
        <p:nvSpPr>
          <p:cNvPr id="387" name="Google Shape;387;p24"/>
          <p:cNvSpPr txBox="1"/>
          <p:nvPr/>
        </p:nvSpPr>
        <p:spPr>
          <a:xfrm>
            <a:off x="381000" y="1143000"/>
            <a:ext cx="83820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B0BEC5"/>
                </a:solidFill>
                <a:latin typeface="Inter"/>
                <a:ea typeface="Inter"/>
                <a:cs typeface="Inter"/>
                <a:sym typeface="Inter"/>
              </a:rPr>
              <a:t>The proposed architecture significantly outperforms existing baselines by synthesizing their isolated strengths into a single, cohesive platform.</a:t>
            </a:r>
            <a:endParaRPr b="0" sz="1400">
              <a:solidFill>
                <a:srgbClr val="B0BEC5"/>
              </a:solidFill>
              <a:latin typeface="Inter"/>
              <a:ea typeface="Inter"/>
              <a:cs typeface="Inter"/>
              <a:sym typeface="Inter"/>
            </a:endParaRPr>
          </a:p>
          <a:p>
            <a:pPr indent="0" lvl="0" marL="0" rtl="0" algn="l">
              <a:spcBef>
                <a:spcPts val="900"/>
              </a:spcBef>
              <a:spcAft>
                <a:spcPts val="0"/>
              </a:spcAft>
              <a:buNone/>
            </a:pPr>
            <a:r>
              <a:rPr b="0" lang="en" sz="1400">
                <a:solidFill>
                  <a:srgbClr val="B0BEC5"/>
                </a:solidFill>
                <a:latin typeface="Inter"/>
                <a:ea typeface="Inter"/>
                <a:cs typeface="Inter"/>
                <a:sym typeface="Inter"/>
              </a:rPr>
              <a:t>While </a:t>
            </a:r>
            <a:r>
              <a:rPr b="0" lang="en" sz="1400">
                <a:solidFill>
                  <a:srgbClr val="29B6F6"/>
                </a:solidFill>
                <a:latin typeface="Inter Medium"/>
                <a:ea typeface="Inter Medium"/>
                <a:cs typeface="Inter Medium"/>
                <a:sym typeface="Inter Medium"/>
              </a:rPr>
              <a:t>KisanQRS</a:t>
            </a:r>
            <a:r>
              <a:rPr b="0" lang="en" sz="1400">
                <a:solidFill>
                  <a:srgbClr val="B0BEC5"/>
                </a:solidFill>
                <a:latin typeface="Inter"/>
                <a:ea typeface="Inter"/>
                <a:cs typeface="Inter"/>
                <a:sym typeface="Inter"/>
              </a:rPr>
              <a:t> excels at clustering historical logs, it lacks generative capacity, vision, and live APIs. </a:t>
            </a:r>
            <a:r>
              <a:rPr b="0" lang="en" sz="1400">
                <a:solidFill>
                  <a:srgbClr val="29B6F6"/>
                </a:solidFill>
                <a:latin typeface="Inter Medium"/>
                <a:ea typeface="Inter Medium"/>
                <a:cs typeface="Inter Medium"/>
                <a:sym typeface="Inter Medium"/>
              </a:rPr>
              <a:t>ReadyTensor</a:t>
            </a:r>
            <a:r>
              <a:rPr b="0" lang="en" sz="1400">
                <a:solidFill>
                  <a:srgbClr val="B0BEC5"/>
                </a:solidFill>
                <a:latin typeface="Inter"/>
                <a:ea typeface="Inter"/>
                <a:cs typeface="Inter"/>
                <a:sym typeface="Inter"/>
              </a:rPr>
              <a:t>'s Agentic AI offers excellent vision and RAG but critically lacks Indian vernacular grounding. </a:t>
            </a:r>
            <a:r>
              <a:rPr b="0" lang="en" sz="1400">
                <a:solidFill>
                  <a:srgbClr val="29B6F6"/>
                </a:solidFill>
                <a:latin typeface="Inter Medium"/>
                <a:ea typeface="Inter Medium"/>
                <a:cs typeface="Inter Medium"/>
                <a:sym typeface="Inter Medium"/>
              </a:rPr>
              <a:t>Krishi Sathi</a:t>
            </a:r>
            <a:r>
              <a:rPr b="0" lang="en" sz="1400">
                <a:solidFill>
                  <a:srgbClr val="B0BEC5"/>
                </a:solidFill>
                <a:latin typeface="Inter"/>
                <a:ea typeface="Inter"/>
                <a:cs typeface="Inter"/>
                <a:sym typeface="Inter"/>
              </a:rPr>
              <a:t> provides strong multi-turn dialogue but fails in field-tested computer vision. </a:t>
            </a:r>
            <a:r>
              <a:rPr b="0" lang="en" sz="1400">
                <a:solidFill>
                  <a:srgbClr val="00E676"/>
                </a:solidFill>
                <a:latin typeface="Inter SemiBold"/>
                <a:ea typeface="Inter SemiBold"/>
                <a:cs typeface="Inter SemiBold"/>
                <a:sym typeface="Inter SemiBold"/>
              </a:rPr>
              <a:t>Our architecture</a:t>
            </a:r>
            <a:r>
              <a:rPr b="0" lang="en" sz="1400">
                <a:solidFill>
                  <a:srgbClr val="B0BEC5"/>
                </a:solidFill>
                <a:latin typeface="Inter"/>
                <a:ea typeface="Inter"/>
                <a:cs typeface="Inter"/>
                <a:sym typeface="Inter"/>
              </a:rPr>
              <a:t> resolves these gaps entirely.</a:t>
            </a:r>
            <a:endParaRPr b="0" sz="1400">
              <a:solidFill>
                <a:srgbClr val="B0BEC5"/>
              </a:solidFill>
              <a:latin typeface="Inter"/>
              <a:ea typeface="Inter"/>
              <a:cs typeface="Inter"/>
              <a:sym typeface="Inter"/>
            </a:endParaRPr>
          </a:p>
        </p:txBody>
      </p:sp>
      <p:grpSp>
        <p:nvGrpSpPr>
          <p:cNvPr id="388" name="Google Shape;388;p24"/>
          <p:cNvGrpSpPr/>
          <p:nvPr/>
        </p:nvGrpSpPr>
        <p:grpSpPr>
          <a:xfrm>
            <a:off x="381000" y="3000375"/>
            <a:ext cx="8381925" cy="619200"/>
            <a:chOff x="0" y="0"/>
            <a:chExt cx="8381925" cy="619200"/>
          </a:xfrm>
        </p:grpSpPr>
        <p:sp>
          <p:nvSpPr>
            <p:cNvPr id="389" name="Google Shape;389;p24"/>
            <p:cNvSpPr/>
            <p:nvPr/>
          </p:nvSpPr>
          <p:spPr>
            <a:xfrm>
              <a:off x="0" y="76200"/>
              <a:ext cx="76200" cy="76200"/>
            </a:xfrm>
            <a:prstGeom prst="rect">
              <a:avLst/>
            </a:prstGeom>
            <a:solidFill>
              <a:srgbClr val="00E6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0" name="Google Shape;390;p24"/>
            <p:cNvSpPr txBox="1"/>
            <p:nvPr/>
          </p:nvSpPr>
          <p:spPr>
            <a:xfrm>
              <a:off x="238125" y="0"/>
              <a:ext cx="81438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00E676"/>
                  </a:solidFill>
                  <a:latin typeface="Space Grotesk SemiBold"/>
                  <a:ea typeface="Space Grotesk SemiBold"/>
                  <a:cs typeface="Space Grotesk SemiBold"/>
                  <a:sym typeface="Space Grotesk SemiBold"/>
                </a:rPr>
                <a:t>IN-SCOPE:</a:t>
              </a:r>
              <a:r>
                <a:rPr b="0" lang="en" sz="1400">
                  <a:solidFill>
                    <a:srgbClr val="B0BEC5"/>
                  </a:solidFill>
                  <a:latin typeface="Inter"/>
                  <a:ea typeface="Inter"/>
                  <a:cs typeface="Inter"/>
                  <a:sym typeface="Inter"/>
                </a:rPr>
                <a:t> Multimodal Ingestion, ChromaDB RAG, Agmarknet API, multi-turn voice dialogue UX under 3s latency.</a:t>
              </a:r>
              <a:endParaRPr b="0" sz="1400">
                <a:solidFill>
                  <a:srgbClr val="B0BEC5"/>
                </a:solidFill>
                <a:latin typeface="Inter"/>
                <a:ea typeface="Inter"/>
                <a:cs typeface="Inter"/>
                <a:sym typeface="Inter"/>
              </a:endParaRPr>
            </a:p>
          </p:txBody>
        </p:sp>
      </p:grpSp>
      <p:grpSp>
        <p:nvGrpSpPr>
          <p:cNvPr id="391" name="Google Shape;391;p24"/>
          <p:cNvGrpSpPr/>
          <p:nvPr/>
        </p:nvGrpSpPr>
        <p:grpSpPr>
          <a:xfrm>
            <a:off x="381000" y="3714750"/>
            <a:ext cx="8381925" cy="619200"/>
            <a:chOff x="0" y="0"/>
            <a:chExt cx="8381925" cy="619200"/>
          </a:xfrm>
        </p:grpSpPr>
        <p:sp>
          <p:nvSpPr>
            <p:cNvPr id="392" name="Google Shape;392;p24"/>
            <p:cNvSpPr/>
            <p:nvPr/>
          </p:nvSpPr>
          <p:spPr>
            <a:xfrm>
              <a:off x="0" y="76200"/>
              <a:ext cx="76200" cy="76200"/>
            </a:xfrm>
            <a:prstGeom prst="rect">
              <a:avLst/>
            </a:prstGeom>
            <a:solidFill>
              <a:srgbClr val="FF525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p24"/>
            <p:cNvSpPr txBox="1"/>
            <p:nvPr/>
          </p:nvSpPr>
          <p:spPr>
            <a:xfrm>
              <a:off x="238125" y="0"/>
              <a:ext cx="81438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FF5252"/>
                  </a:solidFill>
                  <a:latin typeface="Space Grotesk SemiBold"/>
                  <a:ea typeface="Space Grotesk SemiBold"/>
                  <a:cs typeface="Space Grotesk SemiBold"/>
                  <a:sym typeface="Space Grotesk SemiBold"/>
                </a:rPr>
                <a:t>OUT-OF-SCOPE:</a:t>
              </a:r>
              <a:r>
                <a:rPr b="0" lang="en" sz="1400">
                  <a:solidFill>
                    <a:srgbClr val="B0BEC5"/>
                  </a:solidFill>
                  <a:latin typeface="Inter"/>
                  <a:ea typeface="Inter"/>
                  <a:cs typeface="Inter"/>
                  <a:sym typeface="Inter"/>
                </a:rPr>
                <a:t> Drone actuation, live video analysis, local LLM deployment, legal dispute handling, and automated sensor calibration.</a:t>
              </a:r>
              <a:endParaRPr b="0" sz="1400">
                <a:solidFill>
                  <a:srgbClr val="B0BEC5"/>
                </a:solidFill>
                <a:latin typeface="Inter"/>
                <a:ea typeface="Inter"/>
                <a:cs typeface="Inter"/>
                <a:sym typeface="Inte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25"/>
          <p:cNvSpPr/>
          <p:nvPr/>
        </p:nvSpPr>
        <p:spPr>
          <a:xfrm>
            <a:off x="0" y="0"/>
            <a:ext cx="9144000" cy="5143500"/>
          </a:xfrm>
          <a:prstGeom prst="rect">
            <a:avLst/>
          </a:prstGeom>
          <a:solidFill>
            <a:srgbClr val="0B11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99" name="Google Shape;399;p2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00" name="Google Shape;400;p25"/>
          <p:cNvSpPr txBox="1"/>
          <p:nvPr/>
        </p:nvSpPr>
        <p:spPr>
          <a:xfrm>
            <a:off x="381000" y="381000"/>
            <a:ext cx="8382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FFFFFF"/>
                </a:solidFill>
                <a:latin typeface="Space Grotesk"/>
                <a:ea typeface="Space Grotesk"/>
                <a:cs typeface="Space Grotesk"/>
                <a:sym typeface="Space Grotesk"/>
              </a:rPr>
              <a:t>CONCLUSION &amp; NEXT STEPS</a:t>
            </a:r>
            <a:endParaRPr/>
          </a:p>
        </p:txBody>
      </p:sp>
      <p:cxnSp>
        <p:nvCxnSpPr>
          <p:cNvPr id="401" name="Google Shape;401;p25"/>
          <p:cNvCxnSpPr/>
          <p:nvPr/>
        </p:nvCxnSpPr>
        <p:spPr>
          <a:xfrm>
            <a:off x="381000" y="8572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grpSp>
        <p:nvGrpSpPr>
          <p:cNvPr id="402" name="Google Shape;402;p25"/>
          <p:cNvGrpSpPr/>
          <p:nvPr/>
        </p:nvGrpSpPr>
        <p:grpSpPr>
          <a:xfrm>
            <a:off x="381000" y="1143000"/>
            <a:ext cx="8381925" cy="381000"/>
            <a:chOff x="0" y="0"/>
            <a:chExt cx="8381925" cy="381000"/>
          </a:xfrm>
        </p:grpSpPr>
        <p:sp>
          <p:nvSpPr>
            <p:cNvPr id="403" name="Google Shape;403;p25"/>
            <p:cNvSpPr/>
            <p:nvPr/>
          </p:nvSpPr>
          <p:spPr>
            <a:xfrm>
              <a:off x="0" y="76200"/>
              <a:ext cx="76200" cy="76200"/>
            </a:xfrm>
            <a:prstGeom prst="rect">
              <a:avLst/>
            </a:prstGeom>
            <a:solidFill>
              <a:srgbClr val="00E6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4" name="Google Shape;404;p25"/>
            <p:cNvSpPr txBox="1"/>
            <p:nvPr/>
          </p:nvSpPr>
          <p:spPr>
            <a:xfrm>
              <a:off x="238125" y="0"/>
              <a:ext cx="81438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B0BEC5"/>
                  </a:solidFill>
                  <a:latin typeface="Inter"/>
                  <a:ea typeface="Inter"/>
                  <a:cs typeface="Inter"/>
                  <a:sym typeface="Inter"/>
                </a:rPr>
                <a:t>Execute targeted pilot deployments in northern India to stress-test the vernacular ingestion layer.</a:t>
              </a:r>
              <a:endParaRPr/>
            </a:p>
          </p:txBody>
        </p:sp>
      </p:grpSp>
      <p:grpSp>
        <p:nvGrpSpPr>
          <p:cNvPr id="405" name="Google Shape;405;p25"/>
          <p:cNvGrpSpPr/>
          <p:nvPr/>
        </p:nvGrpSpPr>
        <p:grpSpPr>
          <a:xfrm>
            <a:off x="381000" y="1619250"/>
            <a:ext cx="8381925" cy="381000"/>
            <a:chOff x="0" y="0"/>
            <a:chExt cx="8381925" cy="381000"/>
          </a:xfrm>
        </p:grpSpPr>
        <p:sp>
          <p:nvSpPr>
            <p:cNvPr id="406" name="Google Shape;406;p25"/>
            <p:cNvSpPr/>
            <p:nvPr/>
          </p:nvSpPr>
          <p:spPr>
            <a:xfrm>
              <a:off x="0" y="76200"/>
              <a:ext cx="76200" cy="76200"/>
            </a:xfrm>
            <a:prstGeom prst="rect">
              <a:avLst/>
            </a:prstGeom>
            <a:solidFill>
              <a:srgbClr val="00E6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7" name="Google Shape;407;p25"/>
            <p:cNvSpPr txBox="1"/>
            <p:nvPr/>
          </p:nvSpPr>
          <p:spPr>
            <a:xfrm>
              <a:off x="238125" y="0"/>
              <a:ext cx="81438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B0BEC5"/>
                  </a:solidFill>
                  <a:latin typeface="Inter"/>
                  <a:ea typeface="Inter"/>
                  <a:cs typeface="Inter"/>
                  <a:sym typeface="Inter"/>
                </a:rPr>
                <a:t>Initiate validation studies focusing on computer vision performance in chaotic field imagery.</a:t>
              </a:r>
              <a:endParaRPr/>
            </a:p>
          </p:txBody>
        </p:sp>
      </p:grpSp>
      <p:grpSp>
        <p:nvGrpSpPr>
          <p:cNvPr id="408" name="Google Shape;408;p25"/>
          <p:cNvGrpSpPr/>
          <p:nvPr/>
        </p:nvGrpSpPr>
        <p:grpSpPr>
          <a:xfrm>
            <a:off x="381000" y="2095500"/>
            <a:ext cx="8381925" cy="381000"/>
            <a:chOff x="0" y="0"/>
            <a:chExt cx="8381925" cy="381000"/>
          </a:xfrm>
        </p:grpSpPr>
        <p:sp>
          <p:nvSpPr>
            <p:cNvPr id="409" name="Google Shape;409;p25"/>
            <p:cNvSpPr/>
            <p:nvPr/>
          </p:nvSpPr>
          <p:spPr>
            <a:xfrm>
              <a:off x="0" y="76200"/>
              <a:ext cx="76200" cy="76200"/>
            </a:xfrm>
            <a:prstGeom prst="rect">
              <a:avLst/>
            </a:prstGeom>
            <a:solidFill>
              <a:srgbClr val="00E67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0" name="Google Shape;410;p25"/>
            <p:cNvSpPr txBox="1"/>
            <p:nvPr/>
          </p:nvSpPr>
          <p:spPr>
            <a:xfrm>
              <a:off x="238125" y="0"/>
              <a:ext cx="81438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B0BEC5"/>
                  </a:solidFill>
                  <a:latin typeface="Inter"/>
                  <a:ea typeface="Inter"/>
                  <a:cs typeface="Inter"/>
                  <a:sym typeface="Inter"/>
                </a:rPr>
                <a:t>Scale real-time API integrations (Agmarknet) and prepare for Milestone 1 development.</a:t>
              </a:r>
              <a:endParaRPr/>
            </a:p>
          </p:txBody>
        </p:sp>
      </p:grpSp>
      <p:grpSp>
        <p:nvGrpSpPr>
          <p:cNvPr id="411" name="Google Shape;411;p25"/>
          <p:cNvGrpSpPr/>
          <p:nvPr/>
        </p:nvGrpSpPr>
        <p:grpSpPr>
          <a:xfrm>
            <a:off x="381000" y="2857500"/>
            <a:ext cx="8382000" cy="1143000"/>
            <a:chOff x="0" y="0"/>
            <a:chExt cx="8382000" cy="1143000"/>
          </a:xfrm>
        </p:grpSpPr>
        <p:sp>
          <p:nvSpPr>
            <p:cNvPr id="412" name="Google Shape;412;p25"/>
            <p:cNvSpPr/>
            <p:nvPr/>
          </p:nvSpPr>
          <p:spPr>
            <a:xfrm>
              <a:off x="0" y="0"/>
              <a:ext cx="8382000" cy="1143000"/>
            </a:xfrm>
            <a:prstGeom prst="rect">
              <a:avLst/>
            </a:prstGeom>
            <a:solidFill>
              <a:srgbClr val="151E23"/>
            </a:solidFill>
            <a:ln cap="flat" cmpd="sng" w="9525">
              <a:solidFill>
                <a:srgbClr val="2A3B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3" name="Google Shape;413;p25"/>
            <p:cNvSpPr/>
            <p:nvPr/>
          </p:nvSpPr>
          <p:spPr>
            <a:xfrm>
              <a:off x="95250" y="190500"/>
              <a:ext cx="190500" cy="190500"/>
            </a:xfrm>
            <a:custGeom>
              <a:rect b="b" l="l" r="r" t="t"/>
              <a:pathLst>
                <a:path extrusionOk="0" h="120000" w="120000">
                  <a:moveTo>
                    <a:pt x="60000" y="0"/>
                  </a:moveTo>
                  <a:quadBezTo>
                    <a:pt x="120000" y="0"/>
                    <a:pt x="120000" y="60000"/>
                  </a:quadBezTo>
                  <a:quadBezTo>
                    <a:pt x="120000" y="120000"/>
                    <a:pt x="60000" y="120000"/>
                  </a:quadBezTo>
                  <a:quadBezTo>
                    <a:pt x="0" y="120000"/>
                    <a:pt x="0" y="60000"/>
                  </a:quadBezTo>
                  <a:quadBezTo>
                    <a:pt x="0" y="0"/>
                    <a:pt x="60000" y="0"/>
                  </a:quadBezTo>
                  <a:close/>
                </a:path>
              </a:pathLst>
            </a:custGeom>
            <a:solidFill>
              <a:srgbClr val="29B6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4" name="Google Shape;414;p25"/>
            <p:cNvSpPr txBox="1"/>
            <p:nvPr/>
          </p:nvSpPr>
          <p:spPr>
            <a:xfrm>
              <a:off x="571500" y="238125"/>
              <a:ext cx="7429500" cy="666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i="1" lang="en" sz="1600">
                  <a:solidFill>
                    <a:srgbClr val="FFFFFF"/>
                  </a:solidFill>
                  <a:latin typeface="Inter"/>
                  <a:ea typeface="Inter"/>
                  <a:cs typeface="Inter"/>
                  <a:sym typeface="Inter"/>
                </a:rPr>
                <a:t>"Next Steps: Secure definitive engineering alignment and stakeholder buy-in to immediately launch the Milestone 1 phase."</a:t>
              </a:r>
              <a:endParaRPr/>
            </a:p>
          </p:txBody>
        </p:sp>
      </p:grpSp>
      <p:grpSp>
        <p:nvGrpSpPr>
          <p:cNvPr id="415" name="Google Shape;415;p25"/>
          <p:cNvGrpSpPr/>
          <p:nvPr/>
        </p:nvGrpSpPr>
        <p:grpSpPr>
          <a:xfrm>
            <a:off x="381000" y="4857750"/>
            <a:ext cx="8382000" cy="238125"/>
            <a:chOff x="381000" y="4857750"/>
            <a:chExt cx="8382000" cy="238125"/>
          </a:xfrm>
        </p:grpSpPr>
        <p:cxnSp>
          <p:nvCxnSpPr>
            <p:cNvPr id="416" name="Google Shape;416;p25"/>
            <p:cNvCxnSpPr/>
            <p:nvPr/>
          </p:nvCxnSpPr>
          <p:spPr>
            <a:xfrm>
              <a:off x="381000" y="4857750"/>
              <a:ext cx="8382000" cy="0"/>
            </a:xfrm>
            <a:prstGeom prst="straightConnector1">
              <a:avLst/>
            </a:prstGeom>
            <a:solidFill>
              <a:srgbClr val="FFFFFF"/>
            </a:solidFill>
            <a:ln cap="flat" cmpd="sng" w="9525">
              <a:solidFill>
                <a:srgbClr val="2A3B47"/>
              </a:solidFill>
              <a:prstDash val="solid"/>
              <a:round/>
              <a:headEnd len="sm" w="sm" type="none"/>
              <a:tailEnd len="sm" w="sm" type="none"/>
            </a:ln>
          </p:spPr>
        </p:cxnSp>
        <p:sp>
          <p:nvSpPr>
            <p:cNvPr id="417" name="Google Shape;417;p25"/>
            <p:cNvSpPr txBox="1"/>
            <p:nvPr/>
          </p:nvSpPr>
          <p:spPr>
            <a:xfrm>
              <a:off x="381000" y="4905375"/>
              <a:ext cx="3810000" cy="190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i="0" lang="en" sz="800" u="none" strike="noStrike">
                  <a:solidFill>
                    <a:srgbClr val="2A3B47"/>
                  </a:solidFill>
                  <a:latin typeface="Roboto Mono Medium"/>
                  <a:ea typeface="Roboto Mono Medium"/>
                  <a:cs typeface="Roboto Mono Medium"/>
                  <a:sym typeface="Roboto Mono Medium"/>
                </a:rPr>
                <a:t>AUTONOMOUS MULTIMODAL ROUTING ARCHITECTURE</a:t>
              </a:r>
              <a:endParaRPr b="0" i="0" sz="800" u="none" strike="noStrike">
                <a:solidFill>
                  <a:srgbClr val="2A3B47"/>
                </a:solidFill>
                <a:latin typeface="Roboto Mono Medium"/>
                <a:ea typeface="Roboto Mono Medium"/>
                <a:cs typeface="Roboto Mono Medium"/>
                <a:sym typeface="Roboto Mono Medium"/>
              </a:endParaRPr>
            </a:p>
          </p:txBody>
        </p:sp>
        <p:sp>
          <p:nvSpPr>
            <p:cNvPr id="418" name="Google Shape;418;p25"/>
            <p:cNvSpPr txBox="1"/>
            <p:nvPr/>
          </p:nvSpPr>
          <p:spPr>
            <a:xfrm>
              <a:off x="7810500" y="4905375"/>
              <a:ext cx="952500" cy="1905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ctr">
                <a:spcBef>
                  <a:spcPts val="0"/>
                </a:spcBef>
                <a:spcAft>
                  <a:spcPts val="0"/>
                </a:spcAft>
                <a:buNone/>
              </a:pPr>
              <a:r>
                <a:rPr b="0" i="0" lang="en" sz="800" u="none" strike="noStrike">
                  <a:solidFill>
                    <a:srgbClr val="2A3B47"/>
                  </a:solidFill>
                  <a:latin typeface="Roboto Mono Medium"/>
                  <a:ea typeface="Roboto Mono Medium"/>
                  <a:cs typeface="Roboto Mono Medium"/>
                  <a:sym typeface="Roboto Mono Medium"/>
                </a:rPr>
                <a:t>JULY 2026</a:t>
              </a:r>
              <a:endParaRPr b="0" i="0" sz="800" u="none" strike="noStrike">
                <a:solidFill>
                  <a:srgbClr val="2A3B47"/>
                </a:solidFill>
                <a:latin typeface="Roboto Mono Medium"/>
                <a:ea typeface="Roboto Mono Medium"/>
                <a:cs typeface="Roboto Mono Medium"/>
                <a:sym typeface="Roboto Mono Medium"/>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