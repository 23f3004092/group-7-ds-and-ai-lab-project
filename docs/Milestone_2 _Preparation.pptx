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bold r:id="rId24"/>
      <p:boldItalic r:id="rId25"/>
    </p:embeddedFont>
    <p:embeddedFont>
      <p:font typeface="Inter ExtraBold"/>
      <p:bold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e5e864c3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e5e864c3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e5e864c3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7e5e864c3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7e5e864c3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7e5e864c3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e5e864c3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7e5e864c3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7e5e864c3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7e5e864c3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e5e864c3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7e5e864c3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7e5e864c3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7e5e864c3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7e5e864c3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7e5e864c3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7e5e864c3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f7e5e864c3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7e5e864c3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7e5e864c3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7e5e864c3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7e5e864c3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7e5e864c3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f7e5e864c3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7e5e864c3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f7e5e864c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7e5e864c3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f7e5e864c3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e5e864c3_8_0)">
  <p:cSld name="Generated (g3f7e5e864c3_8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3429000" cy="5143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381000" y="381000"/>
              <a:ext cx="228600" cy="228600"/>
              <a:chOff x="0" y="0"/>
              <a:chExt cx="228600" cy="2286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228600" cy="228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95250" y="38100"/>
                <a:ext cx="38100" cy="152400"/>
              </a:xfrm>
              <a:prstGeom prst="rect">
                <a:avLst/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38100" y="95250"/>
                <a:ext cx="152400" cy="38100"/>
              </a:xfrm>
              <a:prstGeom prst="rect">
                <a:avLst/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" name="Google Shape;63;p14"/>
            <p:cNvGrpSpPr/>
            <p:nvPr/>
          </p:nvGrpSpPr>
          <p:grpSpPr>
            <a:xfrm>
              <a:off x="381000" y="4852988"/>
              <a:ext cx="2667000" cy="271463"/>
              <a:chOff x="0" y="-4762"/>
              <a:chExt cx="2667000" cy="271463"/>
            </a:xfrm>
          </p:grpSpPr>
          <p:pic>
            <p:nvPicPr>
              <p:cNvPr id="64" name="Google Shape;64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4762"/>
                <a:ext cx="2667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" name="Google Shape;65;p14"/>
              <p:cNvSpPr txBox="1"/>
              <p:nvPr/>
            </p:nvSpPr>
            <p:spPr>
              <a:xfrm>
                <a:off x="0" y="76200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AgriAssist • Milestone 2</a:t>
                </a:r>
                <a:endParaRPr/>
              </a:p>
            </p:txBody>
          </p:sp>
        </p:grpSp>
        <p:grpSp>
          <p:nvGrpSpPr>
            <p:cNvPr id="66" name="Google Shape;66;p14"/>
            <p:cNvGrpSpPr/>
            <p:nvPr/>
          </p:nvGrpSpPr>
          <p:grpSpPr>
            <a:xfrm>
              <a:off x="3810000" y="4857750"/>
              <a:ext cx="4953000" cy="266700"/>
              <a:chOff x="0" y="0"/>
              <a:chExt cx="4953000" cy="266700"/>
            </a:xfrm>
          </p:grpSpPr>
          <p:cxnSp>
            <p:nvCxnSpPr>
              <p:cNvPr id="67" name="Google Shape;67;p14"/>
              <p:cNvCxnSpPr/>
              <p:nvPr/>
            </p:nvCxnSpPr>
            <p:spPr>
              <a:xfrm>
                <a:off x="0" y="0"/>
                <a:ext cx="495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8" name="Google Shape;68;p14"/>
              <p:cNvSpPr txBox="1"/>
              <p:nvPr/>
            </p:nvSpPr>
            <p:spPr>
              <a:xfrm>
                <a:off x="0" y="76200"/>
                <a:ext cx="495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Lokesh Tiwari</a:t>
                </a:r>
                <a:endParaRPr/>
              </a:p>
            </p:txBody>
          </p:sp>
        </p:grpSp>
      </p:grpSp>
      <p:sp>
        <p:nvSpPr>
          <p:cNvPr id="69" name="Google Shape;69;p14"/>
          <p:cNvSpPr txBox="1"/>
          <p:nvPr/>
        </p:nvSpPr>
        <p:spPr>
          <a:xfrm>
            <a:off x="381000" y="1047750"/>
            <a:ext cx="2667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5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Milestone 2</a:t>
            </a:r>
            <a:endParaRPr b="1" sz="675">
              <a:solidFill>
                <a:srgbClr val="D9770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AgriAssist</a:t>
            </a:r>
            <a:endParaRPr b="1" sz="19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 Identification, Understanding &amp; Preparation</a:t>
            </a:r>
            <a:endParaRPr b="0" sz="1200">
              <a:solidFill>
                <a:srgbClr val="E2E8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Building a Leakage-Free, Multi-Modal Agricultural AI Data Foundation for Uttar Pradesh</a:t>
            </a:r>
            <a:endParaRPr b="0" sz="975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>
            <a:off x="3629025" y="1295400"/>
            <a:ext cx="76200" cy="2647950"/>
            <a:chOff x="3629025" y="1295400"/>
            <a:chExt cx="76200" cy="2647950"/>
          </a:xfrm>
        </p:grpSpPr>
        <p:pic>
          <p:nvPicPr>
            <p:cNvPr id="71" name="Google Shape;7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57600" y="1333500"/>
              <a:ext cx="19200" cy="255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29025" y="12954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629025" y="215265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29025" y="30099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629025" y="386715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" name="Google Shape;76;p14"/>
          <p:cNvGrpSpPr/>
          <p:nvPr/>
        </p:nvGrpSpPr>
        <p:grpSpPr>
          <a:xfrm>
            <a:off x="3810000" y="952500"/>
            <a:ext cx="4572000" cy="3333750"/>
            <a:chOff x="3810000" y="952500"/>
            <a:chExt cx="4572000" cy="3333750"/>
          </a:xfrm>
        </p:grpSpPr>
        <p:grpSp>
          <p:nvGrpSpPr>
            <p:cNvPr id="77" name="Google Shape;77;p14"/>
            <p:cNvGrpSpPr/>
            <p:nvPr/>
          </p:nvGrpSpPr>
          <p:grpSpPr>
            <a:xfrm>
              <a:off x="3810000" y="952500"/>
              <a:ext cx="4572000" cy="762000"/>
              <a:chOff x="3810000" y="952500"/>
              <a:chExt cx="4572000" cy="762000"/>
            </a:xfrm>
          </p:grpSpPr>
          <p:sp>
            <p:nvSpPr>
              <p:cNvPr id="78" name="Google Shape;78;p14"/>
              <p:cNvSpPr/>
              <p:nvPr/>
            </p:nvSpPr>
            <p:spPr>
              <a:xfrm>
                <a:off x="3810000" y="952500"/>
                <a:ext cx="45720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3810000" y="952500"/>
                <a:ext cx="57300" cy="762000"/>
              </a:xfrm>
              <a:prstGeom prst="roundRect">
                <a:avLst>
                  <a:gd fmla="val 33333" name="adj"/>
                </a:avLst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4"/>
              <p:cNvSpPr txBox="1"/>
              <p:nvPr/>
            </p:nvSpPr>
            <p:spPr>
              <a:xfrm>
                <a:off x="4048125" y="952500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1E4D2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4</a:t>
                </a:r>
                <a:endParaRPr b="0" sz="24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5572125" y="952500"/>
                <a:ext cx="2619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Operational Subsystems</a:t>
                </a:r>
                <a:endParaRPr b="1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" name="Google Shape;82;p14"/>
            <p:cNvGrpSpPr/>
            <p:nvPr/>
          </p:nvGrpSpPr>
          <p:grpSpPr>
            <a:xfrm>
              <a:off x="3810000" y="1809750"/>
              <a:ext cx="4572000" cy="762000"/>
              <a:chOff x="3810000" y="1809750"/>
              <a:chExt cx="4572000" cy="762000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3810000" y="1809750"/>
                <a:ext cx="45720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3810000" y="1809750"/>
                <a:ext cx="57300" cy="762000"/>
              </a:xfrm>
              <a:prstGeom prst="roundRect">
                <a:avLst>
                  <a:gd fmla="val 33333" name="adj"/>
                </a:avLst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 txBox="1"/>
              <p:nvPr/>
            </p:nvSpPr>
            <p:spPr>
              <a:xfrm>
                <a:off x="4048125" y="1809750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1F4E79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7</a:t>
                </a:r>
                <a:endParaRPr b="0" sz="2400">
                  <a:solidFill>
                    <a:srgbClr val="1F4E7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86" name="Google Shape;86;p14"/>
              <p:cNvSpPr txBox="1"/>
              <p:nvPr/>
            </p:nvSpPr>
            <p:spPr>
              <a:xfrm>
                <a:off x="5572125" y="1809750"/>
                <a:ext cx="2619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Curated Datasets</a:t>
                </a:r>
                <a:endParaRPr b="1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7" name="Google Shape;87;p14"/>
            <p:cNvGrpSpPr/>
            <p:nvPr/>
          </p:nvGrpSpPr>
          <p:grpSpPr>
            <a:xfrm>
              <a:off x="3810000" y="2667000"/>
              <a:ext cx="4572000" cy="762000"/>
              <a:chOff x="3810000" y="2667000"/>
              <a:chExt cx="4572000" cy="762000"/>
            </a:xfrm>
          </p:grpSpPr>
          <p:sp>
            <p:nvSpPr>
              <p:cNvPr id="88" name="Google Shape;88;p14"/>
              <p:cNvSpPr/>
              <p:nvPr/>
            </p:nvSpPr>
            <p:spPr>
              <a:xfrm>
                <a:off x="3810000" y="2667000"/>
                <a:ext cx="45720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3810000" y="2667000"/>
                <a:ext cx="57300" cy="762000"/>
              </a:xfrm>
              <a:prstGeom prst="roundRect">
                <a:avLst>
                  <a:gd fmla="val 33333" name="adj"/>
                </a:avLst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 txBox="1"/>
              <p:nvPr/>
            </p:nvSpPr>
            <p:spPr>
              <a:xfrm>
                <a:off x="4048125" y="2667000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250">
                    <a:solidFill>
                      <a:srgbClr val="D9770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&gt;3.5 Million</a:t>
                </a:r>
                <a:endParaRPr b="0" sz="225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91" name="Google Shape;91;p14"/>
              <p:cNvSpPr txBox="1"/>
              <p:nvPr/>
            </p:nvSpPr>
            <p:spPr>
              <a:xfrm>
                <a:off x="5572125" y="2667000"/>
                <a:ext cx="2619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Total Clean Records</a:t>
                </a:r>
                <a:endParaRPr b="1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2" name="Google Shape;92;p14"/>
            <p:cNvGrpSpPr/>
            <p:nvPr/>
          </p:nvGrpSpPr>
          <p:grpSpPr>
            <a:xfrm>
              <a:off x="3810000" y="3524250"/>
              <a:ext cx="4572000" cy="762000"/>
              <a:chOff x="3810000" y="3524250"/>
              <a:chExt cx="4572000" cy="762000"/>
            </a:xfrm>
          </p:grpSpPr>
          <p:sp>
            <p:nvSpPr>
              <p:cNvPr id="93" name="Google Shape;93;p14"/>
              <p:cNvSpPr/>
              <p:nvPr/>
            </p:nvSpPr>
            <p:spPr>
              <a:xfrm>
                <a:off x="3810000" y="3524250"/>
                <a:ext cx="45720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3810000" y="3524250"/>
                <a:ext cx="57300" cy="762000"/>
              </a:xfrm>
              <a:prstGeom prst="roundRect">
                <a:avLst>
                  <a:gd fmla="val 33333" name="adj"/>
                </a:avLst>
              </a:prstGeom>
              <a:solidFill>
                <a:srgbClr val="2D374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 txBox="1"/>
              <p:nvPr/>
            </p:nvSpPr>
            <p:spPr>
              <a:xfrm>
                <a:off x="4048125" y="3524250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2D3748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100%</a:t>
                </a:r>
                <a:endParaRPr b="0" sz="2400">
                  <a:solidFill>
                    <a:srgbClr val="2D3748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96" name="Google Shape;96;p14"/>
              <p:cNvSpPr txBox="1"/>
              <p:nvPr/>
            </p:nvSpPr>
            <p:spPr>
              <a:xfrm>
                <a:off x="5572125" y="3524250"/>
                <a:ext cx="2619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Training-Ready</a:t>
                </a:r>
                <a:endParaRPr b="1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2" name="Google Shape;102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0" y="76200"/>
              <a:ext cx="9144000" cy="19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" name="Google Shape;105;p15"/>
            <p:cNvGrpSpPr/>
            <p:nvPr/>
          </p:nvGrpSpPr>
          <p:grpSpPr>
            <a:xfrm>
              <a:off x="381000" y="4857750"/>
              <a:ext cx="8382000" cy="266700"/>
              <a:chOff x="0" y="0"/>
              <a:chExt cx="8382000" cy="266700"/>
            </a:xfrm>
          </p:grpSpPr>
          <p:cxnSp>
            <p:nvCxnSpPr>
              <p:cNvPr id="106" name="Google Shape;106;p15"/>
              <p:cNvCxnSpPr/>
              <p:nvPr/>
            </p:nvCxnSpPr>
            <p:spPr>
              <a:xfrm>
                <a:off x="0" y="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7" name="Google Shape;107;p15"/>
              <p:cNvSpPr txBox="1"/>
              <p:nvPr/>
            </p:nvSpPr>
            <p:spPr>
              <a:xfrm>
                <a:off x="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AgriAssist • Milestone 2: Dataset Identification &amp; Preparation</a:t>
                </a:r>
                <a:endParaRPr/>
              </a:p>
            </p:txBody>
          </p:sp>
          <p:sp>
            <p:nvSpPr>
              <p:cNvPr id="108" name="Google Shape;108;p15"/>
              <p:cNvSpPr txBox="1"/>
              <p:nvPr/>
            </p:nvSpPr>
            <p:spPr>
              <a:xfrm>
                <a:off x="4572000" y="762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Lokesh Tiwari</a:t>
                </a:r>
                <a:endParaRPr/>
              </a:p>
            </p:txBody>
          </p:sp>
        </p:grpSp>
      </p:grpSp>
      <p:sp>
        <p:nvSpPr>
          <p:cNvPr id="109" name="Google Shape;109;p15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System Architecture &amp; Subsystem Dataset Mapping</a:t>
            </a:r>
            <a:endParaRPr b="1" sz="21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decoupled visual pipeline mapping physical datasets to distinct system modules</a:t>
            </a:r>
            <a:endParaRPr b="0" sz="1125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381000" y="1333500"/>
            <a:ext cx="8382000" cy="3048000"/>
            <a:chOff x="0" y="0"/>
            <a:chExt cx="8382000" cy="3048000"/>
          </a:xfrm>
        </p:grpSpPr>
        <p:pic>
          <p:nvPicPr>
            <p:cNvPr id="111" name="Google Shape;11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81475" y="0"/>
              <a:ext cx="19200" cy="300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2" name="Google Shape;112;p15"/>
            <p:cNvGrpSpPr/>
            <p:nvPr/>
          </p:nvGrpSpPr>
          <p:grpSpPr>
            <a:xfrm>
              <a:off x="0" y="0"/>
              <a:ext cx="4000500" cy="3048000"/>
              <a:chOff x="0" y="0"/>
              <a:chExt cx="4000500" cy="3048000"/>
            </a:xfrm>
          </p:grpSpPr>
          <p:grpSp>
            <p:nvGrpSpPr>
              <p:cNvPr id="113" name="Google Shape;113;p15"/>
              <p:cNvGrpSpPr/>
              <p:nvPr/>
            </p:nvGrpSpPr>
            <p:grpSpPr>
              <a:xfrm>
                <a:off x="0" y="0"/>
                <a:ext cx="4000500" cy="914400"/>
                <a:chOff x="0" y="0"/>
                <a:chExt cx="4000500" cy="914400"/>
              </a:xfrm>
            </p:grpSpPr>
            <p:sp>
              <p:nvSpPr>
                <p:cNvPr id="114" name="Google Shape;114;p15"/>
                <p:cNvSpPr/>
                <p:nvPr/>
              </p:nvSpPr>
              <p:spPr>
                <a:xfrm>
                  <a:off x="0" y="0"/>
                  <a:ext cx="4000500" cy="914400"/>
                </a:xfrm>
                <a:prstGeom prst="rect">
                  <a:avLst/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" name="Google Shape;115;p15"/>
                <p:cNvSpPr/>
                <p:nvPr/>
              </p:nvSpPr>
              <p:spPr>
                <a:xfrm>
                  <a:off x="0" y="0"/>
                  <a:ext cx="38100" cy="914400"/>
                </a:xfrm>
                <a:prstGeom prst="rect">
                  <a:avLst/>
                </a:prstGeom>
                <a:solidFill>
                  <a:srgbClr val="1E4D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" name="Google Shape;116;p15"/>
                <p:cNvSpPr/>
                <p:nvPr/>
              </p:nvSpPr>
              <p:spPr>
                <a:xfrm>
                  <a:off x="3190875" y="114300"/>
                  <a:ext cx="6669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1E4D2B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" name="Google Shape;117;p15"/>
                <p:cNvSpPr txBox="1"/>
                <p:nvPr/>
              </p:nvSpPr>
              <p:spPr>
                <a:xfrm>
                  <a:off x="3190875" y="114300"/>
                  <a:ext cx="6669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VISION</a:t>
                  </a:r>
                  <a:endParaRPr/>
                </a:p>
              </p:txBody>
            </p:sp>
            <p:sp>
              <p:nvSpPr>
                <p:cNvPr id="118" name="Google Shape;118;p15"/>
                <p:cNvSpPr txBox="1"/>
                <p:nvPr/>
              </p:nvSpPr>
              <p:spPr>
                <a:xfrm>
                  <a:off x="171450" y="114300"/>
                  <a:ext cx="29052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Vision Disease Detection</a:t>
                  </a:r>
                  <a:endParaRPr b="1" sz="900">
                    <a:solidFill>
                      <a:srgbClr val="1E4D2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Unified 20-Class Dataset containing </a:t>
                  </a:r>
                  <a:r>
                    <a:rPr b="0" lang="en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12,859 images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across Wheat and Rice sets.</a:t>
                  </a:r>
                  <a:endParaRPr b="0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19" name="Google Shape;119;p15"/>
              <p:cNvGrpSpPr/>
              <p:nvPr/>
            </p:nvGrpSpPr>
            <p:grpSpPr>
              <a:xfrm>
                <a:off x="0" y="1066800"/>
                <a:ext cx="4000500" cy="914400"/>
                <a:chOff x="0" y="0"/>
                <a:chExt cx="4000500" cy="914400"/>
              </a:xfrm>
            </p:grpSpPr>
            <p:sp>
              <p:nvSpPr>
                <p:cNvPr id="120" name="Google Shape;120;p15"/>
                <p:cNvSpPr/>
                <p:nvPr/>
              </p:nvSpPr>
              <p:spPr>
                <a:xfrm>
                  <a:off x="0" y="0"/>
                  <a:ext cx="4000500" cy="914400"/>
                </a:xfrm>
                <a:prstGeom prst="rect">
                  <a:avLst/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" name="Google Shape;121;p15"/>
                <p:cNvSpPr/>
                <p:nvPr/>
              </p:nvSpPr>
              <p:spPr>
                <a:xfrm>
                  <a:off x="0" y="0"/>
                  <a:ext cx="38100" cy="914400"/>
                </a:xfrm>
                <a:prstGeom prst="rect">
                  <a:avLst/>
                </a:prstGeom>
                <a:solidFill>
                  <a:srgbClr val="1E4D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" name="Google Shape;122;p15"/>
                <p:cNvSpPr/>
                <p:nvPr/>
              </p:nvSpPr>
              <p:spPr>
                <a:xfrm>
                  <a:off x="3190875" y="114300"/>
                  <a:ext cx="6669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1E4D2B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" name="Google Shape;123;p15"/>
                <p:cNvSpPr txBox="1"/>
                <p:nvPr/>
              </p:nvSpPr>
              <p:spPr>
                <a:xfrm>
                  <a:off x="3190875" y="114300"/>
                  <a:ext cx="6669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VISION</a:t>
                  </a:r>
                  <a:endParaRPr/>
                </a:p>
              </p:txBody>
            </p:sp>
            <p:sp>
              <p:nvSpPr>
                <p:cNvPr id="124" name="Google Shape;124;p15"/>
                <p:cNvSpPr txBox="1"/>
                <p:nvPr/>
              </p:nvSpPr>
              <p:spPr>
                <a:xfrm>
                  <a:off x="171450" y="114300"/>
                  <a:ext cx="29052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Vision Evaluation Holdout</a:t>
                  </a:r>
                  <a:endParaRPr b="1" sz="900">
                    <a:solidFill>
                      <a:srgbClr val="1E4D2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PlantDoc Real-World Field Dataset with </a:t>
                  </a:r>
                  <a:r>
                    <a:rPr b="0" lang="en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2,598 images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.</a:t>
                  </a:r>
                  <a:endParaRPr b="0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25" name="Google Shape;125;p15"/>
              <p:cNvGrpSpPr/>
              <p:nvPr/>
            </p:nvGrpSpPr>
            <p:grpSpPr>
              <a:xfrm>
                <a:off x="0" y="2133600"/>
                <a:ext cx="4000500" cy="914400"/>
                <a:chOff x="0" y="0"/>
                <a:chExt cx="4000500" cy="914400"/>
              </a:xfrm>
            </p:grpSpPr>
            <p:sp>
              <p:nvSpPr>
                <p:cNvPr id="126" name="Google Shape;126;p15"/>
                <p:cNvSpPr/>
                <p:nvPr/>
              </p:nvSpPr>
              <p:spPr>
                <a:xfrm>
                  <a:off x="0" y="0"/>
                  <a:ext cx="4000500" cy="914400"/>
                </a:xfrm>
                <a:prstGeom prst="rect">
                  <a:avLst/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" name="Google Shape;127;p15"/>
                <p:cNvSpPr/>
                <p:nvPr/>
              </p:nvSpPr>
              <p:spPr>
                <a:xfrm>
                  <a:off x="0" y="0"/>
                  <a:ext cx="38100" cy="914400"/>
                </a:xfrm>
                <a:prstGeom prst="rect">
                  <a:avLst/>
                </a:prstGeom>
                <a:solidFill>
                  <a:srgbClr val="1E4D2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" name="Google Shape;128;p15"/>
                <p:cNvSpPr/>
                <p:nvPr/>
              </p:nvSpPr>
              <p:spPr>
                <a:xfrm>
                  <a:off x="3190875" y="114300"/>
                  <a:ext cx="6669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D97706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" name="Google Shape;129;p15"/>
                <p:cNvSpPr txBox="1"/>
                <p:nvPr/>
              </p:nvSpPr>
              <p:spPr>
                <a:xfrm>
                  <a:off x="3190875" y="114300"/>
                  <a:ext cx="6669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D97706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PDF RAG</a:t>
                  </a:r>
                  <a:endParaRPr/>
                </a:p>
              </p:txBody>
            </p:sp>
            <p:sp>
              <p:nvSpPr>
                <p:cNvPr id="130" name="Google Shape;130;p15"/>
                <p:cNvSpPr txBox="1"/>
                <p:nvPr/>
              </p:nvSpPr>
              <p:spPr>
                <a:xfrm>
                  <a:off x="171450" y="114300"/>
                  <a:ext cx="29052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RAG PDF Knowledge Base</a:t>
                  </a:r>
                  <a:endParaRPr b="1" sz="900">
                    <a:solidFill>
                      <a:srgbClr val="1E4D2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170 authoritative government PDFs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yielding </a:t>
                  </a:r>
                  <a:r>
                    <a:rPr b="1" lang="en" sz="825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1,451 semantic chunks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.</a:t>
                  </a:r>
                  <a:endParaRPr b="0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grpSp>
          <p:nvGrpSpPr>
            <p:cNvPr id="131" name="Google Shape;131;p15"/>
            <p:cNvGrpSpPr/>
            <p:nvPr/>
          </p:nvGrpSpPr>
          <p:grpSpPr>
            <a:xfrm>
              <a:off x="4381500" y="0"/>
              <a:ext cx="4000500" cy="3048000"/>
              <a:chOff x="0" y="0"/>
              <a:chExt cx="4000500" cy="3048000"/>
            </a:xfrm>
          </p:grpSpPr>
          <p:grpSp>
            <p:nvGrpSpPr>
              <p:cNvPr id="132" name="Google Shape;132;p15"/>
              <p:cNvGrpSpPr/>
              <p:nvPr/>
            </p:nvGrpSpPr>
            <p:grpSpPr>
              <a:xfrm>
                <a:off x="0" y="0"/>
                <a:ext cx="4000500" cy="914400"/>
                <a:chOff x="0" y="0"/>
                <a:chExt cx="4000500" cy="914400"/>
              </a:xfrm>
            </p:grpSpPr>
            <p:sp>
              <p:nvSpPr>
                <p:cNvPr id="133" name="Google Shape;133;p15"/>
                <p:cNvSpPr/>
                <p:nvPr/>
              </p:nvSpPr>
              <p:spPr>
                <a:xfrm>
                  <a:off x="0" y="0"/>
                  <a:ext cx="4000500" cy="914400"/>
                </a:xfrm>
                <a:prstGeom prst="rect">
                  <a:avLst/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" name="Google Shape;134;p15"/>
                <p:cNvSpPr/>
                <p:nvPr/>
              </p:nvSpPr>
              <p:spPr>
                <a:xfrm>
                  <a:off x="0" y="0"/>
                  <a:ext cx="38100" cy="91440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" name="Google Shape;135;p15"/>
                <p:cNvSpPr/>
                <p:nvPr/>
              </p:nvSpPr>
              <p:spPr>
                <a:xfrm>
                  <a:off x="3190875" y="114300"/>
                  <a:ext cx="6669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1F4E79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15"/>
                <p:cNvSpPr txBox="1"/>
                <p:nvPr/>
              </p:nvSpPr>
              <p:spPr>
                <a:xfrm>
                  <a:off x="3190875" y="114300"/>
                  <a:ext cx="6669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NLP LOGS</a:t>
                  </a:r>
                  <a:endParaRPr/>
                </a:p>
              </p:txBody>
            </p:sp>
            <p:sp>
              <p:nvSpPr>
                <p:cNvPr id="137" name="Google Shape;137;p15"/>
                <p:cNvSpPr txBox="1"/>
                <p:nvPr/>
              </p:nvSpPr>
              <p:spPr>
                <a:xfrm>
                  <a:off x="171450" y="114300"/>
                  <a:ext cx="29052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RAG &amp; NLP Advisory Logs</a:t>
                  </a:r>
                  <a:endParaRPr b="1" sz="900">
                    <a:solidFill>
                      <a:srgbClr val="1F4E7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Kisan Call Center (KCC) queries comprising </a:t>
                  </a:r>
                  <a:r>
                    <a:rPr b="0" lang="en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3,123,029 records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from 2020–2025.</a:t>
                  </a:r>
                  <a:endParaRPr b="0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38" name="Google Shape;138;p15"/>
              <p:cNvGrpSpPr/>
              <p:nvPr/>
            </p:nvGrpSpPr>
            <p:grpSpPr>
              <a:xfrm>
                <a:off x="0" y="1066800"/>
                <a:ext cx="4000500" cy="914400"/>
                <a:chOff x="0" y="0"/>
                <a:chExt cx="4000500" cy="914400"/>
              </a:xfrm>
            </p:grpSpPr>
            <p:sp>
              <p:nvSpPr>
                <p:cNvPr id="139" name="Google Shape;139;p15"/>
                <p:cNvSpPr/>
                <p:nvPr/>
              </p:nvSpPr>
              <p:spPr>
                <a:xfrm>
                  <a:off x="0" y="0"/>
                  <a:ext cx="4000500" cy="914400"/>
                </a:xfrm>
                <a:prstGeom prst="rect">
                  <a:avLst/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15"/>
                <p:cNvSpPr/>
                <p:nvPr/>
              </p:nvSpPr>
              <p:spPr>
                <a:xfrm>
                  <a:off x="0" y="0"/>
                  <a:ext cx="38100" cy="91440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15"/>
                <p:cNvSpPr/>
                <p:nvPr/>
              </p:nvSpPr>
              <p:spPr>
                <a:xfrm>
                  <a:off x="3190875" y="114300"/>
                  <a:ext cx="6669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1F4E79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15"/>
                <p:cNvSpPr txBox="1"/>
                <p:nvPr/>
              </p:nvSpPr>
              <p:spPr>
                <a:xfrm>
                  <a:off x="3190875" y="114300"/>
                  <a:ext cx="6669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YIELD</a:t>
                  </a:r>
                  <a:endParaRPr/>
                </a:p>
              </p:txBody>
            </p:sp>
            <p:sp>
              <p:nvSpPr>
                <p:cNvPr id="143" name="Google Shape;143;p15"/>
                <p:cNvSpPr txBox="1"/>
                <p:nvPr/>
              </p:nvSpPr>
              <p:spPr>
                <a:xfrm>
                  <a:off x="171450" y="114300"/>
                  <a:ext cx="29052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Pan-India Multi-Crop Yield</a:t>
                  </a:r>
                  <a:endParaRPr b="1" sz="900">
                    <a:solidFill>
                      <a:srgbClr val="1F4E7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National baseline of </a:t>
                  </a:r>
                  <a:r>
                    <a:rPr b="0" lang="en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440,962 records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covering </a:t>
                  </a:r>
                  <a:r>
                    <a:rPr b="1" lang="en" sz="825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124 crops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across </a:t>
                  </a:r>
                  <a:r>
                    <a:rPr b="1" lang="en" sz="825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35 States/UTs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.</a:t>
                  </a:r>
                  <a:endParaRPr b="0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44" name="Google Shape;144;p15"/>
              <p:cNvGrpSpPr/>
              <p:nvPr/>
            </p:nvGrpSpPr>
            <p:grpSpPr>
              <a:xfrm>
                <a:off x="0" y="2133600"/>
                <a:ext cx="4000500" cy="914400"/>
                <a:chOff x="0" y="0"/>
                <a:chExt cx="4000500" cy="914400"/>
              </a:xfrm>
            </p:grpSpPr>
            <p:sp>
              <p:nvSpPr>
                <p:cNvPr id="145" name="Google Shape;145;p15"/>
                <p:cNvSpPr/>
                <p:nvPr/>
              </p:nvSpPr>
              <p:spPr>
                <a:xfrm>
                  <a:off x="0" y="0"/>
                  <a:ext cx="4000500" cy="914400"/>
                </a:xfrm>
                <a:prstGeom prst="rect">
                  <a:avLst/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" name="Google Shape;146;p15"/>
                <p:cNvSpPr/>
                <p:nvPr/>
              </p:nvSpPr>
              <p:spPr>
                <a:xfrm>
                  <a:off x="0" y="0"/>
                  <a:ext cx="38100" cy="91440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" name="Google Shape;147;p15"/>
                <p:cNvSpPr/>
                <p:nvPr/>
              </p:nvSpPr>
              <p:spPr>
                <a:xfrm>
                  <a:off x="3190875" y="114300"/>
                  <a:ext cx="6669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1F4E79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" name="Google Shape;148;p15"/>
                <p:cNvSpPr txBox="1"/>
                <p:nvPr/>
              </p:nvSpPr>
              <p:spPr>
                <a:xfrm>
                  <a:off x="3190875" y="114300"/>
                  <a:ext cx="6669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YIELD</a:t>
                  </a:r>
                  <a:endParaRPr/>
                </a:p>
              </p:txBody>
            </p:sp>
            <p:sp>
              <p:nvSpPr>
                <p:cNvPr id="149" name="Google Shape;149;p15"/>
                <p:cNvSpPr txBox="1"/>
                <p:nvPr/>
              </p:nvSpPr>
              <p:spPr>
                <a:xfrm>
                  <a:off x="171450" y="114300"/>
                  <a:ext cx="29052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UP Localized Yield</a:t>
                  </a:r>
                  <a:endParaRPr b="1" sz="900">
                    <a:solidFill>
                      <a:srgbClr val="1F4E7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Domain-Specific Enriched Cohort of </a:t>
                  </a:r>
                  <a:r>
                    <a:rPr b="0" lang="en" sz="825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3,996 records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across </a:t>
                  </a:r>
                  <a:r>
                    <a:rPr b="1" lang="en" sz="825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75 Uttar Pradesh districts</a:t>
                  </a:r>
                  <a:r>
                    <a:rPr b="0" lang="en" sz="825">
                      <a:solidFill>
                        <a:srgbClr val="2D374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.</a:t>
                  </a:r>
                  <a:endParaRPr b="0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5" name="Google Shape;155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0" y="76200"/>
              <a:ext cx="9144000" cy="19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16"/>
            <p:cNvGrpSpPr/>
            <p:nvPr/>
          </p:nvGrpSpPr>
          <p:grpSpPr>
            <a:xfrm>
              <a:off x="381000" y="4857750"/>
              <a:ext cx="8382000" cy="266700"/>
              <a:chOff x="0" y="0"/>
              <a:chExt cx="8382000" cy="266700"/>
            </a:xfrm>
          </p:grpSpPr>
          <p:cxnSp>
            <p:nvCxnSpPr>
              <p:cNvPr id="159" name="Google Shape;159;p16"/>
              <p:cNvCxnSpPr/>
              <p:nvPr/>
            </p:nvCxnSpPr>
            <p:spPr>
              <a:xfrm>
                <a:off x="0" y="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0" name="Google Shape;160;p16"/>
              <p:cNvSpPr txBox="1"/>
              <p:nvPr/>
            </p:nvSpPr>
            <p:spPr>
              <a:xfrm>
                <a:off x="0" y="762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AgriAssist • Milestone 2: Dataset Identification &amp; Preparation</a:t>
                </a:r>
                <a:endParaRPr/>
              </a:p>
            </p:txBody>
          </p:sp>
          <p:sp>
            <p:nvSpPr>
              <p:cNvPr id="161" name="Google Shape;161;p16"/>
              <p:cNvSpPr txBox="1"/>
              <p:nvPr/>
            </p:nvSpPr>
            <p:spPr>
              <a:xfrm>
                <a:off x="4572000" y="762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Lokesh Tiwari</a:t>
                </a:r>
                <a:endParaRPr/>
              </a:p>
            </p:txBody>
          </p:sp>
        </p:grpSp>
      </p:grpSp>
      <p:sp>
        <p:nvSpPr>
          <p:cNvPr id="162" name="Google Shape;162;p16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Exploratory Data Analysis (EDA)</a:t>
            </a:r>
            <a:endParaRPr b="1" sz="21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Uncovering Critical Imbalances and Background Shortcuts in Vision Datasets</a:t>
            </a:r>
            <a:endParaRPr b="0" sz="13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63" name="Google Shape;163;p16"/>
          <p:cNvGrpSpPr/>
          <p:nvPr/>
        </p:nvGrpSpPr>
        <p:grpSpPr>
          <a:xfrm>
            <a:off x="381000" y="1333500"/>
            <a:ext cx="4000500" cy="2714775"/>
            <a:chOff x="0" y="0"/>
            <a:chExt cx="4000500" cy="2714775"/>
          </a:xfrm>
        </p:grpSpPr>
        <p:sp>
          <p:nvSpPr>
            <p:cNvPr id="164" name="Google Shape;164;p16"/>
            <p:cNvSpPr txBox="1"/>
            <p:nvPr/>
          </p:nvSpPr>
          <p:spPr>
            <a:xfrm>
              <a:off x="0" y="0"/>
              <a:ext cx="400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Wheat Dataset EDA</a:t>
              </a:r>
              <a:endParaRPr b="1" sz="975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0" y="428625"/>
              <a:ext cx="4000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Identified </a:t>
              </a: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45 noisy labels</a:t>
              </a: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exhibiting a severe </a:t>
              </a: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5.6:1 imbalance</a:t>
              </a: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D3748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Canonicalized the split labels into </a:t>
              </a:r>
              <a:r>
                <a:rPr b="0" lang="en" sz="900">
                  <a:solidFill>
                    <a:srgbClr val="1E4D2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15 clean biological classes</a:t>
              </a: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2D3748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Discovered </a:t>
              </a: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646 perceptual hash (pHash) duplicates</a:t>
              </a: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across original splits, indicating data leakage.</a:t>
              </a:r>
              <a:endParaRPr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0" y="1666875"/>
              <a:ext cx="1905000" cy="1047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1666875"/>
              <a:ext cx="1905000" cy="28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142875" y="1762125"/>
              <a:ext cx="1619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45</a:t>
              </a:r>
              <a:endParaRPr b="0" sz="2400">
                <a:solidFill>
                  <a:srgbClr val="1E4D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Noisy Labels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Exhibiting 5.6:1 class imbalance</a:t>
              </a:r>
              <a:endParaRPr b="0" sz="788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2095500" y="1666875"/>
              <a:ext cx="1905000" cy="1047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095500" y="1666875"/>
              <a:ext cx="1905000" cy="28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2238375" y="1762125"/>
              <a:ext cx="1619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646</a:t>
              </a:r>
              <a:endParaRPr b="0" sz="2400">
                <a:solidFill>
                  <a:srgbClr val="1E4D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pHash Duplicates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Identified across original splits</a:t>
              </a:r>
              <a:endParaRPr b="0" sz="788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6"/>
          <p:cNvGrpSpPr/>
          <p:nvPr/>
        </p:nvGrpSpPr>
        <p:grpSpPr>
          <a:xfrm>
            <a:off x="4762500" y="1333500"/>
            <a:ext cx="4000500" cy="2714625"/>
            <a:chOff x="0" y="0"/>
            <a:chExt cx="4000500" cy="2714625"/>
          </a:xfrm>
        </p:grpSpPr>
        <p:sp>
          <p:nvSpPr>
            <p:cNvPr id="173" name="Google Shape;173;p16"/>
            <p:cNvSpPr txBox="1"/>
            <p:nvPr/>
          </p:nvSpPr>
          <p:spPr>
            <a:xfrm>
              <a:off x="0" y="0"/>
              <a:ext cx="400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Rice Datasets &amp; Mitigation</a:t>
              </a:r>
              <a:endParaRPr b="1" sz="975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6"/>
            <p:cNvSpPr txBox="1"/>
            <p:nvPr/>
          </p:nvSpPr>
          <p:spPr>
            <a:xfrm>
              <a:off x="0" y="428625"/>
              <a:ext cx="4000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Analysis of Rice Set 1 &amp; Set 2 revealed </a:t>
              </a:r>
              <a:r>
                <a:rPr b="0" lang="en" sz="90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33.3% burst-capture near-duplicates</a:t>
              </a:r>
              <a:r>
                <a:rPr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concentrated in the Blast class.</a:t>
              </a:r>
              <a:endParaRPr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0" y="1190625"/>
              <a:ext cx="4000500" cy="15240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0" y="1190625"/>
              <a:ext cx="57300" cy="15240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190500" y="13335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Tungro Shortcut Mitigation</a:t>
              </a:r>
              <a:endParaRPr b="1" sz="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Issue:</a:t>
              </a:r>
              <a:r>
                <a:rPr b="0" lang="en" sz="863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Green-background shortcut detected in Tungro class.</a:t>
              </a:r>
              <a:endParaRPr b="0" sz="863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Resolution:</a:t>
              </a:r>
              <a:r>
                <a:rPr lang="en" sz="863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Letterboxed all images to </a:t>
              </a:r>
              <a:r>
                <a:rPr b="1" lang="en" sz="86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256x256 RGB</a:t>
              </a:r>
              <a:r>
                <a:rPr lang="en" sz="863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and introduced background randomization to force biological feature learning instead of environment memorization.</a:t>
              </a:r>
              <a:endParaRPr sz="863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Group-Aware Stratified Splitting</a:t>
            </a:r>
            <a:endParaRPr b="1" sz="18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Guarantees Zero Data Leakage Across 11,530 Unique Image Clusters</a:t>
            </a:r>
            <a:endParaRPr b="0" sz="1125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86" name="Google Shape;186;p17"/>
          <p:cNvGrpSpPr/>
          <p:nvPr/>
        </p:nvGrpSpPr>
        <p:grpSpPr>
          <a:xfrm>
            <a:off x="476250" y="1514475"/>
            <a:ext cx="8191500" cy="1914675"/>
            <a:chOff x="95250" y="228600"/>
            <a:chExt cx="8191500" cy="1914675"/>
          </a:xfrm>
        </p:grpSpPr>
        <p:cxnSp>
          <p:nvCxnSpPr>
            <p:cNvPr id="187" name="Google Shape;187;p17"/>
            <p:cNvCxnSpPr/>
            <p:nvPr/>
          </p:nvCxnSpPr>
          <p:spPr>
            <a:xfrm>
              <a:off x="952500" y="381000"/>
              <a:ext cx="6477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88" name="Google Shape;188;p17"/>
            <p:cNvGrpSpPr/>
            <p:nvPr/>
          </p:nvGrpSpPr>
          <p:grpSpPr>
            <a:xfrm>
              <a:off x="95250" y="228600"/>
              <a:ext cx="1714500" cy="1914675"/>
              <a:chOff x="95250" y="228600"/>
              <a:chExt cx="1714500" cy="1914675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800100" y="228600"/>
                <a:ext cx="304800" cy="3048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E4D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76300" y="304800"/>
                <a:ext cx="152400" cy="152400"/>
              </a:xfrm>
              <a:prstGeom prst="ellipse">
                <a:avLst/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 txBox="1"/>
              <p:nvPr/>
            </p:nvSpPr>
            <p:spPr>
              <a:xfrm>
                <a:off x="95250" y="714375"/>
                <a:ext cx="171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1E4D2B"/>
                    </a:solidFill>
                    <a:latin typeface="Inter"/>
                    <a:ea typeface="Inter"/>
                    <a:cs typeface="Inter"/>
                    <a:sym typeface="Inter"/>
                  </a:rPr>
                  <a:t>1. Deduplication</a:t>
                </a:r>
                <a:endParaRPr b="1" sz="75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Implemented MD5 and pHash Hamming distance (&lt;=6 bits) union-find clustering, reducing 5,932 raw Rice frames to 2,066 sharp unique images.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2" name="Google Shape;192;p17"/>
            <p:cNvGrpSpPr/>
            <p:nvPr/>
          </p:nvGrpSpPr>
          <p:grpSpPr>
            <a:xfrm>
              <a:off x="2247900" y="228600"/>
              <a:ext cx="1714500" cy="1914675"/>
              <a:chOff x="95250" y="228600"/>
              <a:chExt cx="1714500" cy="1914675"/>
            </a:xfrm>
          </p:grpSpPr>
          <p:sp>
            <p:nvSpPr>
              <p:cNvPr id="193" name="Google Shape;193;p17"/>
              <p:cNvSpPr/>
              <p:nvPr/>
            </p:nvSpPr>
            <p:spPr>
              <a:xfrm>
                <a:off x="800100" y="228600"/>
                <a:ext cx="304800" cy="3048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F4E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876300" y="304800"/>
                <a:ext cx="152400" cy="1524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7"/>
              <p:cNvSpPr txBox="1"/>
              <p:nvPr/>
            </p:nvSpPr>
            <p:spPr>
              <a:xfrm>
                <a:off x="95250" y="714375"/>
                <a:ext cx="171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1F4E79"/>
                    </a:solidFill>
                    <a:latin typeface="Inter"/>
                    <a:ea typeface="Inter"/>
                    <a:cs typeface="Inter"/>
                    <a:sym typeface="Inter"/>
                  </a:rPr>
                  <a:t>2. Master Pool</a:t>
                </a:r>
                <a:endParaRPr b="1" sz="7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The unified dataset contains 12,859 total images across 20 canonical classes.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6" name="Google Shape;196;p17"/>
            <p:cNvGrpSpPr/>
            <p:nvPr/>
          </p:nvGrpSpPr>
          <p:grpSpPr>
            <a:xfrm>
              <a:off x="4410075" y="228600"/>
              <a:ext cx="1714500" cy="1914675"/>
              <a:chOff x="95250" y="228600"/>
              <a:chExt cx="1714500" cy="1914675"/>
            </a:xfrm>
          </p:grpSpPr>
          <p:sp>
            <p:nvSpPr>
              <p:cNvPr id="197" name="Google Shape;197;p17"/>
              <p:cNvSpPr/>
              <p:nvPr/>
            </p:nvSpPr>
            <p:spPr>
              <a:xfrm>
                <a:off x="800100" y="228600"/>
                <a:ext cx="304800" cy="3048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D374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7"/>
              <p:cNvSpPr/>
              <p:nvPr/>
            </p:nvSpPr>
            <p:spPr>
              <a:xfrm>
                <a:off x="876300" y="304800"/>
                <a:ext cx="152400" cy="152400"/>
              </a:xfrm>
              <a:prstGeom prst="ellipse">
                <a:avLst/>
              </a:prstGeom>
              <a:solidFill>
                <a:srgbClr val="2D374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7"/>
              <p:cNvSpPr txBox="1"/>
              <p:nvPr/>
            </p:nvSpPr>
            <p:spPr>
              <a:xfrm>
                <a:off x="95250" y="714375"/>
                <a:ext cx="171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3. Leakage Splitting</a:t>
                </a:r>
                <a:endParaRPr b="1" sz="75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Stratified into 80% Train (10,275), 10% Val (1,292), and 10% Test (1,292), enforcing an 8-image evaluation floor per class.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0" name="Google Shape;200;p17"/>
            <p:cNvGrpSpPr/>
            <p:nvPr/>
          </p:nvGrpSpPr>
          <p:grpSpPr>
            <a:xfrm>
              <a:off x="6572250" y="228600"/>
              <a:ext cx="1714500" cy="1914675"/>
              <a:chOff x="95250" y="228600"/>
              <a:chExt cx="1714500" cy="1914675"/>
            </a:xfrm>
          </p:grpSpPr>
          <p:sp>
            <p:nvSpPr>
              <p:cNvPr id="201" name="Google Shape;201;p17"/>
              <p:cNvSpPr/>
              <p:nvPr/>
            </p:nvSpPr>
            <p:spPr>
              <a:xfrm>
                <a:off x="800100" y="228600"/>
                <a:ext cx="304800" cy="3048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876300" y="304800"/>
                <a:ext cx="152400" cy="1524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7"/>
              <p:cNvSpPr txBox="1"/>
              <p:nvPr/>
            </p:nvSpPr>
            <p:spPr>
              <a:xfrm>
                <a:off x="95250" y="714375"/>
                <a:ext cx="171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D97706"/>
                    </a:solidFill>
                    <a:latin typeface="Inter"/>
                    <a:ea typeface="Inter"/>
                    <a:cs typeface="Inter"/>
                    <a:sym typeface="Inter"/>
                  </a:rPr>
                  <a:t>4. Integrity Proof</a:t>
                </a:r>
                <a:endParaRPr b="1" sz="7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Verified zero leakage across train, validation, and test splits by keeping 11,530 pHash group IDs indivisible.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4" name="Google Shape;204;p17"/>
          <p:cNvGrpSpPr/>
          <p:nvPr/>
        </p:nvGrpSpPr>
        <p:grpSpPr>
          <a:xfrm>
            <a:off x="371475" y="3514725"/>
            <a:ext cx="8401200" cy="1066800"/>
            <a:chOff x="-9525" y="-9525"/>
            <a:chExt cx="8401200" cy="1066800"/>
          </a:xfrm>
        </p:grpSpPr>
        <p:pic>
          <p:nvPicPr>
            <p:cNvPr id="205" name="Google Shape;20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8401200" cy="10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7"/>
            <p:cNvSpPr/>
            <p:nvPr/>
          </p:nvSpPr>
          <p:spPr>
            <a:xfrm>
              <a:off x="0" y="38100"/>
              <a:ext cx="0" cy="9717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228600" y="152400"/>
              <a:ext cx="79248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PIPELINE INTEGRITY GUARANTEE</a:t>
              </a:r>
              <a:endParaRPr b="1" sz="975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The group-aware stratified splitting protocol processes a master merged pool of 12,859 images across 20 classes. By maintaining 11,530 unique pHash clusters as indivisible split units, the pipeline successfully guarantees </a:t>
              </a:r>
              <a:r>
                <a:rPr b="1" lang="en" sz="863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zero data leakage</a:t>
              </a:r>
              <a:r>
                <a:rPr b="0"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across train, validation, and test partitions.</a:t>
              </a:r>
              <a:endParaRPr b="0" sz="86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17"/>
          <p:cNvGrpSpPr/>
          <p:nvPr/>
        </p:nvGrpSpPr>
        <p:grpSpPr>
          <a:xfrm>
            <a:off x="0" y="0"/>
            <a:ext cx="8382000" cy="266700"/>
            <a:chOff x="0" y="0"/>
            <a:chExt cx="8382000" cy="266700"/>
          </a:xfrm>
        </p:grpSpPr>
        <p:cxnSp>
          <p:nvCxnSpPr>
            <p:cNvPr id="209" name="Google Shape;209;p17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17"/>
            <p:cNvSpPr txBox="1"/>
            <p:nvPr/>
          </p:nvSpPr>
          <p:spPr>
            <a:xfrm>
              <a:off x="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45720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18"/>
          <p:cNvGrpSpPr/>
          <p:nvPr/>
        </p:nvGrpSpPr>
        <p:grpSpPr>
          <a:xfrm>
            <a:off x="381000" y="4857750"/>
            <a:ext cx="8382000" cy="266700"/>
            <a:chOff x="0" y="0"/>
            <a:chExt cx="8382000" cy="266700"/>
          </a:xfrm>
        </p:grpSpPr>
        <p:cxnSp>
          <p:nvCxnSpPr>
            <p:cNvPr id="220" name="Google Shape;220;p18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1" name="Google Shape;221;p18"/>
            <p:cNvSpPr txBox="1"/>
            <p:nvPr/>
          </p:nvSpPr>
          <p:spPr>
            <a:xfrm>
              <a:off x="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222" name="Google Shape;222;p18"/>
            <p:cNvSpPr txBox="1"/>
            <p:nvPr/>
          </p:nvSpPr>
          <p:spPr>
            <a:xfrm>
              <a:off x="45720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  <p:sp>
        <p:nvSpPr>
          <p:cNvPr id="223" name="Google Shape;223;p18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The PlantDoc Dataset</a:t>
            </a:r>
            <a:endParaRPr b="1" sz="21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0" lang="en" sz="13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Strict 2,598-image holdout for out-of-distribution robustness evaluation</a:t>
            </a:r>
            <a:endParaRPr b="0" sz="13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24" name="Google Shape;224;p18"/>
          <p:cNvGrpSpPr/>
          <p:nvPr/>
        </p:nvGrpSpPr>
        <p:grpSpPr>
          <a:xfrm>
            <a:off x="381000" y="1333500"/>
            <a:ext cx="8382000" cy="3238500"/>
            <a:chOff x="0" y="0"/>
            <a:chExt cx="8382000" cy="3238500"/>
          </a:xfrm>
        </p:grpSpPr>
        <p:sp>
          <p:nvSpPr>
            <p:cNvPr id="225" name="Google Shape;225;p18"/>
            <p:cNvSpPr txBox="1"/>
            <p:nvPr/>
          </p:nvSpPr>
          <p:spPr>
            <a:xfrm>
              <a:off x="0" y="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The PlantDoc dataset serves as a rigorous, out-of-distribution (OOD) benchmark to evaluate model reliability in real-world agricultural deployments.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Evaluation Purpose: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Designed exclusively for OOD robustness evaluation against challenging real-world farmer smartphone captures.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Dataset Volume: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Comprises </a:t>
              </a:r>
              <a:r>
                <a:rPr b="1" lang="en" sz="90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2,598 field images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featuring complex background clutter, variable outdoor lighting, multiple overlapping leaves, and severe occlusion.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Strategic Role: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Strictly held out from training; reserved entirely for Milestone 3 lab-to-field generalization testing and Tungro Grad-CAM saliency audits.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26" name="Google Shape;226;p18"/>
            <p:cNvGrpSpPr/>
            <p:nvPr/>
          </p:nvGrpSpPr>
          <p:grpSpPr>
            <a:xfrm>
              <a:off x="4953000" y="0"/>
              <a:ext cx="3429000" cy="3048000"/>
              <a:chOff x="0" y="0"/>
              <a:chExt cx="3429000" cy="3048000"/>
            </a:xfrm>
          </p:grpSpPr>
          <p:sp>
            <p:nvSpPr>
              <p:cNvPr id="227" name="Google Shape;227;p18"/>
              <p:cNvSpPr/>
              <p:nvPr/>
            </p:nvSpPr>
            <p:spPr>
              <a:xfrm>
                <a:off x="0" y="0"/>
                <a:ext cx="3429000" cy="2571900"/>
              </a:xfrm>
              <a:prstGeom prst="rect">
                <a:avLst/>
              </a:prstGeom>
              <a:solidFill>
                <a:srgbClr val="F8FAFC"/>
              </a:solidFill>
              <a:ln cap="flat" cmpd="sng" w="14300">
                <a:solidFill>
                  <a:srgbClr val="2D374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8" name="Google Shape;228;p18"/>
              <p:cNvGrpSpPr/>
              <p:nvPr/>
            </p:nvGrpSpPr>
            <p:grpSpPr>
              <a:xfrm>
                <a:off x="0" y="0"/>
                <a:ext cx="3429000" cy="2571900"/>
                <a:chOff x="0" y="0"/>
                <a:chExt cx="3429000" cy="2571900"/>
              </a:xfrm>
            </p:grpSpPr>
            <p:cxnSp>
              <p:nvCxnSpPr>
                <p:cNvPr id="229" name="Google Shape;229;p18"/>
                <p:cNvCxnSpPr/>
                <p:nvPr/>
              </p:nvCxnSpPr>
              <p:spPr>
                <a:xfrm>
                  <a:off x="571500" y="0"/>
                  <a:ext cx="0" cy="25719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18"/>
                <p:cNvCxnSpPr/>
                <p:nvPr/>
              </p:nvCxnSpPr>
              <p:spPr>
                <a:xfrm>
                  <a:off x="1143000" y="0"/>
                  <a:ext cx="0" cy="25719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18"/>
                <p:cNvCxnSpPr/>
                <p:nvPr/>
              </p:nvCxnSpPr>
              <p:spPr>
                <a:xfrm>
                  <a:off x="1714500" y="0"/>
                  <a:ext cx="0" cy="25719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2" name="Google Shape;232;p18"/>
                <p:cNvCxnSpPr/>
                <p:nvPr/>
              </p:nvCxnSpPr>
              <p:spPr>
                <a:xfrm>
                  <a:off x="2286000" y="0"/>
                  <a:ext cx="0" cy="25719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3" name="Google Shape;233;p18"/>
                <p:cNvCxnSpPr/>
                <p:nvPr/>
              </p:nvCxnSpPr>
              <p:spPr>
                <a:xfrm>
                  <a:off x="2857500" y="0"/>
                  <a:ext cx="0" cy="257190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4" name="Google Shape;234;p18"/>
                <p:cNvCxnSpPr/>
                <p:nvPr/>
              </p:nvCxnSpPr>
              <p:spPr>
                <a:xfrm>
                  <a:off x="0" y="428625"/>
                  <a:ext cx="3429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5" name="Google Shape;235;p18"/>
                <p:cNvCxnSpPr/>
                <p:nvPr/>
              </p:nvCxnSpPr>
              <p:spPr>
                <a:xfrm>
                  <a:off x="0" y="857250"/>
                  <a:ext cx="3429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6" name="Google Shape;236;p18"/>
                <p:cNvCxnSpPr/>
                <p:nvPr/>
              </p:nvCxnSpPr>
              <p:spPr>
                <a:xfrm>
                  <a:off x="0" y="1285875"/>
                  <a:ext cx="3429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7" name="Google Shape;237;p18"/>
                <p:cNvCxnSpPr/>
                <p:nvPr/>
              </p:nvCxnSpPr>
              <p:spPr>
                <a:xfrm>
                  <a:off x="0" y="1714500"/>
                  <a:ext cx="3429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8" name="Google Shape;238;p18"/>
                <p:cNvCxnSpPr/>
                <p:nvPr/>
              </p:nvCxnSpPr>
              <p:spPr>
                <a:xfrm>
                  <a:off x="0" y="2143125"/>
                  <a:ext cx="3429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9" name="Google Shape;239;p18"/>
                <p:cNvSpPr/>
                <p:nvPr/>
              </p:nvSpPr>
              <p:spPr>
                <a:xfrm>
                  <a:off x="381000" y="952500"/>
                  <a:ext cx="2095500" cy="15240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105000"/>
                      </a:moveTo>
                      <a:cubicBezTo>
                        <a:pt x="27273" y="15000"/>
                        <a:pt x="76364" y="0"/>
                        <a:pt x="109091" y="45000"/>
                      </a:cubicBezTo>
                      <a:cubicBezTo>
                        <a:pt x="120000" y="60000"/>
                        <a:pt x="87273" y="120000"/>
                        <a:pt x="38182" y="120000"/>
                      </a:cubicBezTo>
                      <a:close/>
                    </a:path>
                  </a:pathLst>
                </a:custGeom>
                <a:solidFill>
                  <a:srgbClr val="14351E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" name="Google Shape;240;p18"/>
                <p:cNvSpPr/>
                <p:nvPr/>
              </p:nvSpPr>
              <p:spPr>
                <a:xfrm>
                  <a:off x="2095500" y="1524000"/>
                  <a:ext cx="1238400" cy="10479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5455"/>
                      </a:moveTo>
                      <a:cubicBezTo>
                        <a:pt x="36923" y="0"/>
                        <a:pt x="92308" y="0"/>
                        <a:pt x="110769" y="65455"/>
                      </a:cubicBezTo>
                      <a:cubicBezTo>
                        <a:pt x="120000" y="98182"/>
                        <a:pt x="73846" y="120000"/>
                        <a:pt x="18462" y="109091"/>
                      </a:cubicBezTo>
                      <a:close/>
                    </a:path>
                  </a:pathLst>
                </a:custGeom>
                <a:solidFill>
                  <a:srgbClr val="1F4E7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41" name="Google Shape;241;p1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52500" y="600075"/>
                  <a:ext cx="1938300" cy="1343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2" name="Google Shape;242;p18"/>
                <p:cNvSpPr/>
                <p:nvPr/>
              </p:nvSpPr>
              <p:spPr>
                <a:xfrm>
                  <a:off x="1905000" y="809625"/>
                  <a:ext cx="523800" cy="476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24000"/>
                      </a:moveTo>
                      <a:cubicBezTo>
                        <a:pt x="32727" y="0"/>
                        <a:pt x="76364" y="12000"/>
                        <a:pt x="98182" y="48000"/>
                      </a:cubicBezTo>
                      <a:cubicBezTo>
                        <a:pt x="120000" y="84000"/>
                        <a:pt x="76364" y="120000"/>
                        <a:pt x="32727" y="96000"/>
                      </a:cubicBezTo>
                      <a:close/>
                    </a:path>
                  </a:pathLst>
                </a:custGeom>
                <a:solidFill>
                  <a:srgbClr val="D97706">
                    <a:alpha val="8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" name="Google Shape;243;p18"/>
                <p:cNvSpPr/>
                <p:nvPr/>
              </p:nvSpPr>
              <p:spPr>
                <a:xfrm>
                  <a:off x="1619250" y="1095375"/>
                  <a:ext cx="285900" cy="2859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0000"/>
                      </a:moveTo>
                      <a:cubicBezTo>
                        <a:pt x="40000" y="0"/>
                        <a:pt x="80000" y="20000"/>
                        <a:pt x="100000" y="60000"/>
                      </a:cubicBezTo>
                      <a:cubicBezTo>
                        <a:pt x="120000" y="100000"/>
                        <a:pt x="60000" y="120000"/>
                        <a:pt x="20000" y="100000"/>
                      </a:cubicBezTo>
                      <a:close/>
                    </a:path>
                  </a:pathLst>
                </a:custGeom>
                <a:solidFill>
                  <a:srgbClr val="D97706">
                    <a:alpha val="7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44" name="Google Shape;244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524000" y="571500"/>
                  <a:ext cx="10479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45" name="Google Shape;245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1752600" y="800100"/>
                  <a:ext cx="590700" cy="590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46" name="Google Shape;246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1514475" y="561975"/>
                  <a:ext cx="1066800" cy="1066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7" name="Google Shape;247;p18"/>
                <p:cNvSpPr/>
                <p:nvPr/>
              </p:nvSpPr>
              <p:spPr>
                <a:xfrm>
                  <a:off x="190500" y="190500"/>
                  <a:ext cx="190500" cy="1905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120000"/>
                      </a:moveTo>
                      <a:lnTo>
                        <a:pt x="0" y="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2D374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" name="Google Shape;248;p18"/>
                <p:cNvSpPr/>
                <p:nvPr/>
              </p:nvSpPr>
              <p:spPr>
                <a:xfrm>
                  <a:off x="3048000" y="190500"/>
                  <a:ext cx="190500" cy="190500"/>
                </a:xfrm>
                <a:custGeom>
                  <a:rect b="b" l="l" r="r" t="t"/>
                  <a:pathLst>
                    <a:path extrusionOk="0" h="120000" w="120000">
                      <a:moveTo>
                        <a:pt x="120000" y="120000"/>
                      </a:moveTo>
                      <a:lnTo>
                        <a:pt x="12000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2D374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" name="Google Shape;249;p18"/>
                <p:cNvSpPr/>
                <p:nvPr/>
              </p:nvSpPr>
              <p:spPr>
                <a:xfrm>
                  <a:off x="190500" y="2190750"/>
                  <a:ext cx="190500" cy="1905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0" y="120000"/>
                      </a:lnTo>
                      <a:lnTo>
                        <a:pt x="120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2D374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18"/>
                <p:cNvSpPr/>
                <p:nvPr/>
              </p:nvSpPr>
              <p:spPr>
                <a:xfrm>
                  <a:off x="3048000" y="2190750"/>
                  <a:ext cx="190500" cy="190500"/>
                </a:xfrm>
                <a:custGeom>
                  <a:rect b="b" l="l" r="r" t="t"/>
                  <a:pathLst>
                    <a:path extrusionOk="0" h="120000" w="120000">
                      <a:moveTo>
                        <a:pt x="120000" y="0"/>
                      </a:moveTo>
                      <a:lnTo>
                        <a:pt x="120000" y="120000"/>
                      </a:lnTo>
                      <a:lnTo>
                        <a:pt x="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2D374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51" name="Google Shape;251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1652588" y="1223963"/>
                  <a:ext cx="123900" cy="123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52" name="Google Shape;252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1619250" y="1190625"/>
                  <a:ext cx="190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3" name="Google Shape;253;p18"/>
                <p:cNvSpPr txBox="1"/>
                <p:nvPr/>
              </p:nvSpPr>
              <p:spPr>
                <a:xfrm>
                  <a:off x="238125" y="238125"/>
                  <a:ext cx="2952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600">
                      <a:solidFill>
                        <a:srgbClr val="2D374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CAMERA_MODE: OOD_ROBUSTNESS_EVAL</a:t>
                  </a:r>
                  <a:br>
                    <a:rPr lang="en" sz="600">
                      <a:solidFill>
                        <a:srgbClr val="2D374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lang="en" sz="600">
                      <a:solidFill>
                        <a:srgbClr val="2D374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SHUTTER: 1/250s | ISO 400</a:t>
                  </a:r>
                  <a:endParaRPr sz="600">
                    <a:solidFill>
                      <a:srgbClr val="2D374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8"/>
                <p:cNvSpPr txBox="1"/>
                <p:nvPr/>
              </p:nvSpPr>
              <p:spPr>
                <a:xfrm>
                  <a:off x="238125" y="2143125"/>
                  <a:ext cx="2952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600">
                      <a:solidFill>
                        <a:srgbClr val="2D374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TARGET: TUNGRO_GRAD_CAM_AUDIT</a:t>
                  </a:r>
                  <a:br>
                    <a:rPr lang="en" sz="600">
                      <a:solidFill>
                        <a:srgbClr val="2D374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lang="en" sz="600">
                      <a:solidFill>
                        <a:srgbClr val="2D374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RELIABILITY: HOLDOUT_CONFIRMED</a:t>
                  </a:r>
                  <a:endParaRPr sz="600">
                    <a:solidFill>
                      <a:srgbClr val="2D374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5" name="Google Shape;255;p18"/>
              <p:cNvSpPr txBox="1"/>
              <p:nvPr/>
            </p:nvSpPr>
            <p:spPr>
              <a:xfrm>
                <a:off x="0" y="266700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REPRESENTATIVE OUT-OF-DISTRIBUTION SIMULATION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1" name="Google Shape;261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0" y="76200"/>
              <a:ext cx="9144000" cy="19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19"/>
          <p:cNvSpPr txBox="1"/>
          <p:nvPr/>
        </p:nvSpPr>
        <p:spPr>
          <a:xfrm>
            <a:off x="381000" y="3429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Semantic Chunking of 170 Authoritative Documents</a:t>
            </a:r>
            <a:endParaRPr b="1" sz="195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Yielding 1,451 high-signal retrieval units optimized for cross-lingual MuRIL embedding</a:t>
            </a:r>
            <a:endParaRPr b="0" sz="10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65" name="Google Shape;265;p19"/>
          <p:cNvGrpSpPr/>
          <p:nvPr/>
        </p:nvGrpSpPr>
        <p:grpSpPr>
          <a:xfrm>
            <a:off x="381000" y="1238250"/>
            <a:ext cx="8382000" cy="1285800"/>
            <a:chOff x="0" y="0"/>
            <a:chExt cx="8382000" cy="1285800"/>
          </a:xfrm>
        </p:grpSpPr>
        <p:grpSp>
          <p:nvGrpSpPr>
            <p:cNvPr id="266" name="Google Shape;266;p19"/>
            <p:cNvGrpSpPr/>
            <p:nvPr/>
          </p:nvGrpSpPr>
          <p:grpSpPr>
            <a:xfrm>
              <a:off x="0" y="0"/>
              <a:ext cx="2667000" cy="1285800"/>
              <a:chOff x="0" y="0"/>
              <a:chExt cx="2667000" cy="1285800"/>
            </a:xfrm>
          </p:grpSpPr>
          <p:sp>
            <p:nvSpPr>
              <p:cNvPr id="267" name="Google Shape;267;p19"/>
              <p:cNvSpPr/>
              <p:nvPr/>
            </p:nvSpPr>
            <p:spPr>
              <a:xfrm>
                <a:off x="0" y="0"/>
                <a:ext cx="2667000" cy="12858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9"/>
              <p:cNvSpPr txBox="1"/>
              <p:nvPr/>
            </p:nvSpPr>
            <p:spPr>
              <a:xfrm>
                <a:off x="171450" y="152400"/>
                <a:ext cx="23241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1E4D2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170</a:t>
                </a:r>
                <a:endParaRPr b="0" sz="24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F4E7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Authoritative PDFs</a:t>
                </a:r>
                <a:endParaRPr b="0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Aggregated corpus comprising national schemes, ICAR advisories, PM-KISAN, PMFBY, and PPQS guidelines.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0" name="Google Shape;270;p19"/>
            <p:cNvGrpSpPr/>
            <p:nvPr/>
          </p:nvGrpSpPr>
          <p:grpSpPr>
            <a:xfrm>
              <a:off x="2857500" y="0"/>
              <a:ext cx="2667000" cy="1285800"/>
              <a:chOff x="0" y="0"/>
              <a:chExt cx="2667000" cy="1285800"/>
            </a:xfrm>
          </p:grpSpPr>
          <p:sp>
            <p:nvSpPr>
              <p:cNvPr id="271" name="Google Shape;271;p19"/>
              <p:cNvSpPr/>
              <p:nvPr/>
            </p:nvSpPr>
            <p:spPr>
              <a:xfrm>
                <a:off x="0" y="0"/>
                <a:ext cx="2667000" cy="12858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9"/>
              <p:cNvSpPr txBox="1"/>
              <p:nvPr/>
            </p:nvSpPr>
            <p:spPr>
              <a:xfrm>
                <a:off x="171450" y="152400"/>
                <a:ext cx="23241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1E4D2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1,451</a:t>
                </a:r>
                <a:endParaRPr b="0" sz="24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F4E7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High-Signal Chunks</a:t>
                </a:r>
                <a:endParaRPr b="0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Retrieval units specifically optimized for cross-lingual alignment and MuRIL embedding models.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4" name="Google Shape;274;p19"/>
            <p:cNvGrpSpPr/>
            <p:nvPr/>
          </p:nvGrpSpPr>
          <p:grpSpPr>
            <a:xfrm>
              <a:off x="5715000" y="0"/>
              <a:ext cx="2667000" cy="1285800"/>
              <a:chOff x="0" y="0"/>
              <a:chExt cx="2667000" cy="1285800"/>
            </a:xfrm>
          </p:grpSpPr>
          <p:sp>
            <p:nvSpPr>
              <p:cNvPr id="275" name="Google Shape;275;p19"/>
              <p:cNvSpPr/>
              <p:nvPr/>
            </p:nvSpPr>
            <p:spPr>
              <a:xfrm>
                <a:off x="0" y="0"/>
                <a:ext cx="2667000" cy="12858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9"/>
              <p:cNvSpPr txBox="1"/>
              <p:nvPr/>
            </p:nvSpPr>
            <p:spPr>
              <a:xfrm>
                <a:off x="171450" y="152400"/>
                <a:ext cx="23241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1E4D2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512</a:t>
                </a:r>
                <a:endParaRPr b="0" sz="24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F4E7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Token Chunk Length</a:t>
                </a:r>
                <a:endParaRPr b="0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Sentence-aware boundary constraint applied to avoid contextual fragmentation across policy clauses.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78" name="Google Shape;278;p19"/>
          <p:cNvGrpSpPr/>
          <p:nvPr/>
        </p:nvGrpSpPr>
        <p:grpSpPr>
          <a:xfrm>
            <a:off x="381000" y="2762250"/>
            <a:ext cx="8382075" cy="1762200"/>
            <a:chOff x="0" y="0"/>
            <a:chExt cx="8382075" cy="1762200"/>
          </a:xfrm>
        </p:grpSpPr>
        <p:grpSp>
          <p:nvGrpSpPr>
            <p:cNvPr id="279" name="Google Shape;279;p19"/>
            <p:cNvGrpSpPr/>
            <p:nvPr/>
          </p:nvGrpSpPr>
          <p:grpSpPr>
            <a:xfrm>
              <a:off x="0" y="0"/>
              <a:ext cx="4048200" cy="1762200"/>
              <a:chOff x="0" y="0"/>
              <a:chExt cx="4048200" cy="1762200"/>
            </a:xfrm>
          </p:grpSpPr>
          <p:sp>
            <p:nvSpPr>
              <p:cNvPr id="280" name="Google Shape;280;p19"/>
              <p:cNvSpPr/>
              <p:nvPr/>
            </p:nvSpPr>
            <p:spPr>
              <a:xfrm>
                <a:off x="0" y="0"/>
                <a:ext cx="4048200" cy="17622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0" y="0"/>
                <a:ext cx="38100" cy="17622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9"/>
              <p:cNvSpPr txBox="1"/>
              <p:nvPr/>
            </p:nvSpPr>
            <p:spPr>
              <a:xfrm>
                <a:off x="190500" y="171450"/>
                <a:ext cx="3667200" cy="14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1F4E79"/>
                    </a:solidFill>
                    <a:latin typeface="Inter"/>
                    <a:ea typeface="Inter"/>
                    <a:cs typeface="Inter"/>
                    <a:sym typeface="Inter"/>
                  </a:rPr>
                  <a:t>EDA &amp; Preprocessing Flow</a:t>
                </a:r>
                <a:endParaRPr b="1" sz="82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Executed automated </a:t>
                </a:r>
                <a:r>
                  <a:rPr b="0" lang="en" sz="825">
                    <a:solidFill>
                      <a:srgbClr val="1F4E7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300 DPI Tesseract OCR fallback</a:t>
                </a: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 pipeline to parse and extract text from legacy or scanned policy documents.</a:t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Performed rigorous </a:t>
                </a:r>
                <a:r>
                  <a:rPr b="0" lang="en" sz="825">
                    <a:solidFill>
                      <a:srgbClr val="1F4E7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text deduplication</a:t>
                </a: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 and sanitization to remove boilerplate headers and ensure corpus integrity.</a:t>
                </a:r>
                <a:endParaRPr/>
              </a:p>
            </p:txBody>
          </p:sp>
        </p:grpSp>
        <p:grpSp>
          <p:nvGrpSpPr>
            <p:cNvPr id="283" name="Google Shape;283;p19"/>
            <p:cNvGrpSpPr/>
            <p:nvPr/>
          </p:nvGrpSpPr>
          <p:grpSpPr>
            <a:xfrm>
              <a:off x="4333875" y="0"/>
              <a:ext cx="4048200" cy="1762200"/>
              <a:chOff x="0" y="0"/>
              <a:chExt cx="4048200" cy="1762200"/>
            </a:xfrm>
          </p:grpSpPr>
          <p:sp>
            <p:nvSpPr>
              <p:cNvPr id="284" name="Google Shape;284;p19"/>
              <p:cNvSpPr/>
              <p:nvPr/>
            </p:nvSpPr>
            <p:spPr>
              <a:xfrm>
                <a:off x="0" y="0"/>
                <a:ext cx="4048200" cy="17622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0" y="0"/>
                <a:ext cx="38100" cy="1762200"/>
              </a:xfrm>
              <a:prstGeom prst="rect">
                <a:avLst/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9"/>
              <p:cNvSpPr txBox="1"/>
              <p:nvPr/>
            </p:nvSpPr>
            <p:spPr>
              <a:xfrm>
                <a:off x="190500" y="171450"/>
                <a:ext cx="3667200" cy="14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1E4D2B"/>
                    </a:solidFill>
                    <a:latin typeface="Inter"/>
                    <a:ea typeface="Inter"/>
                    <a:cs typeface="Inter"/>
                    <a:sym typeface="Inter"/>
                  </a:rPr>
                  <a:t>Semantic Chunking Strategy</a:t>
                </a:r>
                <a:endParaRPr b="1" sz="82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Applied </a:t>
                </a:r>
                <a:r>
                  <a:rPr b="0" lang="en" sz="825">
                    <a:solidFill>
                      <a:srgbClr val="1E4D2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sentence-aware tokenization</a:t>
                </a: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 to prevent breaking contextual statements across chunk boundaries.</a:t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Produced high-density chunks explicitly optimized for downstream </a:t>
                </a:r>
                <a:r>
                  <a:rPr b="0" lang="en" sz="825">
                    <a:solidFill>
                      <a:srgbClr val="1E4D2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MuRIL embeddings</a:t>
                </a: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 and cross-lingual RAG architectures.</a:t>
                </a:r>
                <a:endParaRPr/>
              </a:p>
            </p:txBody>
          </p:sp>
        </p:grpSp>
      </p:grpSp>
      <p:grpSp>
        <p:nvGrpSpPr>
          <p:cNvPr id="287" name="Google Shape;287;p19"/>
          <p:cNvGrpSpPr/>
          <p:nvPr/>
        </p:nvGrpSpPr>
        <p:grpSpPr>
          <a:xfrm>
            <a:off x="381000" y="4762500"/>
            <a:ext cx="8382000" cy="266700"/>
            <a:chOff x="0" y="0"/>
            <a:chExt cx="8382000" cy="266700"/>
          </a:xfrm>
        </p:grpSpPr>
        <p:cxnSp>
          <p:nvCxnSpPr>
            <p:cNvPr id="288" name="Google Shape;288;p19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9" name="Google Shape;289;p19"/>
            <p:cNvSpPr txBox="1"/>
            <p:nvPr/>
          </p:nvSpPr>
          <p:spPr>
            <a:xfrm>
              <a:off x="0" y="76200"/>
              <a:ext cx="419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4191000" y="76200"/>
              <a:ext cx="419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381000" y="333375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Cross-Lingual Call Center Data Requires Multilingual MuRIL Embeddings</a:t>
            </a:r>
            <a:endParaRPr b="1" sz="18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Establishing semantic representation for 3.12 Million farmer queries from Uttar Pradesh</a:t>
            </a:r>
            <a:endParaRPr b="0" sz="10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99" name="Google Shape;299;p20"/>
          <p:cNvGrpSpPr/>
          <p:nvPr/>
        </p:nvGrpSpPr>
        <p:grpSpPr>
          <a:xfrm>
            <a:off x="381000" y="1190625"/>
            <a:ext cx="8382000" cy="1047900"/>
            <a:chOff x="0" y="0"/>
            <a:chExt cx="8382000" cy="1047900"/>
          </a:xfrm>
        </p:grpSpPr>
        <p:sp>
          <p:nvSpPr>
            <p:cNvPr id="300" name="Google Shape;300;p20"/>
            <p:cNvSpPr/>
            <p:nvPr/>
          </p:nvSpPr>
          <p:spPr>
            <a:xfrm>
              <a:off x="0" y="0"/>
              <a:ext cx="8382000" cy="10479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0" y="0"/>
              <a:ext cx="57300" cy="10479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 txBox="1"/>
            <p:nvPr/>
          </p:nvSpPr>
          <p:spPr>
            <a:xfrm>
              <a:off x="238125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3.12M+</a:t>
              </a:r>
              <a:endParaRPr b="0" sz="3600">
                <a:solidFill>
                  <a:srgbClr val="1E4D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Historical Records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3" name="Google Shape;303;p20"/>
            <p:cNvSpPr txBox="1"/>
            <p:nvPr/>
          </p:nvSpPr>
          <p:spPr>
            <a:xfrm>
              <a:off x="2667000" y="142875"/>
              <a:ext cx="5476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UP Kisan Call Center Dataset (2020–2025)</a:t>
              </a:r>
              <a:endParaRPr b="0" sz="1125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A highly complex multi-lingual agricultural corpus. The massive vocabulary discrepancy between farmer queries and expert answers mandates robust, localized cross-lingual semantic embedding vectors.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4" name="Google Shape;304;p20"/>
          <p:cNvGrpSpPr/>
          <p:nvPr/>
        </p:nvGrpSpPr>
        <p:grpSpPr>
          <a:xfrm>
            <a:off x="381000" y="2428875"/>
            <a:ext cx="2667000" cy="2238300"/>
            <a:chOff x="0" y="0"/>
            <a:chExt cx="2667000" cy="223830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0"/>
              <a:ext cx="2667000" cy="22383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142875" y="190500"/>
              <a:ext cx="2381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E4D2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Cross-Lingual EDA Insights</a:t>
              </a:r>
              <a:endParaRPr b="0" sz="750">
                <a:solidFill>
                  <a:srgbClr val="1E4D2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114300" lvl="0" marL="114300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Identified that </a:t>
              </a: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99.98%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of queries are in English or Hinglish.</a:t>
              </a:r>
              <a:endParaRPr sz="86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114300" lvl="0" marL="1143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While </a:t>
              </a: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98.80%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of expert answers are in Hindi.</a:t>
              </a:r>
              <a:endParaRPr sz="86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8" name="Google Shape;308;p20"/>
          <p:cNvGrpSpPr/>
          <p:nvPr/>
        </p:nvGrpSpPr>
        <p:grpSpPr>
          <a:xfrm>
            <a:off x="3238500" y="2428875"/>
            <a:ext cx="2667000" cy="2238300"/>
            <a:chOff x="0" y="0"/>
            <a:chExt cx="2667000" cy="2238300"/>
          </a:xfrm>
        </p:grpSpPr>
        <p:sp>
          <p:nvSpPr>
            <p:cNvPr id="309" name="Google Shape;309;p20"/>
            <p:cNvSpPr/>
            <p:nvPr/>
          </p:nvSpPr>
          <p:spPr>
            <a:xfrm>
              <a:off x="0" y="0"/>
              <a:ext cx="2667000" cy="22383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142875" y="190500"/>
              <a:ext cx="2381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Dataset Scale &amp; Chunking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114300" lvl="0" marL="114300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Processed </a:t>
              </a:r>
              <a:r>
                <a:rPr b="1" lang="en" sz="863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3,123,029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historical farmer Q&amp;A records from the Uttar Pradesh Kisan Call Center spanning 2020–2025.</a:t>
              </a:r>
              <a:endParaRPr sz="86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114300" lvl="0" marL="1143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Confirmed that </a:t>
              </a:r>
              <a:r>
                <a:rPr b="1" lang="en" sz="863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98.9%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of records fit cleanly under the 512-character limit.</a:t>
              </a:r>
              <a:endParaRPr sz="86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2" name="Google Shape;312;p20"/>
          <p:cNvGrpSpPr/>
          <p:nvPr/>
        </p:nvGrpSpPr>
        <p:grpSpPr>
          <a:xfrm>
            <a:off x="6096000" y="2428875"/>
            <a:ext cx="2667000" cy="2238300"/>
            <a:chOff x="0" y="0"/>
            <a:chExt cx="2667000" cy="2238300"/>
          </a:xfrm>
        </p:grpSpPr>
        <p:sp>
          <p:nvSpPr>
            <p:cNvPr id="313" name="Google Shape;313;p20"/>
            <p:cNvSpPr/>
            <p:nvPr/>
          </p:nvSpPr>
          <p:spPr>
            <a:xfrm>
              <a:off x="0" y="0"/>
              <a:ext cx="2667000" cy="22383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 txBox="1"/>
            <p:nvPr/>
          </p:nvSpPr>
          <p:spPr>
            <a:xfrm>
              <a:off x="142875" y="190500"/>
              <a:ext cx="2381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Preprocessing Actions</a:t>
              </a:r>
              <a:endParaRPr b="0" sz="75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114300" lvl="0" marL="114300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Dropped empty season columns and removed boilerplate weather duplicates.</a:t>
              </a:r>
              <a:endParaRPr sz="86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114300" lvl="0" marL="1143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▪</a:t>
              </a:r>
              <a:r>
                <a:rPr lang="en" sz="86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Prepared the corpus for cross-lingual MuRIL vector indexing.</a:t>
              </a:r>
              <a:endParaRPr sz="86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6" name="Google Shape;316;p20"/>
          <p:cNvGrpSpPr/>
          <p:nvPr/>
        </p:nvGrpSpPr>
        <p:grpSpPr>
          <a:xfrm>
            <a:off x="381000" y="4857750"/>
            <a:ext cx="8382000" cy="266700"/>
            <a:chOff x="0" y="0"/>
            <a:chExt cx="8382000" cy="266700"/>
          </a:xfrm>
        </p:grpSpPr>
        <p:cxnSp>
          <p:nvCxnSpPr>
            <p:cNvPr id="317" name="Google Shape;317;p20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20"/>
            <p:cNvSpPr txBox="1"/>
            <p:nvPr/>
          </p:nvSpPr>
          <p:spPr>
            <a:xfrm>
              <a:off x="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45720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21"/>
          <p:cNvGrpSpPr/>
          <p:nvPr/>
        </p:nvGrpSpPr>
        <p:grpSpPr>
          <a:xfrm>
            <a:off x="381000" y="4857750"/>
            <a:ext cx="8382000" cy="266700"/>
            <a:chOff x="0" y="0"/>
            <a:chExt cx="8382000" cy="266700"/>
          </a:xfrm>
        </p:grpSpPr>
        <p:cxnSp>
          <p:nvCxnSpPr>
            <p:cNvPr id="328" name="Google Shape;328;p21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9" name="Google Shape;329;p21"/>
            <p:cNvSpPr txBox="1"/>
            <p:nvPr/>
          </p:nvSpPr>
          <p:spPr>
            <a:xfrm>
              <a:off x="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330" name="Google Shape;330;p21"/>
            <p:cNvSpPr txBox="1"/>
            <p:nvPr/>
          </p:nvSpPr>
          <p:spPr>
            <a:xfrm>
              <a:off x="45720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  <p:sp>
        <p:nvSpPr>
          <p:cNvPr id="331" name="Google Shape;331;p21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Non-Parametric MissForest Imputation</a:t>
            </a:r>
            <a:endParaRPr b="1" sz="18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Reconstructs Missing Features Across 440,962 Pan-India Agricultural Records</a:t>
            </a:r>
            <a:endParaRPr b="0" sz="1125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32" name="Google Shape;332;p21"/>
          <p:cNvGrpSpPr/>
          <p:nvPr/>
        </p:nvGrpSpPr>
        <p:grpSpPr>
          <a:xfrm>
            <a:off x="381000" y="1333500"/>
            <a:ext cx="8001000" cy="3238500"/>
            <a:chOff x="0" y="0"/>
            <a:chExt cx="8001000" cy="3238500"/>
          </a:xfrm>
        </p:grpSpPr>
        <p:sp>
          <p:nvSpPr>
            <p:cNvPr id="333" name="Google Shape;333;p21"/>
            <p:cNvSpPr txBox="1"/>
            <p:nvPr/>
          </p:nvSpPr>
          <p:spPr>
            <a:xfrm>
              <a:off x="0" y="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To establish a rigorous modeling foundation, we executed standard data engineering pipelines followed by advanced machine learning imputation to resolve data sparsity.</a:t>
              </a:r>
              <a:endParaRPr b="0" sz="97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938">
                  <a:solidFill>
                    <a:srgbClr val="1E4D2B"/>
                  </a:solidFill>
                </a:rPr>
                <a:t>■</a:t>
              </a:r>
              <a:r>
                <a:rPr lang="en" sz="938">
                  <a:solidFill>
                    <a:srgbClr val="2D3748"/>
                  </a:solidFill>
                </a:rPr>
                <a:t> </a:t>
              </a:r>
              <a:r>
                <a:rPr b="1" lang="en" sz="938">
                  <a:solidFill>
                    <a:srgbClr val="1E4D2B"/>
                  </a:solidFill>
                </a:rPr>
                <a:t>Dataset Scope:</a:t>
              </a:r>
              <a:r>
                <a:rPr lang="en" sz="938">
                  <a:solidFill>
                    <a:srgbClr val="2D3748"/>
                  </a:solidFill>
                </a:rPr>
                <a:t> The baseline encompasses 440,962 historical production records covering 124 crops across 35 States and Union Territories.</a:t>
              </a:r>
              <a:endParaRPr sz="938">
                <a:solidFill>
                  <a:srgbClr val="2D3748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38">
                  <a:solidFill>
                    <a:srgbClr val="1F4E79"/>
                  </a:solidFill>
                </a:rPr>
                <a:t>■</a:t>
              </a:r>
              <a:r>
                <a:rPr lang="en" sz="938">
                  <a:solidFill>
                    <a:srgbClr val="2D3748"/>
                  </a:solidFill>
                </a:rPr>
                <a:t> </a:t>
              </a:r>
              <a:r>
                <a:rPr b="1" lang="en" sz="938">
                  <a:solidFill>
                    <a:srgbClr val="1F4E79"/>
                  </a:solidFill>
                </a:rPr>
                <a:t>EDA &amp; Cleaning:</a:t>
              </a:r>
              <a:r>
                <a:rPr lang="en" sz="938">
                  <a:solidFill>
                    <a:srgbClr val="2D3748"/>
                  </a:solidFill>
                </a:rPr>
                <a:t> Standardized disparate production units across regions, notably converting coconut counts directly to metric tonnes.</a:t>
              </a:r>
              <a:endParaRPr sz="938">
                <a:solidFill>
                  <a:srgbClr val="2D3748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38">
                  <a:solidFill>
                    <a:srgbClr val="D97706"/>
                  </a:solidFill>
                </a:rPr>
                <a:t>■</a:t>
              </a:r>
              <a:r>
                <a:rPr lang="en" sz="938">
                  <a:solidFill>
                    <a:srgbClr val="2D3748"/>
                  </a:solidFill>
                </a:rPr>
                <a:t> </a:t>
              </a:r>
              <a:r>
                <a:rPr b="1" lang="en" sz="938">
                  <a:solidFill>
                    <a:srgbClr val="D97706"/>
                  </a:solidFill>
                </a:rPr>
                <a:t>Missing Value Imputation:</a:t>
              </a:r>
              <a:r>
                <a:rPr lang="en" sz="938">
                  <a:solidFill>
                    <a:srgbClr val="2D3748"/>
                  </a:solidFill>
                </a:rPr>
                <a:t> Deployed MissForest, a non-parametric Random Forest ML imputation technique.</a:t>
              </a:r>
              <a:endParaRPr sz="938">
                <a:solidFill>
                  <a:srgbClr val="2D3748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" sz="938">
                  <a:solidFill>
                    <a:srgbClr val="2D3748"/>
                  </a:solidFill>
                </a:rPr>
                <a:t>■</a:t>
              </a:r>
              <a:r>
                <a:rPr lang="en" sz="938">
                  <a:solidFill>
                    <a:srgbClr val="2D3748"/>
                  </a:solidFill>
                </a:rPr>
                <a:t> </a:t>
              </a:r>
              <a:r>
                <a:rPr b="1" lang="en" sz="938">
                  <a:solidFill>
                    <a:srgbClr val="2D3748"/>
                  </a:solidFill>
                </a:rPr>
                <a:t>Imputation Impact:</a:t>
              </a:r>
              <a:r>
                <a:rPr lang="en" sz="938">
                  <a:solidFill>
                    <a:srgbClr val="2D3748"/>
                  </a:solidFill>
                </a:rPr>
                <a:t> Accurately reconstructed missing secondary features without introducing linear distortion into the historical dataset.</a:t>
              </a:r>
              <a:endParaRPr sz="938">
                <a:solidFill>
                  <a:srgbClr val="2D3748"/>
                </a:solidFill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4191000" y="0"/>
              <a:ext cx="3810000" cy="28098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4191000" y="0"/>
              <a:ext cx="3810000" cy="3810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4333875" y="76200"/>
              <a:ext cx="352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Crop Data Completeness &amp; Imputation Matrix</a:t>
              </a: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4333875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4572000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4810125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5048250" y="523875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5286375" y="52387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5524500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5762625" y="523875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6000750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6238875" y="52387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6477000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6715125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6953250" y="52387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7191375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7429500" y="523875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7667625" y="5238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4333875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4572000" y="7620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4810125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5048250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5286375" y="762000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5524500" y="7620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5762625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6000750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6238875" y="762000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6477000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6715125" y="7620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6953250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7191375" y="762000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7429500" y="7620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7667625" y="7620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4333875" y="100012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4572000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4810125" y="1000125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5048250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5286375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5524500" y="100012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5762625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6000750" y="1000125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6238875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6477000" y="100012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6715125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6953250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7191375" y="1000125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7429500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7667625" y="100012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4333875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4572000" y="1238250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4810125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5048250" y="123825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5286375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5524500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5762625" y="1238250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6000750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6238875" y="123825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6477000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6715125" y="1238250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6953250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7191375" y="123825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7429500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7667625" y="123825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4333875" y="1476375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4572000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4810125" y="147637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5048250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5286375" y="1476375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5524500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5762625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6000750" y="147637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6238875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6477000" y="1476375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6715125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6953250" y="1476375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7191375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7429500" y="1476375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7667625" y="1476375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4333875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4572000" y="17145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4810125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5048250" y="1714500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5286375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5524500" y="1714500"/>
              <a:ext cx="190500" cy="1905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5762625" y="17145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6000750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6238875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6477000" y="17145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6715125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6953250" y="1714500"/>
              <a:ext cx="1905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7191375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7429500" y="1714500"/>
              <a:ext cx="190500" cy="1905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7667625" y="1714500"/>
              <a:ext cx="190500" cy="190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333875" y="2076450"/>
              <a:ext cx="95400" cy="954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1"/>
            <p:cNvSpPr txBox="1"/>
            <p:nvPr/>
          </p:nvSpPr>
          <p:spPr>
            <a:xfrm>
              <a:off x="4476750" y="203835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Complete</a:t>
              </a:r>
              <a:endParaRPr b="0" sz="675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5143500" y="2076450"/>
              <a:ext cx="95400" cy="954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 txBox="1"/>
            <p:nvPr/>
          </p:nvSpPr>
          <p:spPr>
            <a:xfrm>
              <a:off x="5286375" y="203835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Imputed</a:t>
              </a:r>
              <a:endParaRPr b="0" sz="675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5953125" y="2076450"/>
              <a:ext cx="95400" cy="954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 txBox="1"/>
            <p:nvPr/>
          </p:nvSpPr>
          <p:spPr>
            <a:xfrm>
              <a:off x="6096000" y="203835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Critical</a:t>
              </a:r>
              <a:endParaRPr b="0" sz="675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6762750" y="2076450"/>
              <a:ext cx="95400" cy="95400"/>
            </a:xfrm>
            <a:prstGeom prst="rect">
              <a:avLst/>
            </a:prstGeom>
            <a:solidFill>
              <a:srgbClr val="C1C9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 txBox="1"/>
            <p:nvPr/>
          </p:nvSpPr>
          <p:spPr>
            <a:xfrm>
              <a:off x="6905625" y="203835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Sparse</a:t>
              </a:r>
              <a:endParaRPr b="0" sz="675">
                <a:solidFill>
                  <a:srgbClr val="2D374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435" name="Google Shape;435;p21"/>
            <p:cNvCxnSpPr/>
            <p:nvPr/>
          </p:nvCxnSpPr>
          <p:spPr>
            <a:xfrm>
              <a:off x="4333875" y="2333625"/>
              <a:ext cx="352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6" name="Google Shape;436;p21"/>
            <p:cNvSpPr txBox="1"/>
            <p:nvPr/>
          </p:nvSpPr>
          <p:spPr>
            <a:xfrm>
              <a:off x="4333875" y="2409825"/>
              <a:ext cx="352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MissForest OOB Error:</a:t>
              </a:r>
              <a:r>
                <a:rPr b="0" lang="en" sz="75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7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0.042 (NRMSE)</a:t>
              </a:r>
              <a:r>
                <a:rPr b="0" lang="en" sz="75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75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Total Features:</a:t>
              </a:r>
              <a:r>
                <a:rPr b="0" lang="en" sz="75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124 Crops</a:t>
              </a:r>
              <a:endParaRPr b="0" sz="75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42" name="Google Shape;442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0" y="76200"/>
              <a:ext cx="9144000" cy="19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5" name="Google Shape;445;p22"/>
            <p:cNvGrpSpPr/>
            <p:nvPr/>
          </p:nvGrpSpPr>
          <p:grpSpPr>
            <a:xfrm>
              <a:off x="0" y="0"/>
              <a:ext cx="8382000" cy="266700"/>
              <a:chOff x="0" y="0"/>
              <a:chExt cx="8382000" cy="266700"/>
            </a:xfrm>
          </p:grpSpPr>
          <p:cxnSp>
            <p:nvCxnSpPr>
              <p:cNvPr id="446" name="Google Shape;446;p22"/>
              <p:cNvCxnSpPr/>
              <p:nvPr/>
            </p:nvCxnSpPr>
            <p:spPr>
              <a:xfrm>
                <a:off x="0" y="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47" name="Google Shape;447;p22"/>
              <p:cNvSpPr txBox="1"/>
              <p:nvPr/>
            </p:nvSpPr>
            <p:spPr>
              <a:xfrm>
                <a:off x="0" y="7620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AgriAssist • Milestone 2: Dataset Identification &amp; Preparation</a:t>
                </a:r>
                <a:endParaRPr/>
              </a:p>
            </p:txBody>
          </p:sp>
          <p:sp>
            <p:nvSpPr>
              <p:cNvPr id="448" name="Google Shape;448;p22"/>
              <p:cNvSpPr txBox="1"/>
              <p:nvPr/>
            </p:nvSpPr>
            <p:spPr>
              <a:xfrm>
                <a:off x="4572000" y="7620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Lokesh Tiwari</a:t>
                </a:r>
                <a:endParaRPr/>
              </a:p>
            </p:txBody>
          </p:sp>
        </p:grpSp>
      </p:grpSp>
      <p:sp>
        <p:nvSpPr>
          <p:cNvPr id="449" name="Google Shape;449;p22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Spatial Backcasting &amp; Meteorological Enrichment</a:t>
            </a:r>
            <a:endParaRPr b="1" sz="21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0" lang="en" sz="13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Robust 3,996-Record Uttar Pradesh Yield Cohort Developed</a:t>
            </a:r>
            <a:endParaRPr b="0" sz="13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50" name="Google Shape;450;p22"/>
          <p:cNvGrpSpPr/>
          <p:nvPr/>
        </p:nvGrpSpPr>
        <p:grpSpPr>
          <a:xfrm>
            <a:off x="381000" y="1333500"/>
            <a:ext cx="8382000" cy="3238500"/>
            <a:chOff x="0" y="0"/>
            <a:chExt cx="8382000" cy="3238500"/>
          </a:xfrm>
        </p:grpSpPr>
        <p:sp>
          <p:nvSpPr>
            <p:cNvPr id="451" name="Google Shape;451;p22"/>
            <p:cNvSpPr txBox="1"/>
            <p:nvPr/>
          </p:nvSpPr>
          <p:spPr>
            <a:xfrm>
              <a:off x="0" y="0"/>
              <a:ext cx="4286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E4D2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DATASET SCOPE</a:t>
              </a:r>
              <a:endParaRPr b="0" sz="750">
                <a:solidFill>
                  <a:srgbClr val="1E4D2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Curated a localized domain set of </a:t>
              </a:r>
              <a:r>
                <a:rPr b="0" lang="en" sz="900">
                  <a:solidFill>
                    <a:srgbClr val="1E4D2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3,996 records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spanning all </a:t>
              </a:r>
              <a:r>
                <a:rPr b="0" lang="en" sz="900">
                  <a:solidFill>
                    <a:srgbClr val="1E4D2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75 districts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of Uttar Pradesh.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ADMINISTRATIVE CONTINUITY FIX</a:t>
              </a:r>
              <a:endParaRPr b="0" sz="75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Resolved </a:t>
              </a: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164 historical district discontinuity records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caused by post-1997 bifurcations via parent-district proportional area apportionment, allocating an approximate </a:t>
              </a: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28% share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FEATURE ENRICHMENT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750"/>
                </a:spcAft>
                <a:buNone/>
              </a:pP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Integrated localized </a:t>
              </a:r>
              <a:r>
                <a:rPr b="1" lang="en" sz="90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IMD and ICRISAT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seasonal meteorological variables, including rainfall and temperature anomalies, to boost regression accuracy.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4762500" y="0"/>
              <a:ext cx="3619500" cy="2409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57888" y="0"/>
              <a:ext cx="9600" cy="240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58038" y="0"/>
              <a:ext cx="9600" cy="240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2500" y="795338"/>
              <a:ext cx="36006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2500" y="1595438"/>
              <a:ext cx="3600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22"/>
            <p:cNvSpPr/>
            <p:nvPr/>
          </p:nvSpPr>
          <p:spPr>
            <a:xfrm>
              <a:off x="5191125" y="771525"/>
              <a:ext cx="857400" cy="857400"/>
            </a:xfrm>
            <a:prstGeom prst="ellipse">
              <a:avLst/>
            </a:prstGeom>
            <a:solidFill>
              <a:srgbClr val="E2E8F0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8" name="Google Shape;458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48375" y="709613"/>
              <a:ext cx="795300" cy="5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48375" y="1190625"/>
              <a:ext cx="795300" cy="5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22"/>
            <p:cNvSpPr/>
            <p:nvPr/>
          </p:nvSpPr>
          <p:spPr>
            <a:xfrm>
              <a:off x="6858000" y="438150"/>
              <a:ext cx="1238400" cy="609600"/>
            </a:xfrm>
            <a:prstGeom prst="rect">
              <a:avLst/>
            </a:prstGeom>
            <a:solidFill>
              <a:srgbClr val="1E4D2B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6858000" y="1343025"/>
              <a:ext cx="1238400" cy="609600"/>
            </a:xfrm>
            <a:prstGeom prst="rect">
              <a:avLst/>
            </a:prstGeom>
            <a:solidFill>
              <a:srgbClr val="D97706"/>
            </a:solidFill>
            <a:ln cap="flat" cmpd="sng" w="9525">
              <a:solidFill>
                <a:srgbClr val="2D37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 txBox="1"/>
            <p:nvPr/>
          </p:nvSpPr>
          <p:spPr>
            <a:xfrm>
              <a:off x="5238750" y="981075"/>
              <a:ext cx="762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PARENT</a:t>
              </a:r>
              <a:endParaRPr b="1" sz="75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100% Area</a:t>
              </a:r>
              <a:endParaRPr b="0" sz="67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3" name="Google Shape;463;p22"/>
            <p:cNvSpPr txBox="1"/>
            <p:nvPr/>
          </p:nvSpPr>
          <p:spPr>
            <a:xfrm>
              <a:off x="6905625" y="485775"/>
              <a:ext cx="1143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7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RETAINED AREA</a:t>
              </a:r>
              <a:endParaRPr b="1" sz="6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~72% SHARE</a:t>
              </a:r>
              <a:endParaRPr b="0" sz="9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64" name="Google Shape;464;p22"/>
            <p:cNvSpPr txBox="1"/>
            <p:nvPr/>
          </p:nvSpPr>
          <p:spPr>
            <a:xfrm>
              <a:off x="6905625" y="1390650"/>
              <a:ext cx="1143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7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BIFURCATED</a:t>
              </a:r>
              <a:endParaRPr b="1" sz="6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~28% SHARE</a:t>
              </a:r>
              <a:endParaRPr b="0" sz="9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65" name="Google Shape;465;p22"/>
            <p:cNvSpPr txBox="1"/>
            <p:nvPr/>
          </p:nvSpPr>
          <p:spPr>
            <a:xfrm>
              <a:off x="4762500" y="211455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Fig 1.1: Post-1997 Apportionment Model (164 Discontinuities Resolved)</a:t>
              </a: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4762500" y="2600325"/>
              <a:ext cx="3619500" cy="6381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4762500" y="2600325"/>
              <a:ext cx="38100" cy="6381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2"/>
            <p:cNvSpPr txBox="1"/>
            <p:nvPr/>
          </p:nvSpPr>
          <p:spPr>
            <a:xfrm>
              <a:off x="4905375" y="2647950"/>
              <a:ext cx="33339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METHODOLOGY VALIDATION</a:t>
              </a:r>
              <a:endParaRPr b="1" sz="75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The 28% parent-district area apportionment successfully maintains spatial and administrative continuity for longitudinal yield regression modeling.</a:t>
              </a:r>
              <a:endParaRPr b="0" sz="75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74" name="Google Shape;474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0" y="76200"/>
              <a:ext cx="9144000" cy="19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7" name="Google Shape;477;p23"/>
            <p:cNvGrpSpPr/>
            <p:nvPr/>
          </p:nvGrpSpPr>
          <p:grpSpPr>
            <a:xfrm>
              <a:off x="381000" y="4857750"/>
              <a:ext cx="8382000" cy="266700"/>
              <a:chOff x="0" y="0"/>
              <a:chExt cx="8382000" cy="266700"/>
            </a:xfrm>
          </p:grpSpPr>
          <p:cxnSp>
            <p:nvCxnSpPr>
              <p:cNvPr id="478" name="Google Shape;478;p23"/>
              <p:cNvCxnSpPr/>
              <p:nvPr/>
            </p:nvCxnSpPr>
            <p:spPr>
              <a:xfrm>
                <a:off x="0" y="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79" name="Google Shape;479;p23"/>
              <p:cNvSpPr txBox="1"/>
              <p:nvPr/>
            </p:nvSpPr>
            <p:spPr>
              <a:xfrm>
                <a:off x="0" y="76200"/>
                <a:ext cx="419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AgriAssist • Milestone 2: Dataset Identification &amp; Preparation</a:t>
                </a:r>
                <a:endParaRPr/>
              </a:p>
            </p:txBody>
          </p:sp>
          <p:sp>
            <p:nvSpPr>
              <p:cNvPr id="480" name="Google Shape;480;p23"/>
              <p:cNvSpPr txBox="1"/>
              <p:nvPr/>
            </p:nvSpPr>
            <p:spPr>
              <a:xfrm>
                <a:off x="4191000" y="76200"/>
                <a:ext cx="419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2D374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Lokesh Tiwari</a:t>
                </a:r>
                <a:endParaRPr/>
              </a:p>
            </p:txBody>
          </p:sp>
        </p:grpSp>
      </p:grpSp>
      <p:sp>
        <p:nvSpPr>
          <p:cNvPr id="481" name="Google Shape;481;p23"/>
          <p:cNvSpPr txBox="1"/>
          <p:nvPr/>
        </p:nvSpPr>
        <p:spPr>
          <a:xfrm>
            <a:off x="381000" y="333375"/>
            <a:ext cx="8382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Strict Data Governance</a:t>
            </a:r>
            <a:endParaRPr b="1" sz="21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0" lang="en" sz="13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Ensures Complete PII Anonymization and Open-Data Licensing Compliance</a:t>
            </a:r>
            <a:endParaRPr b="0" sz="13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82" name="Google Shape;482;p23"/>
          <p:cNvGrpSpPr/>
          <p:nvPr/>
        </p:nvGrpSpPr>
        <p:grpSpPr>
          <a:xfrm>
            <a:off x="381000" y="1238250"/>
            <a:ext cx="4000500" cy="1714500"/>
            <a:chOff x="0" y="0"/>
            <a:chExt cx="4000500" cy="1714500"/>
          </a:xfrm>
        </p:grpSpPr>
        <p:sp>
          <p:nvSpPr>
            <p:cNvPr id="483" name="Google Shape;483;p23"/>
            <p:cNvSpPr/>
            <p:nvPr/>
          </p:nvSpPr>
          <p:spPr>
            <a:xfrm>
              <a:off x="0" y="0"/>
              <a:ext cx="4000500" cy="17145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0" y="0"/>
              <a:ext cx="4000500" cy="381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3"/>
            <p:cNvSpPr txBox="1"/>
            <p:nvPr/>
          </p:nvSpPr>
          <p:spPr>
            <a:xfrm>
              <a:off x="190500" y="190500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Licensing Compliance</a:t>
              </a:r>
              <a:endParaRPr b="0" sz="13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Verified open-data compliance across </a:t>
              </a:r>
              <a:r>
                <a:rPr b="1" lang="en" sz="97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Kaggle</a:t>
              </a: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97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CC-BY</a:t>
              </a: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vision sets, alongside official </a:t>
              </a:r>
              <a:r>
                <a:rPr b="1" lang="en" sz="97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data.gov.in</a:t>
              </a: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97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UP Agriculture</a:t>
              </a: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government portals.</a:t>
              </a:r>
              <a:endParaRPr b="0" sz="97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6" name="Google Shape;486;p23"/>
          <p:cNvGrpSpPr/>
          <p:nvPr/>
        </p:nvGrpSpPr>
        <p:grpSpPr>
          <a:xfrm>
            <a:off x="4762500" y="1238250"/>
            <a:ext cx="4000500" cy="1714500"/>
            <a:chOff x="0" y="0"/>
            <a:chExt cx="4000500" cy="1714500"/>
          </a:xfrm>
        </p:grpSpPr>
        <p:sp>
          <p:nvSpPr>
            <p:cNvPr id="487" name="Google Shape;487;p23"/>
            <p:cNvSpPr/>
            <p:nvPr/>
          </p:nvSpPr>
          <p:spPr>
            <a:xfrm>
              <a:off x="0" y="0"/>
              <a:ext cx="4000500" cy="17145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0" y="0"/>
              <a:ext cx="4000500" cy="381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3"/>
            <p:cNvSpPr txBox="1"/>
            <p:nvPr/>
          </p:nvSpPr>
          <p:spPr>
            <a:xfrm>
              <a:off x="190500" y="190500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E4D2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Privacy &amp; PII Anonymization</a:t>
              </a:r>
              <a:endParaRPr b="0" sz="1350">
                <a:solidFill>
                  <a:srgbClr val="1E4D2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Executed complete anonymization of </a:t>
              </a:r>
              <a:r>
                <a:rPr b="1" lang="en" sz="97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KCC Call IDs</a:t>
              </a:r>
              <a:r>
                <a:rPr b="0" lang="en" sz="97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. Ensured zero storage of farmer names, phone numbers, or residential addresses.</a:t>
              </a:r>
              <a:endParaRPr b="0" sz="97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0" name="Google Shape;490;p23"/>
          <p:cNvGrpSpPr/>
          <p:nvPr/>
        </p:nvGrpSpPr>
        <p:grpSpPr>
          <a:xfrm>
            <a:off x="381000" y="3190875"/>
            <a:ext cx="8382000" cy="1285800"/>
            <a:chOff x="0" y="0"/>
            <a:chExt cx="8382000" cy="1285800"/>
          </a:xfrm>
        </p:grpSpPr>
        <p:sp>
          <p:nvSpPr>
            <p:cNvPr id="491" name="Google Shape;491;p23"/>
            <p:cNvSpPr/>
            <p:nvPr/>
          </p:nvSpPr>
          <p:spPr>
            <a:xfrm>
              <a:off x="0" y="0"/>
              <a:ext cx="8382000" cy="1285800"/>
            </a:xfrm>
            <a:prstGeom prst="rect">
              <a:avLst/>
            </a:prstGeom>
            <a:solidFill>
              <a:srgbClr val="FFFBEB"/>
            </a:solidFill>
            <a:ln cap="flat" cmpd="sng" w="143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0" y="0"/>
              <a:ext cx="76200" cy="12858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3"/>
            <p:cNvSpPr txBox="1"/>
            <p:nvPr/>
          </p:nvSpPr>
          <p:spPr>
            <a:xfrm>
              <a:off x="266700" y="190500"/>
              <a:ext cx="78486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Safety Guardrails</a:t>
              </a:r>
              <a:endParaRPr b="1" sz="105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750"/>
                </a:spcAft>
                <a:buNone/>
              </a:pPr>
              <a:r>
                <a:rPr b="0" lang="en" sz="105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Integrated strict confidence thresholds () and abstention logic into the system design to prevent unsafe or hallucinated pesticide dosage recommendations.</a:t>
              </a:r>
              <a:endParaRPr b="0" sz="105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4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24"/>
          <p:cNvGrpSpPr/>
          <p:nvPr/>
        </p:nvGrpSpPr>
        <p:grpSpPr>
          <a:xfrm>
            <a:off x="381000" y="4762500"/>
            <a:ext cx="8382000" cy="266700"/>
            <a:chOff x="0" y="0"/>
            <a:chExt cx="8382000" cy="266700"/>
          </a:xfrm>
        </p:grpSpPr>
        <p:cxnSp>
          <p:nvCxnSpPr>
            <p:cNvPr id="502" name="Google Shape;502;p24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3" name="Google Shape;503;p24"/>
            <p:cNvSpPr txBox="1"/>
            <p:nvPr/>
          </p:nvSpPr>
          <p:spPr>
            <a:xfrm>
              <a:off x="0" y="76200"/>
              <a:ext cx="409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504" name="Google Shape;504;p24"/>
            <p:cNvSpPr txBox="1"/>
            <p:nvPr/>
          </p:nvSpPr>
          <p:spPr>
            <a:xfrm>
              <a:off x="45720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  <p:sp>
        <p:nvSpPr>
          <p:cNvPr id="505" name="Google Shape;505;p24"/>
          <p:cNvSpPr txBox="1"/>
          <p:nvPr/>
        </p:nvSpPr>
        <p:spPr>
          <a:xfrm>
            <a:off x="381000" y="3333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Dataset Preprocessing &amp; Pipeline Transformations</a:t>
            </a:r>
            <a:endParaRPr b="1" sz="195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End-to-End Preprocessing Transforms Raw Multimodal Inputs into High-Fidelity Training Artifacts</a:t>
            </a:r>
            <a:endParaRPr b="0" sz="1125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06" name="Google Shape;506;p24"/>
          <p:cNvGrpSpPr/>
          <p:nvPr/>
        </p:nvGrpSpPr>
        <p:grpSpPr>
          <a:xfrm>
            <a:off x="381000" y="1238250"/>
            <a:ext cx="8382000" cy="3210075"/>
            <a:chOff x="0" y="0"/>
            <a:chExt cx="8382000" cy="3210075"/>
          </a:xfrm>
        </p:grpSpPr>
        <p:sp>
          <p:nvSpPr>
            <p:cNvPr id="507" name="Google Shape;507;p24"/>
            <p:cNvSpPr/>
            <p:nvPr/>
          </p:nvSpPr>
          <p:spPr>
            <a:xfrm>
              <a:off x="0" y="0"/>
              <a:ext cx="8382000" cy="333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0" y="400050"/>
              <a:ext cx="8382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0" y="1114425"/>
              <a:ext cx="8382000" cy="6669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0" y="1828800"/>
              <a:ext cx="8382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0" y="2543175"/>
              <a:ext cx="8382000" cy="6669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12" name="Google Shape;512;p24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F4E7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24"/>
            <p:cNvCxnSpPr/>
            <p:nvPr/>
          </p:nvCxnSpPr>
          <p:spPr>
            <a:xfrm>
              <a:off x="0" y="3333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4D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4" name="Google Shape;514;p24"/>
            <p:cNvCxnSpPr/>
            <p:nvPr/>
          </p:nvCxnSpPr>
          <p:spPr>
            <a:xfrm>
              <a:off x="0" y="10668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5" name="Google Shape;515;p24"/>
            <p:cNvCxnSpPr/>
            <p:nvPr/>
          </p:nvCxnSpPr>
          <p:spPr>
            <a:xfrm>
              <a:off x="0" y="17811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6" name="Google Shape;516;p24"/>
            <p:cNvCxnSpPr/>
            <p:nvPr/>
          </p:nvCxnSpPr>
          <p:spPr>
            <a:xfrm>
              <a:off x="0" y="24955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" name="Google Shape;517;p24"/>
            <p:cNvCxnSpPr/>
            <p:nvPr/>
          </p:nvCxnSpPr>
          <p:spPr>
            <a:xfrm>
              <a:off x="0" y="32099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4D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8" name="Google Shape;518;p24"/>
            <p:cNvCxnSpPr/>
            <p:nvPr/>
          </p:nvCxnSpPr>
          <p:spPr>
            <a:xfrm>
              <a:off x="0" y="0"/>
              <a:ext cx="0" cy="321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9" name="Google Shape;519;p24"/>
            <p:cNvCxnSpPr/>
            <p:nvPr/>
          </p:nvCxnSpPr>
          <p:spPr>
            <a:xfrm>
              <a:off x="1571625" y="0"/>
              <a:ext cx="0" cy="321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0" name="Google Shape;520;p24"/>
            <p:cNvCxnSpPr/>
            <p:nvPr/>
          </p:nvCxnSpPr>
          <p:spPr>
            <a:xfrm>
              <a:off x="3476625" y="0"/>
              <a:ext cx="0" cy="321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1" name="Google Shape;521;p24"/>
            <p:cNvCxnSpPr/>
            <p:nvPr/>
          </p:nvCxnSpPr>
          <p:spPr>
            <a:xfrm>
              <a:off x="6096000" y="0"/>
              <a:ext cx="0" cy="321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2" name="Google Shape;522;p24"/>
            <p:cNvCxnSpPr/>
            <p:nvPr/>
          </p:nvCxnSpPr>
          <p:spPr>
            <a:xfrm>
              <a:off x="8382000" y="0"/>
              <a:ext cx="0" cy="3210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3" name="Google Shape;523;p24"/>
            <p:cNvSpPr/>
            <p:nvPr/>
          </p:nvSpPr>
          <p:spPr>
            <a:xfrm>
              <a:off x="0" y="400050"/>
              <a:ext cx="38100" cy="6669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0" y="1114425"/>
              <a:ext cx="38100" cy="6669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0" y="1828800"/>
              <a:ext cx="38100" cy="6669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0" y="2543175"/>
              <a:ext cx="38100" cy="666900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4"/>
            <p:cNvSpPr txBox="1"/>
            <p:nvPr/>
          </p:nvSpPr>
          <p:spPr>
            <a:xfrm>
              <a:off x="114300" y="76200"/>
              <a:ext cx="1381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Dataset Subsystem</a:t>
              </a:r>
              <a:endParaRPr/>
            </a:p>
          </p:txBody>
        </p:sp>
        <p:sp>
          <p:nvSpPr>
            <p:cNvPr id="528" name="Google Shape;528;p24"/>
            <p:cNvSpPr txBox="1"/>
            <p:nvPr/>
          </p:nvSpPr>
          <p:spPr>
            <a:xfrm>
              <a:off x="1666875" y="762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Raw Volume Input</a:t>
              </a:r>
              <a:endParaRPr/>
            </a:p>
          </p:txBody>
        </p:sp>
        <p:sp>
          <p:nvSpPr>
            <p:cNvPr id="529" name="Google Shape;529;p24"/>
            <p:cNvSpPr txBox="1"/>
            <p:nvPr/>
          </p:nvSpPr>
          <p:spPr>
            <a:xfrm>
              <a:off x="3571875" y="76200"/>
              <a:ext cx="2428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Core Transformation Applied</a:t>
              </a:r>
              <a:endParaRPr/>
            </a:p>
          </p:txBody>
        </p:sp>
        <p:sp>
          <p:nvSpPr>
            <p:cNvPr id="530" name="Google Shape;530;p24"/>
            <p:cNvSpPr txBox="1"/>
            <p:nvPr/>
          </p:nvSpPr>
          <p:spPr>
            <a:xfrm>
              <a:off x="6191250" y="7620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Final Curated Artifact Output</a:t>
              </a:r>
              <a:endParaRPr/>
            </a:p>
          </p:txBody>
        </p:sp>
        <p:sp>
          <p:nvSpPr>
            <p:cNvPr id="531" name="Google Shape;531;p24"/>
            <p:cNvSpPr txBox="1"/>
            <p:nvPr/>
          </p:nvSpPr>
          <p:spPr>
            <a:xfrm>
              <a:off x="142875" y="447675"/>
              <a:ext cx="1381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Vision</a:t>
              </a:r>
              <a:endParaRPr b="1" sz="1013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Image Corpus</a:t>
              </a:r>
              <a:endParaRPr b="0" sz="675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32" name="Google Shape;532;p24"/>
            <p:cNvSpPr txBox="1"/>
            <p:nvPr/>
          </p:nvSpPr>
          <p:spPr>
            <a:xfrm>
              <a:off x="1666875" y="4476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14,154 Wheat images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5,932 Rice S1 images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120 Rice S2 images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3" name="Google Shape;533;p24"/>
            <p:cNvSpPr txBox="1"/>
            <p:nvPr/>
          </p:nvSpPr>
          <p:spPr>
            <a:xfrm>
              <a:off x="3571875" y="447675"/>
              <a:ext cx="2428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Merged all raw sources, executed rigorous deduplication, and applied standardized letterboxing.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4" name="Google Shape;534;p24"/>
            <p:cNvSpPr txBox="1"/>
            <p:nvPr/>
          </p:nvSpPr>
          <p:spPr>
            <a:xfrm>
              <a:off x="6191250" y="44767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12,859 Clean Images</a:t>
              </a:r>
              <a:endParaRPr b="1" sz="863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Standardized 256x256 RGB format</a:t>
              </a:r>
              <a:endParaRPr b="0" sz="825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5" name="Google Shape;535;p24"/>
            <p:cNvSpPr txBox="1"/>
            <p:nvPr/>
          </p:nvSpPr>
          <p:spPr>
            <a:xfrm>
              <a:off x="142875" y="1162050"/>
              <a:ext cx="1381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3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RAG PDF</a:t>
              </a:r>
              <a:endParaRPr b="1" sz="1013">
                <a:solidFill>
                  <a:srgbClr val="1F4E7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Document Corpus</a:t>
              </a:r>
              <a:endParaRPr b="0" sz="675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36" name="Google Shape;536;p24"/>
            <p:cNvSpPr txBox="1"/>
            <p:nvPr/>
          </p:nvSpPr>
          <p:spPr>
            <a:xfrm>
              <a:off x="1666875" y="116205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187 Raw PDF files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Unstructured research documents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7" name="Google Shape;537;p24"/>
            <p:cNvSpPr txBox="1"/>
            <p:nvPr/>
          </p:nvSpPr>
          <p:spPr>
            <a:xfrm>
              <a:off x="3571875" y="1162050"/>
              <a:ext cx="2428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Filtered un-extractable layouts and scanned pages, followed by multi-stage semantic chunking.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8" name="Google Shape;538;p24"/>
            <p:cNvSpPr txBox="1"/>
            <p:nvPr/>
          </p:nvSpPr>
          <p:spPr>
            <a:xfrm>
              <a:off x="6191250" y="116205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170 Clean Documents</a:t>
              </a:r>
              <a:endParaRPr b="1" sz="863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Yielding 1,451 semantic chunks</a:t>
              </a:r>
              <a:endParaRPr b="0" sz="825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9" name="Google Shape;539;p24"/>
            <p:cNvSpPr txBox="1"/>
            <p:nvPr/>
          </p:nvSpPr>
          <p:spPr>
            <a:xfrm>
              <a:off x="142875" y="1876425"/>
              <a:ext cx="1381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KCC NLP</a:t>
              </a:r>
              <a:endParaRPr b="1" sz="1013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Text Database</a:t>
              </a:r>
              <a:endParaRPr b="0" sz="675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40" name="Google Shape;540;p24"/>
            <p:cNvSpPr txBox="1"/>
            <p:nvPr/>
          </p:nvSpPr>
          <p:spPr>
            <a:xfrm>
              <a:off x="1666875" y="187642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3.12 Million raw text queries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Multilingual, non-standard dialect inputs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1" name="Google Shape;541;p24"/>
            <p:cNvSpPr txBox="1"/>
            <p:nvPr/>
          </p:nvSpPr>
          <p:spPr>
            <a:xfrm>
              <a:off x="3571875" y="1876425"/>
              <a:ext cx="2428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Applied strict deduplication pipelines and multi-language standardizations across fields.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2" name="Google Shape;542;p24"/>
            <p:cNvSpPr txBox="1"/>
            <p:nvPr/>
          </p:nvSpPr>
          <p:spPr>
            <a:xfrm>
              <a:off x="6191250" y="18764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Standardized Corpus</a:t>
              </a:r>
              <a:endParaRPr b="1" sz="863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Deduplicated multilingual text</a:t>
              </a:r>
              <a:endParaRPr b="0" sz="825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3" name="Google Shape;543;p24"/>
            <p:cNvSpPr txBox="1"/>
            <p:nvPr/>
          </p:nvSpPr>
          <p:spPr>
            <a:xfrm>
              <a:off x="142875" y="2590800"/>
              <a:ext cx="1381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3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Yield</a:t>
              </a:r>
              <a:endParaRPr b="1" sz="1013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Tabular Spatiotemporal</a:t>
              </a:r>
              <a:endParaRPr b="0" sz="675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44" name="Google Shape;544;p24"/>
            <p:cNvSpPr txBox="1"/>
            <p:nvPr/>
          </p:nvSpPr>
          <p:spPr>
            <a:xfrm>
              <a:off x="1666875" y="259080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440,962 Pan-India records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• 3,996 Uttar Pradesh records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5" name="Google Shape;545;p24"/>
            <p:cNvSpPr txBox="1"/>
            <p:nvPr/>
          </p:nvSpPr>
          <p:spPr>
            <a:xfrm>
              <a:off x="3571875" y="2590800"/>
              <a:ext cx="2428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Executed MissForest imputation for missing datasets and localized UP inputs via spatial backcasting.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6" name="Google Shape;546;p24"/>
            <p:cNvSpPr txBox="1"/>
            <p:nvPr/>
          </p:nvSpPr>
          <p:spPr>
            <a:xfrm>
              <a:off x="6191250" y="259080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Unified Tabular Yield Matrix</a:t>
              </a:r>
              <a:endParaRPr b="1" sz="863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Imputed &amp; localized regional subsets</a:t>
              </a:r>
              <a:endParaRPr b="0" sz="825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5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Rigorous Group-Aware and Chronological Splitting</a:t>
            </a:r>
            <a:endParaRPr b="1" sz="195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Strategies Eliminate Cross-Split Data Leakage to Ensure Subsystem Integrity</a:t>
            </a:r>
            <a:endParaRPr b="0" sz="1125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55" name="Google Shape;555;p25"/>
          <p:cNvGrpSpPr/>
          <p:nvPr/>
        </p:nvGrpSpPr>
        <p:grpSpPr>
          <a:xfrm>
            <a:off x="376238" y="1328738"/>
            <a:ext cx="4010100" cy="3243263"/>
            <a:chOff x="376238" y="1328738"/>
            <a:chExt cx="4010100" cy="3243263"/>
          </a:xfrm>
        </p:grpSpPr>
        <p:sp>
          <p:nvSpPr>
            <p:cNvPr id="556" name="Google Shape;556;p25"/>
            <p:cNvSpPr/>
            <p:nvPr/>
          </p:nvSpPr>
          <p:spPr>
            <a:xfrm>
              <a:off x="381000" y="1333500"/>
              <a:ext cx="4000500" cy="32385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7" name="Google Shape;55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6238" y="1328738"/>
              <a:ext cx="401010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25"/>
            <p:cNvSpPr txBox="1"/>
            <p:nvPr/>
          </p:nvSpPr>
          <p:spPr>
            <a:xfrm>
              <a:off x="609600" y="1495425"/>
              <a:ext cx="35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Vision Subsystem Split</a:t>
              </a:r>
              <a:endParaRPr/>
            </a:p>
          </p:txBody>
        </p:sp>
        <p:sp>
          <p:nvSpPr>
            <p:cNvPr id="559" name="Google Shape;559;p25"/>
            <p:cNvSpPr txBox="1"/>
            <p:nvPr/>
          </p:nvSpPr>
          <p:spPr>
            <a:xfrm>
              <a:off x="609600" y="2000250"/>
              <a:ext cx="354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Utilized a </a:t>
              </a:r>
              <a:r>
                <a:rPr b="1" lang="en" sz="90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Group-Aware Stratified Split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. Indivisible pHash clusters were allocated into an 80% Train, 10% Validation, and 10% Test configuration to prevent image leakage.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60" name="Google Shape;560;p25"/>
            <p:cNvGrpSpPr/>
            <p:nvPr/>
          </p:nvGrpSpPr>
          <p:grpSpPr>
            <a:xfrm>
              <a:off x="609600" y="2809875"/>
              <a:ext cx="3543300" cy="152400"/>
              <a:chOff x="609600" y="2809875"/>
              <a:chExt cx="3543300" cy="152400"/>
            </a:xfrm>
          </p:grpSpPr>
          <p:sp>
            <p:nvSpPr>
              <p:cNvPr id="561" name="Google Shape;561;p25"/>
              <p:cNvSpPr/>
              <p:nvPr/>
            </p:nvSpPr>
            <p:spPr>
              <a:xfrm>
                <a:off x="609600" y="2809875"/>
                <a:ext cx="28005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5"/>
              <p:cNvSpPr/>
              <p:nvPr/>
            </p:nvSpPr>
            <p:spPr>
              <a:xfrm>
                <a:off x="3448050" y="2809875"/>
                <a:ext cx="3240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5"/>
              <p:cNvSpPr/>
              <p:nvPr/>
            </p:nvSpPr>
            <p:spPr>
              <a:xfrm>
                <a:off x="3810000" y="2809875"/>
                <a:ext cx="3429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4" name="Google Shape;564;p25"/>
            <p:cNvGrpSpPr/>
            <p:nvPr/>
          </p:nvGrpSpPr>
          <p:grpSpPr>
            <a:xfrm>
              <a:off x="609600" y="3095625"/>
              <a:ext cx="1200300" cy="381000"/>
              <a:chOff x="0" y="0"/>
              <a:chExt cx="1200300" cy="381000"/>
            </a:xfrm>
          </p:grpSpPr>
          <p:sp>
            <p:nvSpPr>
              <p:cNvPr id="565" name="Google Shape;565;p25"/>
              <p:cNvSpPr/>
              <p:nvPr/>
            </p:nvSpPr>
            <p:spPr>
              <a:xfrm>
                <a:off x="0" y="28575"/>
                <a:ext cx="95400" cy="95400"/>
              </a:xfrm>
              <a:prstGeom prst="roundRect">
                <a:avLst>
                  <a:gd fmla="val 10000" name="adj"/>
                </a:avLst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5"/>
              <p:cNvSpPr txBox="1"/>
              <p:nvPr/>
            </p:nvSpPr>
            <p:spPr>
              <a:xfrm>
                <a:off x="152400" y="0"/>
                <a:ext cx="104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Train (80%)</a:t>
                </a:r>
                <a:b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b="0" lang="en" sz="825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pHash Clusters</a:t>
                </a:r>
                <a:endParaRPr b="0" sz="82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67" name="Google Shape;567;p25"/>
            <p:cNvGrpSpPr/>
            <p:nvPr/>
          </p:nvGrpSpPr>
          <p:grpSpPr>
            <a:xfrm>
              <a:off x="1809750" y="3095625"/>
              <a:ext cx="1200300" cy="381000"/>
              <a:chOff x="0" y="0"/>
              <a:chExt cx="1200300" cy="381000"/>
            </a:xfrm>
          </p:grpSpPr>
          <p:sp>
            <p:nvSpPr>
              <p:cNvPr id="568" name="Google Shape;568;p25"/>
              <p:cNvSpPr/>
              <p:nvPr/>
            </p:nvSpPr>
            <p:spPr>
              <a:xfrm>
                <a:off x="0" y="28575"/>
                <a:ext cx="95400" cy="95400"/>
              </a:xfrm>
              <a:prstGeom prst="roundRect">
                <a:avLst>
                  <a:gd fmla="val 10000" name="adj"/>
                </a:avLst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5"/>
              <p:cNvSpPr txBox="1"/>
              <p:nvPr/>
            </p:nvSpPr>
            <p:spPr>
              <a:xfrm>
                <a:off x="152400" y="0"/>
                <a:ext cx="104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Val (10%)</a:t>
                </a:r>
                <a:b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b="0" lang="en" sz="825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Validation</a:t>
                </a:r>
                <a:endParaRPr b="0" sz="82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70" name="Google Shape;570;p25"/>
            <p:cNvGrpSpPr/>
            <p:nvPr/>
          </p:nvGrpSpPr>
          <p:grpSpPr>
            <a:xfrm>
              <a:off x="2952750" y="3095625"/>
              <a:ext cx="1200300" cy="381000"/>
              <a:chOff x="0" y="0"/>
              <a:chExt cx="1200300" cy="381000"/>
            </a:xfrm>
          </p:grpSpPr>
          <p:sp>
            <p:nvSpPr>
              <p:cNvPr id="571" name="Google Shape;571;p25"/>
              <p:cNvSpPr/>
              <p:nvPr/>
            </p:nvSpPr>
            <p:spPr>
              <a:xfrm>
                <a:off x="0" y="28575"/>
                <a:ext cx="95400" cy="95400"/>
              </a:xfrm>
              <a:prstGeom prst="roundRect">
                <a:avLst>
                  <a:gd fmla="val 10000" name="adj"/>
                </a:avLst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5"/>
              <p:cNvSpPr txBox="1"/>
              <p:nvPr/>
            </p:nvSpPr>
            <p:spPr>
              <a:xfrm>
                <a:off x="152400" y="0"/>
                <a:ext cx="104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 (10%)</a:t>
                </a:r>
                <a:b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b="0" lang="en" sz="825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Image Holdout</a:t>
                </a:r>
                <a:endParaRPr b="0" sz="82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573" name="Google Shape;573;p25"/>
            <p:cNvSpPr/>
            <p:nvPr/>
          </p:nvSpPr>
          <p:spPr>
            <a:xfrm>
              <a:off x="609600" y="3733800"/>
              <a:ext cx="57300" cy="573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5"/>
            <p:cNvSpPr txBox="1"/>
            <p:nvPr/>
          </p:nvSpPr>
          <p:spPr>
            <a:xfrm>
              <a:off x="723900" y="3667125"/>
              <a:ext cx="3314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Grouping by perceptual hash (pHash) ensures identical or near-identical crop images do not cross split boundaries, safeguarding validation integrity.</a:t>
              </a:r>
              <a:endParaRPr b="0" sz="8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5" name="Google Shape;575;p25"/>
          <p:cNvGrpSpPr/>
          <p:nvPr/>
        </p:nvGrpSpPr>
        <p:grpSpPr>
          <a:xfrm>
            <a:off x="4757738" y="1328738"/>
            <a:ext cx="4010100" cy="3243263"/>
            <a:chOff x="4757738" y="1328738"/>
            <a:chExt cx="4010100" cy="3243263"/>
          </a:xfrm>
        </p:grpSpPr>
        <p:sp>
          <p:nvSpPr>
            <p:cNvPr id="576" name="Google Shape;576;p25"/>
            <p:cNvSpPr/>
            <p:nvPr/>
          </p:nvSpPr>
          <p:spPr>
            <a:xfrm>
              <a:off x="4762500" y="1333500"/>
              <a:ext cx="4000500" cy="32385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7" name="Google Shape;57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7738" y="1328738"/>
              <a:ext cx="401010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25"/>
            <p:cNvSpPr txBox="1"/>
            <p:nvPr/>
          </p:nvSpPr>
          <p:spPr>
            <a:xfrm>
              <a:off x="4991100" y="1495425"/>
              <a:ext cx="35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Yield Subsystem Split</a:t>
              </a:r>
              <a:endParaRPr/>
            </a:p>
          </p:txBody>
        </p:sp>
        <p:sp>
          <p:nvSpPr>
            <p:cNvPr id="579" name="Google Shape;579;p25"/>
            <p:cNvSpPr txBox="1"/>
            <p:nvPr/>
          </p:nvSpPr>
          <p:spPr>
            <a:xfrm>
              <a:off x="4991100" y="2000250"/>
              <a:ext cx="354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Enforced a </a:t>
              </a:r>
              <a:r>
                <a:rPr b="1" lang="en" sz="90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Strict Chronological Split</a:t>
              </a:r>
              <a:r>
                <a:rPr b="0" lang="en" sz="9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to prevent temporal autocorrelation and ensure the model generalizes effectively to unseen future crop seasons.</a:t>
              </a:r>
              <a:endParaRPr b="0" sz="9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80" name="Google Shape;580;p25"/>
            <p:cNvGrpSpPr/>
            <p:nvPr/>
          </p:nvGrpSpPr>
          <p:grpSpPr>
            <a:xfrm>
              <a:off x="4991100" y="2809875"/>
              <a:ext cx="3543375" cy="152400"/>
              <a:chOff x="4991100" y="2809875"/>
              <a:chExt cx="3543375" cy="152400"/>
            </a:xfrm>
          </p:grpSpPr>
          <p:sp>
            <p:nvSpPr>
              <p:cNvPr id="581" name="Google Shape;581;p25"/>
              <p:cNvSpPr/>
              <p:nvPr/>
            </p:nvSpPr>
            <p:spPr>
              <a:xfrm>
                <a:off x="4991100" y="2809875"/>
                <a:ext cx="28479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7877175" y="2809875"/>
                <a:ext cx="2286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5"/>
              <p:cNvSpPr/>
              <p:nvPr/>
            </p:nvSpPr>
            <p:spPr>
              <a:xfrm>
                <a:off x="8143875" y="2809875"/>
                <a:ext cx="3906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4" name="Google Shape;584;p25"/>
            <p:cNvGrpSpPr/>
            <p:nvPr/>
          </p:nvGrpSpPr>
          <p:grpSpPr>
            <a:xfrm>
              <a:off x="4991100" y="3095625"/>
              <a:ext cx="1200300" cy="381000"/>
              <a:chOff x="0" y="0"/>
              <a:chExt cx="1200300" cy="381000"/>
            </a:xfrm>
          </p:grpSpPr>
          <p:sp>
            <p:nvSpPr>
              <p:cNvPr id="585" name="Google Shape;585;p25"/>
              <p:cNvSpPr/>
              <p:nvPr/>
            </p:nvSpPr>
            <p:spPr>
              <a:xfrm>
                <a:off x="0" y="28575"/>
                <a:ext cx="95400" cy="95400"/>
              </a:xfrm>
              <a:prstGeom prst="roundRect">
                <a:avLst>
                  <a:gd fmla="val 10000" name="adj"/>
                </a:avLst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5"/>
              <p:cNvSpPr txBox="1"/>
              <p:nvPr/>
            </p:nvSpPr>
            <p:spPr>
              <a:xfrm>
                <a:off x="152400" y="0"/>
                <a:ext cx="104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Train (81.5%)</a:t>
                </a:r>
                <a:b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b="0" lang="en" sz="825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1997–2018</a:t>
                </a:r>
                <a:endParaRPr b="0" sz="82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87" name="Google Shape;587;p25"/>
            <p:cNvGrpSpPr/>
            <p:nvPr/>
          </p:nvGrpSpPr>
          <p:grpSpPr>
            <a:xfrm>
              <a:off x="6096000" y="3095625"/>
              <a:ext cx="1200300" cy="381000"/>
              <a:chOff x="0" y="0"/>
              <a:chExt cx="1200300" cy="381000"/>
            </a:xfrm>
          </p:grpSpPr>
          <p:sp>
            <p:nvSpPr>
              <p:cNvPr id="588" name="Google Shape;588;p25"/>
              <p:cNvSpPr/>
              <p:nvPr/>
            </p:nvSpPr>
            <p:spPr>
              <a:xfrm>
                <a:off x="0" y="28575"/>
                <a:ext cx="95400" cy="95400"/>
              </a:xfrm>
              <a:prstGeom prst="roundRect">
                <a:avLst>
                  <a:gd fmla="val 10000" name="adj"/>
                </a:avLst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5"/>
              <p:cNvSpPr txBox="1"/>
              <p:nvPr/>
            </p:nvSpPr>
            <p:spPr>
              <a:xfrm>
                <a:off x="152400" y="0"/>
                <a:ext cx="104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Val (7.4%)</a:t>
                </a:r>
                <a:b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b="0" lang="en" sz="825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2019–2020</a:t>
                </a:r>
                <a:endParaRPr b="0" sz="82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90" name="Google Shape;590;p25"/>
            <p:cNvGrpSpPr/>
            <p:nvPr/>
          </p:nvGrpSpPr>
          <p:grpSpPr>
            <a:xfrm>
              <a:off x="7191375" y="3095625"/>
              <a:ext cx="1438200" cy="381000"/>
              <a:chOff x="0" y="0"/>
              <a:chExt cx="1438200" cy="381000"/>
            </a:xfrm>
          </p:grpSpPr>
          <p:sp>
            <p:nvSpPr>
              <p:cNvPr id="591" name="Google Shape;591;p25"/>
              <p:cNvSpPr/>
              <p:nvPr/>
            </p:nvSpPr>
            <p:spPr>
              <a:xfrm>
                <a:off x="0" y="28575"/>
                <a:ext cx="95400" cy="95400"/>
              </a:xfrm>
              <a:prstGeom prst="roundRect">
                <a:avLst>
                  <a:gd fmla="val 10000" name="adj"/>
                </a:avLst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5"/>
              <p:cNvSpPr txBox="1"/>
              <p:nvPr/>
            </p:nvSpPr>
            <p:spPr>
              <a:xfrm>
                <a:off x="152400" y="0"/>
                <a:ext cx="1285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OOT Test (11.1%)</a:t>
                </a:r>
                <a:br>
                  <a:rPr b="0" lang="en" sz="825">
                    <a:solidFill>
                      <a:srgbClr val="2D374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</a:br>
                <a:r>
                  <a:rPr b="0" lang="en" sz="825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2021–2023 (OOT)</a:t>
                </a:r>
                <a:endParaRPr b="0" sz="825">
                  <a:solidFill>
                    <a:srgbClr val="2D374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593" name="Google Shape;593;p25"/>
            <p:cNvSpPr/>
            <p:nvPr/>
          </p:nvSpPr>
          <p:spPr>
            <a:xfrm>
              <a:off x="4991100" y="3733800"/>
              <a:ext cx="57300" cy="573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5"/>
            <p:cNvSpPr txBox="1"/>
            <p:nvPr/>
          </p:nvSpPr>
          <p:spPr>
            <a:xfrm>
              <a:off x="5105400" y="3667125"/>
              <a:ext cx="3314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Testing on an Out-of-Time (OOT) chronological partition mimics actual production deployment and exposes models to climate shifts across years.</a:t>
              </a:r>
              <a:endParaRPr b="0" sz="8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5" name="Google Shape;595;p25"/>
          <p:cNvGrpSpPr/>
          <p:nvPr/>
        </p:nvGrpSpPr>
        <p:grpSpPr>
          <a:xfrm>
            <a:off x="381000" y="4857750"/>
            <a:ext cx="8382000" cy="266700"/>
            <a:chOff x="0" y="0"/>
            <a:chExt cx="8382000" cy="266700"/>
          </a:xfrm>
        </p:grpSpPr>
        <p:cxnSp>
          <p:nvCxnSpPr>
            <p:cNvPr id="596" name="Google Shape;596;p25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7" name="Google Shape;597;p25"/>
            <p:cNvSpPr txBox="1"/>
            <p:nvPr/>
          </p:nvSpPr>
          <p:spPr>
            <a:xfrm>
              <a:off x="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598" name="Google Shape;598;p25"/>
            <p:cNvSpPr txBox="1"/>
            <p:nvPr/>
          </p:nvSpPr>
          <p:spPr>
            <a:xfrm>
              <a:off x="45720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6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6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6" name="Google Shape;606;p26"/>
          <p:cNvGrpSpPr/>
          <p:nvPr/>
        </p:nvGrpSpPr>
        <p:grpSpPr>
          <a:xfrm>
            <a:off x="8534400" y="285750"/>
            <a:ext cx="228600" cy="228600"/>
            <a:chOff x="0" y="0"/>
            <a:chExt cx="228600" cy="228600"/>
          </a:xfrm>
        </p:grpSpPr>
        <p:sp>
          <p:nvSpPr>
            <p:cNvPr id="607" name="Google Shape;607;p26"/>
            <p:cNvSpPr/>
            <p:nvPr/>
          </p:nvSpPr>
          <p:spPr>
            <a:xfrm>
              <a:off x="0" y="0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lose/>
                </a:path>
              </a:pathLst>
            </a:cu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95250" y="38100"/>
              <a:ext cx="381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38100" y="95250"/>
              <a:ext cx="1524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26"/>
          <p:cNvSpPr txBox="1"/>
          <p:nvPr/>
        </p:nvSpPr>
        <p:spPr>
          <a:xfrm>
            <a:off x="381000" y="285750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Verified Data Artifacts Enable Immediate Milestone 3</a:t>
            </a:r>
            <a:endParaRPr b="1" sz="18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Training and Vector Indexing Readiness Verification</a:t>
            </a:r>
            <a:endParaRPr b="0" sz="10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12" name="Google Shape;612;p26"/>
          <p:cNvGrpSpPr/>
          <p:nvPr/>
        </p:nvGrpSpPr>
        <p:grpSpPr>
          <a:xfrm>
            <a:off x="381000" y="1095375"/>
            <a:ext cx="1952700" cy="809700"/>
            <a:chOff x="0" y="0"/>
            <a:chExt cx="1952700" cy="809700"/>
          </a:xfrm>
        </p:grpSpPr>
        <p:sp>
          <p:nvSpPr>
            <p:cNvPr id="613" name="Google Shape;613;p26"/>
            <p:cNvSpPr/>
            <p:nvPr/>
          </p:nvSpPr>
          <p:spPr>
            <a:xfrm>
              <a:off x="0" y="0"/>
              <a:ext cx="1952700" cy="8097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6"/>
            <p:cNvSpPr txBox="1"/>
            <p:nvPr/>
          </p:nvSpPr>
          <p:spPr>
            <a:xfrm>
              <a:off x="142875" y="114300"/>
              <a:ext cx="1666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CV-01 PIPELINE</a:t>
              </a:r>
              <a:endParaRPr b="0" sz="1500">
                <a:solidFill>
                  <a:srgbClr val="1E4D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EfficientNet-B0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16" name="Google Shape;616;p26"/>
          <p:cNvGrpSpPr/>
          <p:nvPr/>
        </p:nvGrpSpPr>
        <p:grpSpPr>
          <a:xfrm>
            <a:off x="2524125" y="1095375"/>
            <a:ext cx="1952700" cy="809700"/>
            <a:chOff x="0" y="0"/>
            <a:chExt cx="1952700" cy="809700"/>
          </a:xfrm>
        </p:grpSpPr>
        <p:sp>
          <p:nvSpPr>
            <p:cNvPr id="617" name="Google Shape;617;p26"/>
            <p:cNvSpPr/>
            <p:nvPr/>
          </p:nvSpPr>
          <p:spPr>
            <a:xfrm>
              <a:off x="0" y="0"/>
              <a:ext cx="1952700" cy="8097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6"/>
            <p:cNvSpPr txBox="1"/>
            <p:nvPr/>
          </p:nvSpPr>
          <p:spPr>
            <a:xfrm>
              <a:off x="142875" y="114300"/>
              <a:ext cx="1666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NLP-02 PIPELINE</a:t>
              </a:r>
              <a:endParaRPr b="0" sz="1500">
                <a:solidFill>
                  <a:srgbClr val="1E4D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MuRIL Embeddings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20" name="Google Shape;620;p26"/>
          <p:cNvGrpSpPr/>
          <p:nvPr/>
        </p:nvGrpSpPr>
        <p:grpSpPr>
          <a:xfrm>
            <a:off x="4667250" y="1095375"/>
            <a:ext cx="1952700" cy="809700"/>
            <a:chOff x="0" y="0"/>
            <a:chExt cx="1952700" cy="809700"/>
          </a:xfrm>
        </p:grpSpPr>
        <p:sp>
          <p:nvSpPr>
            <p:cNvPr id="621" name="Google Shape;621;p26"/>
            <p:cNvSpPr/>
            <p:nvPr/>
          </p:nvSpPr>
          <p:spPr>
            <a:xfrm>
              <a:off x="0" y="0"/>
              <a:ext cx="1952700" cy="8097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6"/>
            <p:cNvSpPr txBox="1"/>
            <p:nvPr/>
          </p:nvSpPr>
          <p:spPr>
            <a:xfrm>
              <a:off x="142875" y="114300"/>
              <a:ext cx="1666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YLD-03 PIPELINE</a:t>
              </a:r>
              <a:endParaRPr b="0" sz="1500">
                <a:solidFill>
                  <a:srgbClr val="1E4D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XGB / LGBM / RF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24" name="Google Shape;624;p26"/>
          <p:cNvGrpSpPr/>
          <p:nvPr/>
        </p:nvGrpSpPr>
        <p:grpSpPr>
          <a:xfrm>
            <a:off x="6810375" y="1095375"/>
            <a:ext cx="1952700" cy="809700"/>
            <a:chOff x="0" y="0"/>
            <a:chExt cx="1952700" cy="809700"/>
          </a:xfrm>
        </p:grpSpPr>
        <p:sp>
          <p:nvSpPr>
            <p:cNvPr id="625" name="Google Shape;625;p26"/>
            <p:cNvSpPr/>
            <p:nvPr/>
          </p:nvSpPr>
          <p:spPr>
            <a:xfrm>
              <a:off x="0" y="0"/>
              <a:ext cx="1952700" cy="8097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6"/>
            <p:cNvSpPr txBox="1"/>
            <p:nvPr/>
          </p:nvSpPr>
          <p:spPr>
            <a:xfrm>
              <a:off x="142875" y="114300"/>
              <a:ext cx="1666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E4D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100% READY</a:t>
              </a:r>
              <a:endParaRPr b="0" sz="1500">
                <a:solidFill>
                  <a:srgbClr val="1E4D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F4E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Artifacts Verified</a:t>
              </a:r>
              <a:endParaRPr b="0" sz="7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28" name="Google Shape;628;p26"/>
          <p:cNvGrpSpPr/>
          <p:nvPr/>
        </p:nvGrpSpPr>
        <p:grpSpPr>
          <a:xfrm>
            <a:off x="381000" y="2047875"/>
            <a:ext cx="2667000" cy="2524200"/>
            <a:chOff x="0" y="0"/>
            <a:chExt cx="2667000" cy="2524200"/>
          </a:xfrm>
        </p:grpSpPr>
        <p:sp>
          <p:nvSpPr>
            <p:cNvPr id="629" name="Google Shape;629;p26"/>
            <p:cNvSpPr/>
            <p:nvPr/>
          </p:nvSpPr>
          <p:spPr>
            <a:xfrm>
              <a:off x="0" y="0"/>
              <a:ext cx="2667000" cy="25242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1E4D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6"/>
            <p:cNvSpPr txBox="1"/>
            <p:nvPr/>
          </p:nvSpPr>
          <p:spPr>
            <a:xfrm>
              <a:off x="142875" y="142875"/>
              <a:ext cx="23814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Vision Subsystem</a:t>
              </a:r>
              <a:endParaRPr b="1" sz="975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" sz="8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"Artifacts are prepared for EfficientNet-B0 fine-tuning on the 20-class dataset, utilizing class-weighted loss and WeightedRandomSampler."</a:t>
              </a:r>
              <a:endParaRPr b="0" i="1" sz="8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EfficientNet-B0 Fine-Tuning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20-Class Dataset Verified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Class-Weighted Loss Configured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WeightedRandomSampler Ready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2" name="Google Shape;632;p26"/>
          <p:cNvGrpSpPr/>
          <p:nvPr/>
        </p:nvGrpSpPr>
        <p:grpSpPr>
          <a:xfrm>
            <a:off x="3238500" y="2047875"/>
            <a:ext cx="2667000" cy="2524200"/>
            <a:chOff x="0" y="0"/>
            <a:chExt cx="2667000" cy="2524200"/>
          </a:xfrm>
        </p:grpSpPr>
        <p:sp>
          <p:nvSpPr>
            <p:cNvPr id="633" name="Google Shape;633;p26"/>
            <p:cNvSpPr/>
            <p:nvPr/>
          </p:nvSpPr>
          <p:spPr>
            <a:xfrm>
              <a:off x="0" y="0"/>
              <a:ext cx="2667000" cy="25242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6"/>
            <p:cNvSpPr txBox="1"/>
            <p:nvPr/>
          </p:nvSpPr>
          <p:spPr>
            <a:xfrm>
              <a:off x="142875" y="142875"/>
              <a:ext cx="23814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RAG &amp; NLP Subsystem</a:t>
              </a:r>
              <a:endParaRPr b="1" sz="975">
                <a:solidFill>
                  <a:srgbClr val="1F4E7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" sz="8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"PDF chunks and KCC data are formatted for MuRIL vector embeddings into ChromaDB, pending evaluation via Recall@5, MRR, and nDCG."</a:t>
              </a:r>
              <a:endParaRPr b="0" i="1" sz="8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PDF Chunks &amp; KCC Formatted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MuRIL Embeddings Pipeline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ChromaDB Target Vector Index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Recall@5, MRR, &amp; nDCG Metrics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6" name="Google Shape;636;p26"/>
          <p:cNvGrpSpPr/>
          <p:nvPr/>
        </p:nvGrpSpPr>
        <p:grpSpPr>
          <a:xfrm>
            <a:off x="6096000" y="2047875"/>
            <a:ext cx="2667000" cy="2524200"/>
            <a:chOff x="0" y="0"/>
            <a:chExt cx="2667000" cy="2524200"/>
          </a:xfrm>
        </p:grpSpPr>
        <p:sp>
          <p:nvSpPr>
            <p:cNvPr id="637" name="Google Shape;637;p26"/>
            <p:cNvSpPr/>
            <p:nvPr/>
          </p:nvSpPr>
          <p:spPr>
            <a:xfrm>
              <a:off x="0" y="0"/>
              <a:ext cx="2667000" cy="2524200"/>
            </a:xfrm>
            <a:prstGeom prst="rect">
              <a:avLst/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6"/>
            <p:cNvSpPr txBox="1"/>
            <p:nvPr/>
          </p:nvSpPr>
          <p:spPr>
            <a:xfrm>
              <a:off x="142875" y="142875"/>
              <a:ext cx="23814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Yield Subsystem</a:t>
              </a:r>
              <a:endParaRPr b="1" sz="975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" sz="8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"The UP localized dataset is fully preprocessed and ready for XGBoost, LightGBM, and Random Forest regression modeling."</a:t>
              </a:r>
              <a:endParaRPr b="0" i="1" sz="8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UP Localized Dataset Preprocessed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XGBoost Regression Ready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LightGBM Regression Ready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b="0" lang="en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Random Forest Modeling Prepped</a:t>
              </a:r>
              <a:endParaRPr b="0" sz="825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0" name="Google Shape;640;p26"/>
          <p:cNvGrpSpPr/>
          <p:nvPr/>
        </p:nvGrpSpPr>
        <p:grpSpPr>
          <a:xfrm>
            <a:off x="381000" y="4762500"/>
            <a:ext cx="8382000" cy="314400"/>
            <a:chOff x="0" y="0"/>
            <a:chExt cx="8382000" cy="314400"/>
          </a:xfrm>
        </p:grpSpPr>
        <p:cxnSp>
          <p:nvCxnSpPr>
            <p:cNvPr id="641" name="Google Shape;641;p26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2" name="Google Shape;642;p26"/>
            <p:cNvSpPr txBox="1"/>
            <p:nvPr/>
          </p:nvSpPr>
          <p:spPr>
            <a:xfrm>
              <a:off x="0" y="76200"/>
              <a:ext cx="428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3: Model Training &amp; Vector Indexing Readiness</a:t>
              </a:r>
              <a:endParaRPr/>
            </a:p>
          </p:txBody>
        </p:sp>
        <p:sp>
          <p:nvSpPr>
            <p:cNvPr id="643" name="Google Shape;643;p26"/>
            <p:cNvSpPr txBox="1"/>
            <p:nvPr/>
          </p:nvSpPr>
          <p:spPr>
            <a:xfrm>
              <a:off x="4572000" y="76200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E4D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0" y="76200"/>
            <a:ext cx="9144000" cy="1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1" name="Google Shape;651;p27"/>
          <p:cNvGrpSpPr/>
          <p:nvPr/>
        </p:nvGrpSpPr>
        <p:grpSpPr>
          <a:xfrm>
            <a:off x="381000" y="4857750"/>
            <a:ext cx="8382000" cy="266700"/>
            <a:chOff x="0" y="0"/>
            <a:chExt cx="8382000" cy="266700"/>
          </a:xfrm>
        </p:grpSpPr>
        <p:cxnSp>
          <p:nvCxnSpPr>
            <p:cNvPr id="652" name="Google Shape;652;p27"/>
            <p:cNvCxnSpPr/>
            <p:nvPr/>
          </p:nvCxnSpPr>
          <p:spPr>
            <a:xfrm>
              <a:off x="0" y="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3" name="Google Shape;653;p27"/>
            <p:cNvSpPr txBox="1"/>
            <p:nvPr/>
          </p:nvSpPr>
          <p:spPr>
            <a:xfrm>
              <a:off x="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AgriAssist • Milestone 2: Dataset Identification &amp; Preparation</a:t>
              </a:r>
              <a:endParaRPr/>
            </a:p>
          </p:txBody>
        </p:sp>
        <p:sp>
          <p:nvSpPr>
            <p:cNvPr id="654" name="Google Shape;654;p27"/>
            <p:cNvSpPr txBox="1"/>
            <p:nvPr/>
          </p:nvSpPr>
          <p:spPr>
            <a:xfrm>
              <a:off x="45720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Lokesh Tiwari</a:t>
              </a:r>
              <a:endParaRPr/>
            </a:p>
          </p:txBody>
        </p:sp>
      </p:grpSp>
      <p:sp>
        <p:nvSpPr>
          <p:cNvPr id="655" name="Google Shape;655;p2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E4D2B"/>
                </a:solidFill>
                <a:latin typeface="Inter"/>
                <a:ea typeface="Inter"/>
                <a:cs typeface="Inter"/>
                <a:sym typeface="Inter"/>
              </a:rPr>
              <a:t>Multidisciplinary Team Contributions</a:t>
            </a:r>
            <a:endParaRPr b="1" sz="2100">
              <a:solidFill>
                <a:srgbClr val="1E4D2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1F4E7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Ensuring comprehensive data preparation across all system pipelines</a:t>
            </a:r>
            <a:endParaRPr b="0" sz="1350">
              <a:solidFill>
                <a:srgbClr val="1F4E7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56" name="Google Shape;656;p27"/>
          <p:cNvGrpSpPr/>
          <p:nvPr/>
        </p:nvGrpSpPr>
        <p:grpSpPr>
          <a:xfrm>
            <a:off x="381000" y="1333500"/>
            <a:ext cx="8382000" cy="1333500"/>
            <a:chOff x="0" y="0"/>
            <a:chExt cx="8382000" cy="1333500"/>
          </a:xfrm>
        </p:grpSpPr>
        <p:grpSp>
          <p:nvGrpSpPr>
            <p:cNvPr id="657" name="Google Shape;657;p27"/>
            <p:cNvGrpSpPr/>
            <p:nvPr/>
          </p:nvGrpSpPr>
          <p:grpSpPr>
            <a:xfrm>
              <a:off x="0" y="0"/>
              <a:ext cx="2667000" cy="1333500"/>
              <a:chOff x="0" y="0"/>
              <a:chExt cx="2667000" cy="1333500"/>
            </a:xfrm>
          </p:grpSpPr>
          <p:sp>
            <p:nvSpPr>
              <p:cNvPr id="658" name="Google Shape;658;p27"/>
              <p:cNvSpPr/>
              <p:nvPr/>
            </p:nvSpPr>
            <p:spPr>
              <a:xfrm>
                <a:off x="0" y="0"/>
                <a:ext cx="2667000" cy="1333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0" name="Google Shape;660;p27"/>
              <p:cNvGrpSpPr/>
              <p:nvPr/>
            </p:nvGrpSpPr>
            <p:grpSpPr>
              <a:xfrm>
                <a:off x="142875" y="238125"/>
                <a:ext cx="857400" cy="857400"/>
                <a:chOff x="0" y="0"/>
                <a:chExt cx="857400" cy="857400"/>
              </a:xfrm>
            </p:grpSpPr>
            <p:sp>
              <p:nvSpPr>
                <p:cNvPr id="661" name="Google Shape;661;p27"/>
                <p:cNvSpPr/>
                <p:nvPr/>
              </p:nvSpPr>
              <p:spPr>
                <a:xfrm>
                  <a:off x="0" y="0"/>
                  <a:ext cx="857400" cy="857400"/>
                </a:xfrm>
                <a:prstGeom prst="ellipse">
                  <a:avLst/>
                </a:prstGeom>
                <a:solidFill>
                  <a:srgbClr val="F0FDF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662" name="Google Shape;662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42863" y="42863"/>
                  <a:ext cx="771600" cy="771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63" name="Google Shape;663;p27"/>
                <p:cNvSpPr txBox="1"/>
                <p:nvPr/>
              </p:nvSpPr>
              <p:spPr>
                <a:xfrm>
                  <a:off x="0" y="0"/>
                  <a:ext cx="857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100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664" name="Google Shape;664;p27"/>
              <p:cNvSpPr txBox="1"/>
              <p:nvPr/>
            </p:nvSpPr>
            <p:spPr>
              <a:xfrm>
                <a:off x="1143000" y="190500"/>
                <a:ext cx="13812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E4D2B"/>
                    </a:solidFill>
                    <a:latin typeface="Inter"/>
                    <a:ea typeface="Inter"/>
                    <a:cs typeface="Inter"/>
                    <a:sym typeface="Inter"/>
                  </a:rPr>
                  <a:t>Mahesh</a:t>
                </a:r>
                <a:endParaRPr b="1" sz="105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Led Vision EDA, Preprocessing, pHash Deduplication, and Pipeline Design.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5" name="Google Shape;665;p27"/>
            <p:cNvGrpSpPr/>
            <p:nvPr/>
          </p:nvGrpSpPr>
          <p:grpSpPr>
            <a:xfrm>
              <a:off x="2857500" y="0"/>
              <a:ext cx="2667000" cy="1333500"/>
              <a:chOff x="0" y="0"/>
              <a:chExt cx="2667000" cy="1333500"/>
            </a:xfrm>
          </p:grpSpPr>
          <p:sp>
            <p:nvSpPr>
              <p:cNvPr id="666" name="Google Shape;666;p27"/>
              <p:cNvSpPr/>
              <p:nvPr/>
            </p:nvSpPr>
            <p:spPr>
              <a:xfrm>
                <a:off x="0" y="0"/>
                <a:ext cx="2667000" cy="1333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7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8" name="Google Shape;668;p27"/>
              <p:cNvGrpSpPr/>
              <p:nvPr/>
            </p:nvGrpSpPr>
            <p:grpSpPr>
              <a:xfrm>
                <a:off x="142875" y="238125"/>
                <a:ext cx="857400" cy="857400"/>
                <a:chOff x="0" y="0"/>
                <a:chExt cx="857400" cy="857400"/>
              </a:xfrm>
            </p:grpSpPr>
            <p:sp>
              <p:nvSpPr>
                <p:cNvPr id="669" name="Google Shape;669;p27"/>
                <p:cNvSpPr/>
                <p:nvPr/>
              </p:nvSpPr>
              <p:spPr>
                <a:xfrm>
                  <a:off x="0" y="0"/>
                  <a:ext cx="857400" cy="857400"/>
                </a:xfrm>
                <a:prstGeom prst="ellipse">
                  <a:avLst/>
                </a:prstGeom>
                <a:solidFill>
                  <a:srgbClr val="F0F9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670" name="Google Shape;670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2863" y="42863"/>
                  <a:ext cx="771600" cy="771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1" name="Google Shape;671;p27"/>
                <p:cNvSpPr txBox="1"/>
                <p:nvPr/>
              </p:nvSpPr>
              <p:spPr>
                <a:xfrm>
                  <a:off x="0" y="0"/>
                  <a:ext cx="857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1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H</a:t>
                  </a:r>
                  <a:endParaRPr/>
                </a:p>
              </p:txBody>
            </p:sp>
          </p:grpSp>
          <p:sp>
            <p:nvSpPr>
              <p:cNvPr id="672" name="Google Shape;672;p27"/>
              <p:cNvSpPr txBox="1"/>
              <p:nvPr/>
            </p:nvSpPr>
            <p:spPr>
              <a:xfrm>
                <a:off x="1143000" y="190500"/>
                <a:ext cx="13812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F4E79"/>
                    </a:solidFill>
                    <a:latin typeface="Inter"/>
                    <a:ea typeface="Inter"/>
                    <a:cs typeface="Inter"/>
                    <a:sym typeface="Inter"/>
                  </a:rPr>
                  <a:t>Harliv</a:t>
                </a:r>
                <a:endParaRPr b="1" sz="10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Executed RAG PDF Corpus Collection, OCR Cleaning, and Semantic Chunking.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73" name="Google Shape;673;p27"/>
            <p:cNvGrpSpPr/>
            <p:nvPr/>
          </p:nvGrpSpPr>
          <p:grpSpPr>
            <a:xfrm>
              <a:off x="5715000" y="0"/>
              <a:ext cx="2667000" cy="1333500"/>
              <a:chOff x="0" y="0"/>
              <a:chExt cx="2667000" cy="1333500"/>
            </a:xfrm>
          </p:grpSpPr>
          <p:sp>
            <p:nvSpPr>
              <p:cNvPr id="674" name="Google Shape;674;p27"/>
              <p:cNvSpPr/>
              <p:nvPr/>
            </p:nvSpPr>
            <p:spPr>
              <a:xfrm>
                <a:off x="0" y="0"/>
                <a:ext cx="2667000" cy="1333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1E4D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27"/>
              <p:cNvGrpSpPr/>
              <p:nvPr/>
            </p:nvGrpSpPr>
            <p:grpSpPr>
              <a:xfrm>
                <a:off x="142875" y="238125"/>
                <a:ext cx="857400" cy="857400"/>
                <a:chOff x="0" y="0"/>
                <a:chExt cx="857400" cy="857400"/>
              </a:xfrm>
            </p:grpSpPr>
            <p:sp>
              <p:nvSpPr>
                <p:cNvPr id="677" name="Google Shape;677;p27"/>
                <p:cNvSpPr/>
                <p:nvPr/>
              </p:nvSpPr>
              <p:spPr>
                <a:xfrm>
                  <a:off x="0" y="0"/>
                  <a:ext cx="857400" cy="857400"/>
                </a:xfrm>
                <a:prstGeom prst="ellipse">
                  <a:avLst/>
                </a:prstGeom>
                <a:solidFill>
                  <a:srgbClr val="F0FDF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678" name="Google Shape;678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42863" y="42863"/>
                  <a:ext cx="771600" cy="771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9" name="Google Shape;679;p27"/>
                <p:cNvSpPr txBox="1"/>
                <p:nvPr/>
              </p:nvSpPr>
              <p:spPr>
                <a:xfrm>
                  <a:off x="0" y="0"/>
                  <a:ext cx="857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100">
                      <a:solidFill>
                        <a:srgbClr val="1E4D2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L</a:t>
                  </a:r>
                  <a:endParaRPr/>
                </a:p>
              </p:txBody>
            </p:sp>
          </p:grpSp>
          <p:sp>
            <p:nvSpPr>
              <p:cNvPr id="680" name="Google Shape;680;p27"/>
              <p:cNvSpPr txBox="1"/>
              <p:nvPr/>
            </p:nvSpPr>
            <p:spPr>
              <a:xfrm>
                <a:off x="1143000" y="190500"/>
                <a:ext cx="13812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E4D2B"/>
                    </a:solidFill>
                    <a:latin typeface="Inter"/>
                    <a:ea typeface="Inter"/>
                    <a:cs typeface="Inter"/>
                    <a:sym typeface="Inter"/>
                  </a:rPr>
                  <a:t>Lokesh</a:t>
                </a:r>
                <a:endParaRPr b="1" sz="1050">
                  <a:solidFill>
                    <a:srgbClr val="1E4D2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Authored Milestone 2 Plan, conducted Vision EDA, curated UP Yield, and managed Report.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81" name="Google Shape;681;p27"/>
          <p:cNvGrpSpPr/>
          <p:nvPr/>
        </p:nvGrpSpPr>
        <p:grpSpPr>
          <a:xfrm>
            <a:off x="1809750" y="2857500"/>
            <a:ext cx="5524500" cy="1333500"/>
            <a:chOff x="0" y="0"/>
            <a:chExt cx="5524500" cy="1333500"/>
          </a:xfrm>
        </p:grpSpPr>
        <p:grpSp>
          <p:nvGrpSpPr>
            <p:cNvPr id="682" name="Google Shape;682;p27"/>
            <p:cNvGrpSpPr/>
            <p:nvPr/>
          </p:nvGrpSpPr>
          <p:grpSpPr>
            <a:xfrm>
              <a:off x="0" y="0"/>
              <a:ext cx="2667000" cy="1333500"/>
              <a:chOff x="0" y="0"/>
              <a:chExt cx="2667000" cy="1333500"/>
            </a:xfrm>
          </p:grpSpPr>
          <p:sp>
            <p:nvSpPr>
              <p:cNvPr id="683" name="Google Shape;683;p27"/>
              <p:cNvSpPr/>
              <p:nvPr/>
            </p:nvSpPr>
            <p:spPr>
              <a:xfrm>
                <a:off x="0" y="0"/>
                <a:ext cx="2667000" cy="1333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7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85" name="Google Shape;685;p27"/>
              <p:cNvGrpSpPr/>
              <p:nvPr/>
            </p:nvGrpSpPr>
            <p:grpSpPr>
              <a:xfrm>
                <a:off x="142875" y="238125"/>
                <a:ext cx="857400" cy="857400"/>
                <a:chOff x="0" y="0"/>
                <a:chExt cx="857400" cy="857400"/>
              </a:xfrm>
            </p:grpSpPr>
            <p:sp>
              <p:nvSpPr>
                <p:cNvPr id="686" name="Google Shape;686;p27"/>
                <p:cNvSpPr/>
                <p:nvPr/>
              </p:nvSpPr>
              <p:spPr>
                <a:xfrm>
                  <a:off x="0" y="0"/>
                  <a:ext cx="857400" cy="857400"/>
                </a:xfrm>
                <a:prstGeom prst="ellipse">
                  <a:avLst/>
                </a:prstGeom>
                <a:solidFill>
                  <a:srgbClr val="F0F9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687" name="Google Shape;687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2863" y="42863"/>
                  <a:ext cx="771600" cy="771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88" name="Google Shape;688;p27"/>
                <p:cNvSpPr txBox="1"/>
                <p:nvPr/>
              </p:nvSpPr>
              <p:spPr>
                <a:xfrm>
                  <a:off x="0" y="0"/>
                  <a:ext cx="857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100">
                      <a:solidFill>
                        <a:srgbClr val="1F4E7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</a:t>
                  </a:r>
                  <a:endParaRPr/>
                </a:p>
              </p:txBody>
            </p:sp>
          </p:grpSp>
          <p:sp>
            <p:nvSpPr>
              <p:cNvPr id="689" name="Google Shape;689;p27"/>
              <p:cNvSpPr txBox="1"/>
              <p:nvPr/>
            </p:nvSpPr>
            <p:spPr>
              <a:xfrm>
                <a:off x="1143000" y="190500"/>
                <a:ext cx="13812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F4E79"/>
                    </a:solidFill>
                    <a:latin typeface="Inter"/>
                    <a:ea typeface="Inter"/>
                    <a:cs typeface="Inter"/>
                    <a:sym typeface="Inter"/>
                  </a:rPr>
                  <a:t>Aneeqa</a:t>
                </a:r>
                <a:endParaRPr b="1" sz="1050">
                  <a:solidFill>
                    <a:srgbClr val="1F4E7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Managed KCC Dataset Aggregation (3.12M records), EDA, and Multilingual RAG Prep.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90" name="Google Shape;690;p27"/>
            <p:cNvGrpSpPr/>
            <p:nvPr/>
          </p:nvGrpSpPr>
          <p:grpSpPr>
            <a:xfrm>
              <a:off x="2857500" y="0"/>
              <a:ext cx="2667000" cy="1333500"/>
              <a:chOff x="0" y="0"/>
              <a:chExt cx="2667000" cy="1333500"/>
            </a:xfrm>
          </p:grpSpPr>
          <p:sp>
            <p:nvSpPr>
              <p:cNvPr id="691" name="Google Shape;691;p27"/>
              <p:cNvSpPr/>
              <p:nvPr/>
            </p:nvSpPr>
            <p:spPr>
              <a:xfrm>
                <a:off x="0" y="0"/>
                <a:ext cx="2667000" cy="1333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0" y="0"/>
                <a:ext cx="2667000" cy="38100"/>
              </a:xfrm>
              <a:prstGeom prst="rect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3" name="Google Shape;693;p27"/>
              <p:cNvGrpSpPr/>
              <p:nvPr/>
            </p:nvGrpSpPr>
            <p:grpSpPr>
              <a:xfrm>
                <a:off x="142875" y="238125"/>
                <a:ext cx="857400" cy="857400"/>
                <a:chOff x="0" y="0"/>
                <a:chExt cx="857400" cy="857400"/>
              </a:xfrm>
            </p:grpSpPr>
            <p:sp>
              <p:nvSpPr>
                <p:cNvPr id="694" name="Google Shape;694;p27"/>
                <p:cNvSpPr/>
                <p:nvPr/>
              </p:nvSpPr>
              <p:spPr>
                <a:xfrm>
                  <a:off x="0" y="0"/>
                  <a:ext cx="857400" cy="857400"/>
                </a:xfrm>
                <a:prstGeom prst="ellipse">
                  <a:avLst/>
                </a:pr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695" name="Google Shape;695;p2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42863" y="42863"/>
                  <a:ext cx="771600" cy="771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96" name="Google Shape;696;p27"/>
                <p:cNvSpPr txBox="1"/>
                <p:nvPr/>
              </p:nvSpPr>
              <p:spPr>
                <a:xfrm>
                  <a:off x="0" y="0"/>
                  <a:ext cx="857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100">
                      <a:solidFill>
                        <a:srgbClr val="D97706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T</a:t>
                  </a:r>
                  <a:endParaRPr/>
                </a:p>
              </p:txBody>
            </p:sp>
          </p:grpSp>
          <p:sp>
            <p:nvSpPr>
              <p:cNvPr id="697" name="Google Shape;697;p27"/>
              <p:cNvSpPr txBox="1"/>
              <p:nvPr/>
            </p:nvSpPr>
            <p:spPr>
              <a:xfrm>
                <a:off x="1143000" y="190500"/>
                <a:ext cx="13812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D97706"/>
                    </a:solidFill>
                    <a:latin typeface="Inter"/>
                    <a:ea typeface="Inter"/>
                    <a:cs typeface="Inter"/>
                    <a:sym typeface="Inter"/>
                  </a:rPr>
                  <a:t>Tanmay</a:t>
                </a:r>
                <a:endParaRPr b="1" sz="10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2D3748"/>
                    </a:solidFill>
                    <a:latin typeface="Inter"/>
                    <a:ea typeface="Inter"/>
                    <a:cs typeface="Inter"/>
                    <a:sym typeface="Inter"/>
                  </a:rPr>
                  <a:t>Directed Pan-India Multi-Crop Yield Unification, EDA, and MissForest Imputation.</a:t>
                </a:r>
                <a:endParaRPr b="0" sz="825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